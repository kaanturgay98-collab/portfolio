
<file path=[Content_Types].xml><?xml version="1.0" encoding="utf-8"?>
<Types xmlns="http://schemas.openxmlformats.org/package/2006/content-types">
  <Default Extension="docx" ContentType="application/vnd.openxmlformats-officedocument.wordprocessingml.document"/>
  <Default Extension="emf" ContentType="image/x-emf"/>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965" r:id="rId1"/>
  </p:sldMasterIdLst>
  <p:notesMasterIdLst>
    <p:notesMasterId r:id="rId39"/>
  </p:notesMasterIdLst>
  <p:sldIdLst>
    <p:sldId id="257" r:id="rId2"/>
    <p:sldId id="258" r:id="rId3"/>
    <p:sldId id="260" r:id="rId4"/>
    <p:sldId id="261" r:id="rId5"/>
    <p:sldId id="263" r:id="rId6"/>
    <p:sldId id="296" r:id="rId7"/>
    <p:sldId id="264" r:id="rId8"/>
    <p:sldId id="265" r:id="rId9"/>
    <p:sldId id="267" r:id="rId10"/>
    <p:sldId id="268" r:id="rId11"/>
    <p:sldId id="269" r:id="rId12"/>
    <p:sldId id="298" r:id="rId13"/>
    <p:sldId id="270" r:id="rId14"/>
    <p:sldId id="299" r:id="rId15"/>
    <p:sldId id="271" r:id="rId16"/>
    <p:sldId id="272" r:id="rId17"/>
    <p:sldId id="273" r:id="rId18"/>
    <p:sldId id="274" r:id="rId19"/>
    <p:sldId id="275" r:id="rId20"/>
    <p:sldId id="276" r:id="rId21"/>
    <p:sldId id="277" r:id="rId22"/>
    <p:sldId id="278" r:id="rId23"/>
    <p:sldId id="280" r:id="rId24"/>
    <p:sldId id="281" r:id="rId25"/>
    <p:sldId id="286" r:id="rId26"/>
    <p:sldId id="300" r:id="rId27"/>
    <p:sldId id="282" r:id="rId28"/>
    <p:sldId id="283" r:id="rId29"/>
    <p:sldId id="284" r:id="rId30"/>
    <p:sldId id="285" r:id="rId31"/>
    <p:sldId id="287" r:id="rId32"/>
    <p:sldId id="288" r:id="rId33"/>
    <p:sldId id="289" r:id="rId34"/>
    <p:sldId id="290" r:id="rId35"/>
    <p:sldId id="292" r:id="rId36"/>
    <p:sldId id="293" r:id="rId37"/>
    <p:sldId id="301" r:id="rId38"/>
  </p:sldIdLst>
  <p:sldSz cx="12192000" cy="6858000"/>
  <p:notesSz cx="6858000" cy="12192000"/>
  <p:embeddedFontLst>
    <p:embeddedFont>
      <p:font typeface="Tw Cen MT" panose="020B0602020104020603" pitchFamily="34" charset="0"/>
      <p:regular r:id="rId40"/>
      <p:bold r:id="rId41"/>
      <p:italic r:id="rId42"/>
      <p:boldItalic r:id="rId43"/>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0"/>
    <p:restoredTop sz="94613"/>
  </p:normalViewPr>
  <p:slideViewPr>
    <p:cSldViewPr snapToGrid="0" snapToObjects="1">
      <p:cViewPr varScale="1">
        <p:scale>
          <a:sx n="73" d="100"/>
          <a:sy n="73" d="100"/>
        </p:scale>
        <p:origin x="66" y="26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notesMaster" Target="notesMasters/notesMaster1.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font" Target="fonts/font3.fntdata"/><Relationship Id="rId47"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font" Target="fonts/font1.fntdata"/><Relationship Id="rId45"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font" Target="fonts/font4.fntdata"/><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170697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C9E794-F3EE-D182-8F7D-86CFB496E71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5364ACB-A477-D1AA-267D-7DF6E642536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6B5E1DA-E636-E77C-EFB6-AD72EC3C285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AC710C-D42A-8072-EB12-6C3F193A90E2}"/>
              </a:ext>
            </a:extLst>
          </p:cNvPr>
          <p:cNvSpPr>
            <a:spLocks noGrp="1"/>
          </p:cNvSpPr>
          <p:nvPr>
            <p:ph type="sldNum" sz="quarter" idx="10"/>
          </p:nvPr>
        </p:nvSpPr>
        <p:spPr/>
        <p:txBody>
          <a:bodyPr/>
          <a:lstStyle/>
          <a:p>
            <a:fld id="{F7021451-1387-4CA6-816F-3879F97B5CBC}" type="slidenum">
              <a:rPr lang="en-US" smtClean="0"/>
              <a:t>12</a:t>
            </a:fld>
            <a:endParaRPr lang="en-US"/>
          </a:p>
        </p:txBody>
      </p:sp>
    </p:spTree>
    <p:extLst>
      <p:ext uri="{BB962C8B-B14F-4D97-AF65-F5344CB8AC3E}">
        <p14:creationId xmlns:p14="http://schemas.microsoft.com/office/powerpoint/2010/main" val="395037454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smtClean="0"/>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pic>
        <p:nvPicPr>
          <p:cNvPr id="7" name="Picture 6" descr="Droplets-HD-Title-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1751012" y="1300785"/>
            <a:ext cx="8689976" cy="2509213"/>
          </a:xfrm>
        </p:spPr>
        <p:txBody>
          <a:bodyPr anchor="b">
            <a:normAutofit/>
          </a:bodyPr>
          <a:lstStyle>
            <a:lvl1pPr algn="ctr">
              <a:defRPr sz="4800"/>
            </a:lvl1pPr>
          </a:lstStyle>
          <a:p>
            <a:r>
              <a:rPr lang="en-GB"/>
              <a:t>Click to edit Master title style</a:t>
            </a:r>
            <a:endParaRPr lang="en-US" dirty="0"/>
          </a:p>
        </p:txBody>
      </p:sp>
      <p:sp>
        <p:nvSpPr>
          <p:cNvPr id="3" name="Subtitle 2"/>
          <p:cNvSpPr>
            <a:spLocks noGrp="1"/>
          </p:cNvSpPr>
          <p:nvPr>
            <p:ph type="subTitle" idx="1"/>
          </p:nvPr>
        </p:nvSpPr>
        <p:spPr>
          <a:xfrm>
            <a:off x="1751012" y="3886200"/>
            <a:ext cx="8689976" cy="1371599"/>
          </a:xfrm>
        </p:spPr>
        <p:txBody>
          <a:bodyPr>
            <a:normAutofit/>
          </a:bodyPr>
          <a:lstStyle>
            <a:lvl1pPr marL="0" indent="0" algn="ctr">
              <a:buNone/>
              <a:defRPr sz="2200">
                <a:solidFill>
                  <a:schemeClr val="bg1">
                    <a:lumMod val="50000"/>
                  </a:schemeClr>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US" dirty="0"/>
          </a:p>
        </p:txBody>
      </p:sp>
      <p:sp>
        <p:nvSpPr>
          <p:cNvPr id="4" name="Date Placeholder 3"/>
          <p:cNvSpPr>
            <a:spLocks noGrp="1"/>
          </p:cNvSpPr>
          <p:nvPr>
            <p:ph type="dt" sz="half" idx="10"/>
          </p:nvPr>
        </p:nvSpPr>
        <p:spPr/>
        <p:txBody>
          <a:bodyPr/>
          <a:lstStyle/>
          <a:p>
            <a:fld id="{EBDC2EEC-649F-4BDF-9575-E2E788F98C21}" type="datetimeFigureOut">
              <a:rPr lang="en-GB" smtClean="0"/>
              <a:t>21/08/2025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F09A196-DB3B-45C4-A398-AB07400F6E69}" type="slidenum">
              <a:rPr lang="en-GB" smtClean="0"/>
              <a:t>‹#›</a:t>
            </a:fld>
            <a:endParaRPr lang="en-GB"/>
          </a:p>
        </p:txBody>
      </p:sp>
    </p:spTree>
    <p:extLst>
      <p:ext uri="{BB962C8B-B14F-4D97-AF65-F5344CB8AC3E}">
        <p14:creationId xmlns:p14="http://schemas.microsoft.com/office/powerpoint/2010/main" val="255349681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pic>
        <p:nvPicPr>
          <p:cNvPr id="3" name="Picture 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GB"/>
              <a:t>Click to edit Master title style</a:t>
            </a:r>
            <a:endParaRPr lang="en-US" dirty="0"/>
          </a:p>
        </p:txBody>
      </p:sp>
      <p:sp>
        <p:nvSpPr>
          <p:cNvPr id="12" name="Content Placeholder 2"/>
          <p:cNvSpPr>
            <a:spLocks noGrp="1"/>
          </p:cNvSpPr>
          <p:nvPr>
            <p:ph sz="quarter" idx="13"/>
          </p:nvPr>
        </p:nvSpPr>
        <p:spPr>
          <a:xfrm>
            <a:off x="913774" y="2367092"/>
            <a:ext cx="10363826" cy="342410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EBDC2EEC-649F-4BDF-9575-E2E788F98C21}" type="datetimeFigureOut">
              <a:rPr lang="en-GB" smtClean="0"/>
              <a:t>21/08/2025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F09A196-DB3B-45C4-A398-AB07400F6E69}" type="slidenum">
              <a:rPr lang="en-GB" smtClean="0"/>
              <a:t>‹#›</a:t>
            </a:fld>
            <a:endParaRPr lang="en-GB"/>
          </a:p>
        </p:txBody>
      </p:sp>
    </p:spTree>
    <p:extLst>
      <p:ext uri="{BB962C8B-B14F-4D97-AF65-F5344CB8AC3E}">
        <p14:creationId xmlns:p14="http://schemas.microsoft.com/office/powerpoint/2010/main" val="256898243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828563"/>
            <a:ext cx="10351752" cy="2736819"/>
          </a:xfrm>
        </p:spPr>
        <p:txBody>
          <a:bodyPr anchor="b">
            <a:normAutofit/>
          </a:bodyPr>
          <a:lstStyle>
            <a:lvl1pPr>
              <a:defRPr sz="4000"/>
            </a:lvl1pPr>
          </a:lstStyle>
          <a:p>
            <a:r>
              <a:rPr lang="en-GB"/>
              <a:t>Click to edit Master title style</a:t>
            </a:r>
            <a:endParaRPr lang="en-US" dirty="0"/>
          </a:p>
        </p:txBody>
      </p:sp>
      <p:sp>
        <p:nvSpPr>
          <p:cNvPr id="3" name="Text Placeholder 2"/>
          <p:cNvSpPr>
            <a:spLocks noGrp="1"/>
          </p:cNvSpPr>
          <p:nvPr>
            <p:ph type="body" idx="1"/>
          </p:nvPr>
        </p:nvSpPr>
        <p:spPr>
          <a:xfrm>
            <a:off x="913774" y="3657457"/>
            <a:ext cx="10351752" cy="1368183"/>
          </a:xfrm>
        </p:spPr>
        <p:txBody>
          <a:bodyPr>
            <a:normAutofit/>
          </a:bodyPr>
          <a:lstStyle>
            <a:lvl1pPr marL="0" indent="0" algn="ctr">
              <a:buNone/>
              <a:defRPr sz="2000">
                <a:solidFill>
                  <a:schemeClr val="bg1">
                    <a:lumMod val="50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GB"/>
              <a:t>Click to edit Master text styles</a:t>
            </a:r>
          </a:p>
        </p:txBody>
      </p:sp>
      <p:sp>
        <p:nvSpPr>
          <p:cNvPr id="4" name="Date Placeholder 3"/>
          <p:cNvSpPr>
            <a:spLocks noGrp="1"/>
          </p:cNvSpPr>
          <p:nvPr>
            <p:ph type="dt" sz="half" idx="10"/>
          </p:nvPr>
        </p:nvSpPr>
        <p:spPr/>
        <p:txBody>
          <a:bodyPr/>
          <a:lstStyle/>
          <a:p>
            <a:fld id="{EBDC2EEC-649F-4BDF-9575-E2E788F98C21}" type="datetimeFigureOut">
              <a:rPr lang="en-GB" smtClean="0"/>
              <a:t>21/08/2025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F09A196-DB3B-45C4-A398-AB07400F6E69}" type="slidenum">
              <a:rPr lang="en-GB" smtClean="0"/>
              <a:t>‹#›</a:t>
            </a:fld>
            <a:endParaRPr lang="en-GB"/>
          </a:p>
        </p:txBody>
      </p:sp>
    </p:spTree>
    <p:extLst>
      <p:ext uri="{BB962C8B-B14F-4D97-AF65-F5344CB8AC3E}">
        <p14:creationId xmlns:p14="http://schemas.microsoft.com/office/powerpoint/2010/main" val="1370578356"/>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GB"/>
              <a:t>Click to edit Master title style</a:t>
            </a:r>
            <a:endParaRPr lang="en-US" dirty="0"/>
          </a:p>
        </p:txBody>
      </p:sp>
      <p:sp>
        <p:nvSpPr>
          <p:cNvPr id="12" name="Content Placeholder 2"/>
          <p:cNvSpPr>
            <a:spLocks noGrp="1"/>
          </p:cNvSpPr>
          <p:nvPr>
            <p:ph sz="quarter" idx="13"/>
          </p:nvPr>
        </p:nvSpPr>
        <p:spPr>
          <a:xfrm>
            <a:off x="913774" y="2367092"/>
            <a:ext cx="5106026" cy="342410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13" name="Content Placeholder 3"/>
          <p:cNvSpPr>
            <a:spLocks noGrp="1"/>
          </p:cNvSpPr>
          <p:nvPr>
            <p:ph sz="quarter" idx="14"/>
          </p:nvPr>
        </p:nvSpPr>
        <p:spPr>
          <a:xfrm>
            <a:off x="6172200" y="2367092"/>
            <a:ext cx="5105400" cy="342410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Date Placeholder 4"/>
          <p:cNvSpPr>
            <a:spLocks noGrp="1"/>
          </p:cNvSpPr>
          <p:nvPr>
            <p:ph type="dt" sz="half" idx="10"/>
          </p:nvPr>
        </p:nvSpPr>
        <p:spPr/>
        <p:txBody>
          <a:bodyPr/>
          <a:lstStyle/>
          <a:p>
            <a:fld id="{EBDC2EEC-649F-4BDF-9575-E2E788F98C21}" type="datetimeFigureOut">
              <a:rPr lang="en-GB" smtClean="0"/>
              <a:t>21/08/2025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F09A196-DB3B-45C4-A398-AB07400F6E69}" type="slidenum">
              <a:rPr lang="en-GB" smtClean="0"/>
              <a:t>‹#›</a:t>
            </a:fld>
            <a:endParaRPr lang="en-GB"/>
          </a:p>
        </p:txBody>
      </p:sp>
    </p:spTree>
    <p:extLst>
      <p:ext uri="{BB962C8B-B14F-4D97-AF65-F5344CB8AC3E}">
        <p14:creationId xmlns:p14="http://schemas.microsoft.com/office/powerpoint/2010/main" val="1673722436"/>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pic>
        <p:nvPicPr>
          <p:cNvPr id="15" name="Picture 14"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4" name="Title 1"/>
          <p:cNvSpPr>
            <a:spLocks noGrp="1"/>
          </p:cNvSpPr>
          <p:nvPr>
            <p:ph type="title"/>
          </p:nvPr>
        </p:nvSpPr>
        <p:spPr>
          <a:xfrm>
            <a:off x="913775" y="618517"/>
            <a:ext cx="10364451" cy="1596177"/>
          </a:xfrm>
        </p:spPr>
        <p:txBody>
          <a:bodyPr/>
          <a:lstStyle/>
          <a:p>
            <a:r>
              <a:rPr lang="en-GB"/>
              <a:t>Click to edit Master title style</a:t>
            </a:r>
            <a:endParaRPr lang="en-US" dirty="0"/>
          </a:p>
        </p:txBody>
      </p:sp>
      <p:sp>
        <p:nvSpPr>
          <p:cNvPr id="3" name="Text Placeholder 2"/>
          <p:cNvSpPr>
            <a:spLocks noGrp="1"/>
          </p:cNvSpPr>
          <p:nvPr>
            <p:ph type="body" idx="1"/>
          </p:nvPr>
        </p:nvSpPr>
        <p:spPr>
          <a:xfrm>
            <a:off x="1146328" y="2371018"/>
            <a:ext cx="487347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Content Placeholder 3"/>
          <p:cNvSpPr>
            <a:spLocks noGrp="1"/>
          </p:cNvSpPr>
          <p:nvPr>
            <p:ph sz="quarter" idx="13"/>
          </p:nvPr>
        </p:nvSpPr>
        <p:spPr>
          <a:xfrm>
            <a:off x="913774" y="3051012"/>
            <a:ext cx="5106027" cy="27401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5" name="Text Placeholder 4"/>
          <p:cNvSpPr>
            <a:spLocks noGrp="1"/>
          </p:cNvSpPr>
          <p:nvPr>
            <p:ph type="body" sz="quarter" idx="3"/>
          </p:nvPr>
        </p:nvSpPr>
        <p:spPr>
          <a:xfrm>
            <a:off x="6396423" y="2371018"/>
            <a:ext cx="4881804" cy="679994"/>
          </a:xfrm>
        </p:spPr>
        <p:txBody>
          <a:bodyPr anchor="b">
            <a:noAutofit/>
          </a:bodyPr>
          <a:lstStyle>
            <a:lvl1pPr marL="0" indent="0">
              <a:lnSpc>
                <a:spcPct val="85000"/>
              </a:lnSpc>
              <a:buNone/>
              <a:defRPr sz="26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3" name="Content Placeholder 5"/>
          <p:cNvSpPr>
            <a:spLocks noGrp="1"/>
          </p:cNvSpPr>
          <p:nvPr>
            <p:ph sz="quarter" idx="14"/>
          </p:nvPr>
        </p:nvSpPr>
        <p:spPr>
          <a:xfrm>
            <a:off x="6172200" y="3051012"/>
            <a:ext cx="5105401" cy="2740187"/>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7" name="Date Placeholder 6"/>
          <p:cNvSpPr>
            <a:spLocks noGrp="1"/>
          </p:cNvSpPr>
          <p:nvPr>
            <p:ph type="dt" sz="half" idx="10"/>
          </p:nvPr>
        </p:nvSpPr>
        <p:spPr/>
        <p:txBody>
          <a:bodyPr/>
          <a:lstStyle/>
          <a:p>
            <a:fld id="{EBDC2EEC-649F-4BDF-9575-E2E788F98C21}" type="datetimeFigureOut">
              <a:rPr lang="en-GB" smtClean="0"/>
              <a:t>21/08/2025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3F09A196-DB3B-45C4-A398-AB07400F6E69}" type="slidenum">
              <a:rPr lang="en-GB" smtClean="0"/>
              <a:t>‹#›</a:t>
            </a:fld>
            <a:endParaRPr lang="en-GB"/>
          </a:p>
        </p:txBody>
      </p:sp>
    </p:spTree>
    <p:extLst>
      <p:ext uri="{BB962C8B-B14F-4D97-AF65-F5344CB8AC3E}">
        <p14:creationId xmlns:p14="http://schemas.microsoft.com/office/powerpoint/2010/main" val="1383441697"/>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GB"/>
              <a:t>Click to edit Master title style</a:t>
            </a:r>
            <a:endParaRPr lang="en-US" dirty="0"/>
          </a:p>
        </p:txBody>
      </p:sp>
      <p:sp>
        <p:nvSpPr>
          <p:cNvPr id="3" name="Date Placeholder 2"/>
          <p:cNvSpPr>
            <a:spLocks noGrp="1"/>
          </p:cNvSpPr>
          <p:nvPr>
            <p:ph type="dt" sz="half" idx="10"/>
          </p:nvPr>
        </p:nvSpPr>
        <p:spPr/>
        <p:txBody>
          <a:bodyPr/>
          <a:lstStyle/>
          <a:p>
            <a:fld id="{EBDC2EEC-649F-4BDF-9575-E2E788F98C21}" type="datetimeFigureOut">
              <a:rPr lang="en-GB" smtClean="0"/>
              <a:t>21/08/2025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F09A196-DB3B-45C4-A398-AB07400F6E69}" type="slidenum">
              <a:rPr lang="en-GB" smtClean="0"/>
              <a:t>‹#›</a:t>
            </a:fld>
            <a:endParaRPr lang="en-GB"/>
          </a:p>
        </p:txBody>
      </p:sp>
    </p:spTree>
    <p:extLst>
      <p:ext uri="{BB962C8B-B14F-4D97-AF65-F5344CB8AC3E}">
        <p14:creationId xmlns:p14="http://schemas.microsoft.com/office/powerpoint/2010/main" val="2044531331"/>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7" name="Picture 6"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Date Placeholder 1"/>
          <p:cNvSpPr>
            <a:spLocks noGrp="1"/>
          </p:cNvSpPr>
          <p:nvPr>
            <p:ph type="dt" sz="half" idx="10"/>
          </p:nvPr>
        </p:nvSpPr>
        <p:spPr/>
        <p:txBody>
          <a:bodyPr/>
          <a:lstStyle/>
          <a:p>
            <a:fld id="{EBDC2EEC-649F-4BDF-9575-E2E788F98C21}" type="datetimeFigureOut">
              <a:rPr lang="en-GB" smtClean="0"/>
              <a:t>21/08/2025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3F09A196-DB3B-45C4-A398-AB07400F6E69}" type="slidenum">
              <a:rPr lang="en-GB" smtClean="0"/>
              <a:t>‹#›</a:t>
            </a:fld>
            <a:endParaRPr lang="en-GB"/>
          </a:p>
        </p:txBody>
      </p:sp>
    </p:spTree>
    <p:extLst>
      <p:ext uri="{BB962C8B-B14F-4D97-AF65-F5344CB8AC3E}">
        <p14:creationId xmlns:p14="http://schemas.microsoft.com/office/powerpoint/2010/main" val="3161081564"/>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609600"/>
            <a:ext cx="3935688" cy="2023252"/>
          </a:xfrm>
        </p:spPr>
        <p:txBody>
          <a:bodyPr anchor="b"/>
          <a:lstStyle>
            <a:lvl1pPr algn="ctr">
              <a:defRPr sz="3200"/>
            </a:lvl1pPr>
          </a:lstStyle>
          <a:p>
            <a:r>
              <a:rPr lang="en-GB"/>
              <a:t>Click to edit Master title style</a:t>
            </a:r>
            <a:endParaRPr lang="en-US" dirty="0"/>
          </a:p>
        </p:txBody>
      </p:sp>
      <p:sp>
        <p:nvSpPr>
          <p:cNvPr id="10" name="Content Placeholder 2"/>
          <p:cNvSpPr>
            <a:spLocks noGrp="1"/>
          </p:cNvSpPr>
          <p:nvPr>
            <p:ph sz="quarter" idx="13"/>
          </p:nvPr>
        </p:nvSpPr>
        <p:spPr>
          <a:xfrm>
            <a:off x="5078062" y="609600"/>
            <a:ext cx="6200163" cy="5181599"/>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Text Placeholder 3"/>
          <p:cNvSpPr>
            <a:spLocks noGrp="1"/>
          </p:cNvSpPr>
          <p:nvPr>
            <p:ph type="body" sz="half" idx="2"/>
          </p:nvPr>
        </p:nvSpPr>
        <p:spPr>
          <a:xfrm>
            <a:off x="913774" y="2632852"/>
            <a:ext cx="3935689" cy="3158348"/>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EBDC2EEC-649F-4BDF-9575-E2E788F98C21}" type="datetimeFigureOut">
              <a:rPr lang="en-GB" smtClean="0"/>
              <a:t>21/08/2025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F09A196-DB3B-45C4-A398-AB07400F6E69}" type="slidenum">
              <a:rPr lang="en-GB" smtClean="0"/>
              <a:t>‹#›</a:t>
            </a:fld>
            <a:endParaRPr lang="en-GB"/>
          </a:p>
        </p:txBody>
      </p:sp>
    </p:spTree>
    <p:extLst>
      <p:ext uri="{BB962C8B-B14F-4D97-AF65-F5344CB8AC3E}">
        <p14:creationId xmlns:p14="http://schemas.microsoft.com/office/powerpoint/2010/main" val="3271312374"/>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600"/>
            <a:ext cx="5934969" cy="2023254"/>
          </a:xfrm>
        </p:spPr>
        <p:txBody>
          <a:bodyPr anchor="b"/>
          <a:lstStyle>
            <a:lvl1pPr algn="ct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7424803" y="609601"/>
            <a:ext cx="3255358" cy="5181600"/>
          </a:xfrm>
          <a:prstGeom prst="roundRect">
            <a:avLst>
              <a:gd name="adj" fmla="val 494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913794" y="2632852"/>
            <a:ext cx="5934949" cy="3158347"/>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EBDC2EEC-649F-4BDF-9575-E2E788F98C21}" type="datetimeFigureOut">
              <a:rPr lang="en-GB" smtClean="0"/>
              <a:t>21/08/2025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F09A196-DB3B-45C4-A398-AB07400F6E69}" type="slidenum">
              <a:rPr lang="en-GB" smtClean="0"/>
              <a:t>‹#›</a:t>
            </a:fld>
            <a:endParaRPr lang="en-GB"/>
          </a:p>
        </p:txBody>
      </p:sp>
    </p:spTree>
    <p:extLst>
      <p:ext uri="{BB962C8B-B14F-4D97-AF65-F5344CB8AC3E}">
        <p14:creationId xmlns:p14="http://schemas.microsoft.com/office/powerpoint/2010/main" val="2408483172"/>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pic>
        <p:nvPicPr>
          <p:cNvPr id="10" name="Picture 9"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94" y="4289374"/>
            <a:ext cx="10364432" cy="811610"/>
          </a:xfrm>
        </p:spPr>
        <p:txBody>
          <a:bodyPr anchor="b"/>
          <a:lstStyle>
            <a:lvl1pPr>
              <a:defRPr sz="3200"/>
            </a:lvl1pPr>
          </a:lstStyle>
          <a:p>
            <a:r>
              <a:rPr lang="en-GB"/>
              <a:t>Click to edit Master title style</a:t>
            </a:r>
            <a:endParaRPr lang="en-US" dirty="0"/>
          </a:p>
        </p:txBody>
      </p:sp>
      <p:sp>
        <p:nvSpPr>
          <p:cNvPr id="3" name="Picture Placeholder 2"/>
          <p:cNvSpPr>
            <a:spLocks noGrp="1" noChangeAspect="1"/>
          </p:cNvSpPr>
          <p:nvPr>
            <p:ph type="pic" idx="1"/>
          </p:nvPr>
        </p:nvSpPr>
        <p:spPr>
          <a:xfrm>
            <a:off x="1184744" y="698261"/>
            <a:ext cx="9822532" cy="3214136"/>
          </a:xfrm>
          <a:prstGeom prst="roundRect">
            <a:avLst>
              <a:gd name="adj" fmla="val 4944"/>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GB"/>
              <a:t>Click icon to add picture</a:t>
            </a:r>
            <a:endParaRPr lang="en-US" dirty="0"/>
          </a:p>
        </p:txBody>
      </p:sp>
      <p:sp>
        <p:nvSpPr>
          <p:cNvPr id="4" name="Text Placeholder 3"/>
          <p:cNvSpPr>
            <a:spLocks noGrp="1"/>
          </p:cNvSpPr>
          <p:nvPr>
            <p:ph type="body" sz="half" idx="2"/>
          </p:nvPr>
        </p:nvSpPr>
        <p:spPr>
          <a:xfrm>
            <a:off x="913774" y="5108728"/>
            <a:ext cx="10364452" cy="682472"/>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EBDC2EEC-649F-4BDF-9575-E2E788F98C21}" type="datetimeFigureOut">
              <a:rPr lang="en-GB" smtClean="0"/>
              <a:t>21/08/2025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F09A196-DB3B-45C4-A398-AB07400F6E69}" type="slidenum">
              <a:rPr lang="en-GB" smtClean="0"/>
              <a:t>‹#›</a:t>
            </a:fld>
            <a:endParaRPr lang="en-GB"/>
          </a:p>
        </p:txBody>
      </p:sp>
    </p:spTree>
    <p:extLst>
      <p:ext uri="{BB962C8B-B14F-4D97-AF65-F5344CB8AC3E}">
        <p14:creationId xmlns:p14="http://schemas.microsoft.com/office/powerpoint/2010/main" val="2986474921"/>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4" y="609599"/>
            <a:ext cx="10364452" cy="3427245"/>
          </a:xfrm>
        </p:spPr>
        <p:txBody>
          <a:bodyPr anchor="ctr"/>
          <a:lstStyle>
            <a:lvl1pPr algn="ctr">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913775" y="4204821"/>
            <a:ext cx="10364452" cy="1586380"/>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EBDC2EEC-649F-4BDF-9575-E2E788F98C21}" type="datetimeFigureOut">
              <a:rPr lang="en-GB" smtClean="0"/>
              <a:t>21/08/2025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F09A196-DB3B-45C4-A398-AB07400F6E69}" type="slidenum">
              <a:rPr lang="en-GB" smtClean="0"/>
              <a:t>‹#›</a:t>
            </a:fld>
            <a:endParaRPr lang="en-GB"/>
          </a:p>
        </p:txBody>
      </p:sp>
    </p:spTree>
    <p:extLst>
      <p:ext uri="{BB962C8B-B14F-4D97-AF65-F5344CB8AC3E}">
        <p14:creationId xmlns:p14="http://schemas.microsoft.com/office/powerpoint/2010/main" val="229080569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pic>
        <p:nvPicPr>
          <p:cNvPr id="11" name="Picture 10"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1446212" y="609600"/>
            <a:ext cx="9302752" cy="2992904"/>
          </a:xfrm>
        </p:spPr>
        <p:txBody>
          <a:bodyPr anchor="ctr"/>
          <a:lstStyle>
            <a:lvl1pPr>
              <a:defRPr sz="3200"/>
            </a:lvl1pPr>
          </a:lstStyle>
          <a:p>
            <a:r>
              <a:rPr lang="en-GB"/>
              <a:t>Click to edit Master title style</a:t>
            </a:r>
            <a:endParaRPr lang="en-US" dirty="0"/>
          </a:p>
        </p:txBody>
      </p:sp>
      <p:sp>
        <p:nvSpPr>
          <p:cNvPr id="12" name="Text Placeholder 3"/>
          <p:cNvSpPr>
            <a:spLocks noGrp="1"/>
          </p:cNvSpPr>
          <p:nvPr>
            <p:ph type="body" sz="half" idx="13"/>
          </p:nvPr>
        </p:nvSpPr>
        <p:spPr>
          <a:xfrm>
            <a:off x="1720644" y="3610032"/>
            <a:ext cx="8752299" cy="59478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4" name="Text Placeholder 3"/>
          <p:cNvSpPr>
            <a:spLocks noGrp="1"/>
          </p:cNvSpPr>
          <p:nvPr>
            <p:ph type="body" sz="half" idx="2"/>
          </p:nvPr>
        </p:nvSpPr>
        <p:spPr>
          <a:xfrm>
            <a:off x="913774" y="4372796"/>
            <a:ext cx="10364452" cy="1421053"/>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EBDC2EEC-649F-4BDF-9575-E2E788F98C21}" type="datetimeFigureOut">
              <a:rPr lang="en-GB" smtClean="0"/>
              <a:t>21/08/2025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F09A196-DB3B-45C4-A398-AB07400F6E69}" type="slidenum">
              <a:rPr lang="en-GB" smtClean="0"/>
              <a:t>‹#›</a:t>
            </a:fld>
            <a:endParaRPr lang="en-GB"/>
          </a:p>
        </p:txBody>
      </p:sp>
      <p:sp>
        <p:nvSpPr>
          <p:cNvPr id="13" name="TextBox 12"/>
          <p:cNvSpPr txBox="1"/>
          <p:nvPr/>
        </p:nvSpPr>
        <p:spPr>
          <a:xfrm>
            <a:off x="1001488" y="754166"/>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4" name="TextBox 13"/>
          <p:cNvSpPr txBox="1"/>
          <p:nvPr/>
        </p:nvSpPr>
        <p:spPr>
          <a:xfrm>
            <a:off x="10557558" y="2993578"/>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623328907"/>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a:xfrm>
            <a:off x="913775" y="2138721"/>
            <a:ext cx="10364452" cy="2511835"/>
          </a:xfrm>
        </p:spPr>
        <p:txBody>
          <a:bodyPr anchor="b"/>
          <a:lstStyle>
            <a:lvl1pPr algn="ctr">
              <a:defRPr sz="3200"/>
            </a:lvl1pPr>
          </a:lstStyle>
          <a:p>
            <a:r>
              <a:rPr lang="en-GB"/>
              <a:t>Click to edit Master title style</a:t>
            </a:r>
            <a:endParaRPr lang="en-US" dirty="0"/>
          </a:p>
        </p:txBody>
      </p:sp>
      <p:sp>
        <p:nvSpPr>
          <p:cNvPr id="4" name="Text Placeholder 3"/>
          <p:cNvSpPr>
            <a:spLocks noGrp="1"/>
          </p:cNvSpPr>
          <p:nvPr>
            <p:ph type="body" sz="half" idx="2"/>
          </p:nvPr>
        </p:nvSpPr>
        <p:spPr>
          <a:xfrm>
            <a:off x="913775" y="4662335"/>
            <a:ext cx="10364452"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p:cNvSpPr>
            <a:spLocks noGrp="1"/>
          </p:cNvSpPr>
          <p:nvPr>
            <p:ph type="dt" sz="half" idx="10"/>
          </p:nvPr>
        </p:nvSpPr>
        <p:spPr/>
        <p:txBody>
          <a:bodyPr/>
          <a:lstStyle/>
          <a:p>
            <a:fld id="{EBDC2EEC-649F-4BDF-9575-E2E788F98C21}" type="datetimeFigureOut">
              <a:rPr lang="en-GB" smtClean="0"/>
              <a:t>21/08/2025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3F09A196-DB3B-45C4-A398-AB07400F6E69}" type="slidenum">
              <a:rPr lang="en-GB" smtClean="0"/>
              <a:t>‹#›</a:t>
            </a:fld>
            <a:endParaRPr lang="en-GB"/>
          </a:p>
        </p:txBody>
      </p:sp>
    </p:spTree>
    <p:extLst>
      <p:ext uri="{BB962C8B-B14F-4D97-AF65-F5344CB8AC3E}">
        <p14:creationId xmlns:p14="http://schemas.microsoft.com/office/powerpoint/2010/main" val="659218291"/>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pic>
        <p:nvPicPr>
          <p:cNvPr id="13" name="Picture 12"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15" name="Title 1"/>
          <p:cNvSpPr>
            <a:spLocks noGrp="1"/>
          </p:cNvSpPr>
          <p:nvPr>
            <p:ph type="title"/>
          </p:nvPr>
        </p:nvSpPr>
        <p:spPr>
          <a:xfrm>
            <a:off x="913774" y="609600"/>
            <a:ext cx="10364452" cy="1605094"/>
          </a:xfrm>
        </p:spPr>
        <p:txBody>
          <a:bodyPr/>
          <a:lstStyle/>
          <a:p>
            <a:r>
              <a:rPr lang="en-GB"/>
              <a:t>Click to edit Master title style</a:t>
            </a:r>
            <a:endParaRPr lang="en-US" dirty="0"/>
          </a:p>
        </p:txBody>
      </p:sp>
      <p:sp>
        <p:nvSpPr>
          <p:cNvPr id="7" name="Text Placeholder 2"/>
          <p:cNvSpPr>
            <a:spLocks noGrp="1"/>
          </p:cNvSpPr>
          <p:nvPr>
            <p:ph type="body" idx="1"/>
          </p:nvPr>
        </p:nvSpPr>
        <p:spPr>
          <a:xfrm>
            <a:off x="913774" y="2367093"/>
            <a:ext cx="3298976"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8" name="Text Placeholder 3"/>
          <p:cNvSpPr>
            <a:spLocks noGrp="1"/>
          </p:cNvSpPr>
          <p:nvPr>
            <p:ph type="body" sz="half" idx="15"/>
          </p:nvPr>
        </p:nvSpPr>
        <p:spPr>
          <a:xfrm>
            <a:off x="913774" y="2943355"/>
            <a:ext cx="3298976"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9" name="Text Placeholder 4"/>
          <p:cNvSpPr>
            <a:spLocks noGrp="1"/>
          </p:cNvSpPr>
          <p:nvPr>
            <p:ph type="body" sz="quarter" idx="3"/>
          </p:nvPr>
        </p:nvSpPr>
        <p:spPr>
          <a:xfrm>
            <a:off x="4452389" y="2367093"/>
            <a:ext cx="3291521"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0" name="Text Placeholder 3"/>
          <p:cNvSpPr>
            <a:spLocks noGrp="1"/>
          </p:cNvSpPr>
          <p:nvPr>
            <p:ph type="body" sz="half" idx="16"/>
          </p:nvPr>
        </p:nvSpPr>
        <p:spPr>
          <a:xfrm>
            <a:off x="4441348" y="2943355"/>
            <a:ext cx="3303351"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11" name="Text Placeholder 4"/>
          <p:cNvSpPr>
            <a:spLocks noGrp="1"/>
          </p:cNvSpPr>
          <p:nvPr>
            <p:ph type="body" sz="quarter" idx="13"/>
          </p:nvPr>
        </p:nvSpPr>
        <p:spPr>
          <a:xfrm>
            <a:off x="7973298" y="2367093"/>
            <a:ext cx="3304928" cy="576262"/>
          </a:xfrm>
        </p:spPr>
        <p:txBody>
          <a:bodyPr anchor="b">
            <a:noAutofit/>
          </a:bodyPr>
          <a:lstStyle>
            <a:lvl1pPr marL="0" indent="0" algn="ctr">
              <a:lnSpc>
                <a:spcPct val="85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12" name="Text Placeholder 3"/>
          <p:cNvSpPr>
            <a:spLocks noGrp="1"/>
          </p:cNvSpPr>
          <p:nvPr>
            <p:ph type="body" sz="half" idx="17"/>
          </p:nvPr>
        </p:nvSpPr>
        <p:spPr>
          <a:xfrm>
            <a:off x="7973298" y="2943355"/>
            <a:ext cx="3304928" cy="2847845"/>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EBDC2EEC-649F-4BDF-9575-E2E788F98C21}" type="datetimeFigureOut">
              <a:rPr lang="en-GB" smtClean="0"/>
              <a:t>21/08/2025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F09A196-DB3B-45C4-A398-AB07400F6E69}" type="slidenum">
              <a:rPr lang="en-GB" smtClean="0"/>
              <a:t>‹#›</a:t>
            </a:fld>
            <a:endParaRPr lang="en-GB"/>
          </a:p>
        </p:txBody>
      </p:sp>
    </p:spTree>
    <p:extLst>
      <p:ext uri="{BB962C8B-B14F-4D97-AF65-F5344CB8AC3E}">
        <p14:creationId xmlns:p14="http://schemas.microsoft.com/office/powerpoint/2010/main" val="2997109893"/>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pic>
        <p:nvPicPr>
          <p:cNvPr id="16" name="Picture 15"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30" name="Title 1"/>
          <p:cNvSpPr>
            <a:spLocks noGrp="1"/>
          </p:cNvSpPr>
          <p:nvPr>
            <p:ph type="title"/>
          </p:nvPr>
        </p:nvSpPr>
        <p:spPr>
          <a:xfrm>
            <a:off x="913774" y="610772"/>
            <a:ext cx="10364452" cy="1603922"/>
          </a:xfrm>
        </p:spPr>
        <p:txBody>
          <a:bodyPr/>
          <a:lstStyle/>
          <a:p>
            <a:r>
              <a:rPr lang="en-GB"/>
              <a:t>Click to edit Master title style</a:t>
            </a:r>
            <a:endParaRPr lang="en-US" dirty="0"/>
          </a:p>
        </p:txBody>
      </p:sp>
      <p:sp>
        <p:nvSpPr>
          <p:cNvPr id="19" name="Text Placeholder 2"/>
          <p:cNvSpPr>
            <a:spLocks noGrp="1"/>
          </p:cNvSpPr>
          <p:nvPr>
            <p:ph type="body" idx="1"/>
          </p:nvPr>
        </p:nvSpPr>
        <p:spPr>
          <a:xfrm>
            <a:off x="913774" y="4204820"/>
            <a:ext cx="3296409"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0" name="Picture Placeholder 2"/>
          <p:cNvSpPr>
            <a:spLocks noGrp="1" noChangeAspect="1"/>
          </p:cNvSpPr>
          <p:nvPr>
            <p:ph type="pic" idx="15"/>
          </p:nvPr>
        </p:nvSpPr>
        <p:spPr>
          <a:xfrm>
            <a:off x="913774" y="2367093"/>
            <a:ext cx="3296409" cy="1524000"/>
          </a:xfrm>
          <a:prstGeom prst="roundRect">
            <a:avLst>
              <a:gd name="adj" fmla="val 9363"/>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1" name="Text Placeholder 3"/>
          <p:cNvSpPr>
            <a:spLocks noGrp="1"/>
          </p:cNvSpPr>
          <p:nvPr>
            <p:ph type="body" sz="half" idx="18"/>
          </p:nvPr>
        </p:nvSpPr>
        <p:spPr>
          <a:xfrm>
            <a:off x="913774" y="4781082"/>
            <a:ext cx="3296409" cy="101011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2" name="Text Placeholder 4"/>
          <p:cNvSpPr>
            <a:spLocks noGrp="1"/>
          </p:cNvSpPr>
          <p:nvPr>
            <p:ph type="body" sz="quarter" idx="3"/>
          </p:nvPr>
        </p:nvSpPr>
        <p:spPr>
          <a:xfrm>
            <a:off x="4442759" y="4204820"/>
            <a:ext cx="3301828"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3" name="Picture Placeholder 2"/>
          <p:cNvSpPr>
            <a:spLocks noGrp="1" noChangeAspect="1"/>
          </p:cNvSpPr>
          <p:nvPr>
            <p:ph type="pic" idx="21"/>
          </p:nvPr>
        </p:nvSpPr>
        <p:spPr>
          <a:xfrm>
            <a:off x="4441348" y="2367093"/>
            <a:ext cx="3303352"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4" name="Text Placeholder 3"/>
          <p:cNvSpPr>
            <a:spLocks noGrp="1"/>
          </p:cNvSpPr>
          <p:nvPr>
            <p:ph type="body" sz="half" idx="19"/>
          </p:nvPr>
        </p:nvSpPr>
        <p:spPr>
          <a:xfrm>
            <a:off x="4441348" y="4781080"/>
            <a:ext cx="3303352" cy="1010119"/>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25" name="Text Placeholder 4"/>
          <p:cNvSpPr>
            <a:spLocks noGrp="1"/>
          </p:cNvSpPr>
          <p:nvPr>
            <p:ph type="body" sz="quarter" idx="13"/>
          </p:nvPr>
        </p:nvSpPr>
        <p:spPr>
          <a:xfrm>
            <a:off x="7973298" y="4204820"/>
            <a:ext cx="3300681" cy="576262"/>
          </a:xfrm>
        </p:spPr>
        <p:txBody>
          <a:bodyPr anchor="b">
            <a:noAutofit/>
          </a:bodyPr>
          <a:lstStyle>
            <a:lvl1pPr marL="0" indent="0" algn="ctr">
              <a:lnSpc>
                <a:spcPct val="85000"/>
              </a:lnSpc>
              <a:buNone/>
              <a:defRPr sz="22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26" name="Picture Placeholder 2"/>
          <p:cNvSpPr>
            <a:spLocks noGrp="1" noChangeAspect="1"/>
          </p:cNvSpPr>
          <p:nvPr>
            <p:ph type="pic" idx="22"/>
          </p:nvPr>
        </p:nvSpPr>
        <p:spPr>
          <a:xfrm>
            <a:off x="7973298" y="2367093"/>
            <a:ext cx="3304928" cy="1524000"/>
          </a:xfrm>
          <a:prstGeom prst="roundRect">
            <a:avLst>
              <a:gd name="adj" fmla="val 8841"/>
            </a:avLst>
          </a:prstGeom>
          <a:noFill/>
          <a:ln w="82550" cap="sq">
            <a:solidFill>
              <a:srgbClr val="EAEAEA"/>
            </a:solidFill>
            <a:miter lim="800000"/>
          </a:ln>
          <a:effectLst/>
          <a:scene3d>
            <a:camera prst="orthographicFront"/>
            <a:lightRig rig="threePt" dir="t">
              <a:rot lat="0" lon="0" rev="2700000"/>
            </a:lightRig>
          </a:scene3d>
          <a:sp3d contourW="6350">
            <a:bevelT h="38100"/>
            <a:contourClr>
              <a:srgbClr val="C0C0C0"/>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GB"/>
              <a:t>Click icon to add picture</a:t>
            </a:r>
            <a:endParaRPr lang="en-US" dirty="0"/>
          </a:p>
        </p:txBody>
      </p:sp>
      <p:sp>
        <p:nvSpPr>
          <p:cNvPr id="27" name="Text Placeholder 3"/>
          <p:cNvSpPr>
            <a:spLocks noGrp="1"/>
          </p:cNvSpPr>
          <p:nvPr>
            <p:ph type="body" sz="half" idx="20"/>
          </p:nvPr>
        </p:nvSpPr>
        <p:spPr>
          <a:xfrm>
            <a:off x="7973173" y="4781078"/>
            <a:ext cx="3305053" cy="1010121"/>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GB"/>
              <a:t>Click to edit Master text styles</a:t>
            </a:r>
          </a:p>
        </p:txBody>
      </p:sp>
      <p:sp>
        <p:nvSpPr>
          <p:cNvPr id="3" name="Date Placeholder 2"/>
          <p:cNvSpPr>
            <a:spLocks noGrp="1"/>
          </p:cNvSpPr>
          <p:nvPr>
            <p:ph type="dt" sz="half" idx="10"/>
          </p:nvPr>
        </p:nvSpPr>
        <p:spPr/>
        <p:txBody>
          <a:bodyPr/>
          <a:lstStyle/>
          <a:p>
            <a:fld id="{EBDC2EEC-649F-4BDF-9575-E2E788F98C21}" type="datetimeFigureOut">
              <a:rPr lang="en-GB" smtClean="0"/>
              <a:t>21/08/2025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3F09A196-DB3B-45C4-A398-AB07400F6E69}" type="slidenum">
              <a:rPr lang="en-GB" smtClean="0"/>
              <a:t>‹#›</a:t>
            </a:fld>
            <a:endParaRPr lang="en-GB"/>
          </a:p>
        </p:txBody>
      </p:sp>
    </p:spTree>
    <p:extLst>
      <p:ext uri="{BB962C8B-B14F-4D97-AF65-F5344CB8AC3E}">
        <p14:creationId xmlns:p14="http://schemas.microsoft.com/office/powerpoint/2010/main" val="2229313118"/>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pic>
        <p:nvPicPr>
          <p:cNvPr id="8" name="Picture 7"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title"/>
          </p:nvPr>
        </p:nvSpPr>
        <p:spPr/>
        <p:txBody>
          <a:bodyPr/>
          <a:lstStyle/>
          <a:p>
            <a:r>
              <a:rPr lang="en-GB"/>
              <a:t>Click to edit Master title style</a:t>
            </a:r>
            <a:endParaRPr lang="en-US" dirty="0"/>
          </a:p>
        </p:txBody>
      </p:sp>
      <p:sp>
        <p:nvSpPr>
          <p:cNvPr id="11" name="Vertical Text Placeholder 2"/>
          <p:cNvSpPr>
            <a:spLocks noGrp="1"/>
          </p:cNvSpPr>
          <p:nvPr>
            <p:ph type="body" orient="vert" sz="quarter" idx="13"/>
          </p:nvPr>
        </p:nvSpPr>
        <p:spPr>
          <a:xfrm>
            <a:off x="913775" y="2367093"/>
            <a:ext cx="10364452" cy="3424107"/>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EBDC2EEC-649F-4BDF-9575-E2E788F98C21}" type="datetimeFigureOut">
              <a:rPr lang="en-GB" smtClean="0"/>
              <a:t>21/08/2025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F09A196-DB3B-45C4-A398-AB07400F6E69}" type="slidenum">
              <a:rPr lang="en-GB" smtClean="0"/>
              <a:t>‹#›</a:t>
            </a:fld>
            <a:endParaRPr lang="en-GB"/>
          </a:p>
        </p:txBody>
      </p:sp>
    </p:spTree>
    <p:extLst>
      <p:ext uri="{BB962C8B-B14F-4D97-AF65-F5344CB8AC3E}">
        <p14:creationId xmlns:p14="http://schemas.microsoft.com/office/powerpoint/2010/main" val="1975404778"/>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pic>
        <p:nvPicPr>
          <p:cNvPr id="9" name="Picture 8" descr="Droplets-HD-Content-R1d.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Vertical Title 1"/>
          <p:cNvSpPr>
            <a:spLocks noGrp="1"/>
          </p:cNvSpPr>
          <p:nvPr>
            <p:ph type="title" orient="vert"/>
          </p:nvPr>
        </p:nvSpPr>
        <p:spPr>
          <a:xfrm>
            <a:off x="8724900" y="609601"/>
            <a:ext cx="2553326" cy="5181599"/>
          </a:xfrm>
        </p:spPr>
        <p:txBody>
          <a:bodyPr vert="eaVert"/>
          <a:lstStyle>
            <a:lvl1pPr algn="l">
              <a:defRPr/>
            </a:lvl1pPr>
          </a:lstStyle>
          <a:p>
            <a:r>
              <a:rPr lang="en-GB"/>
              <a:t>Click to edit Master title style</a:t>
            </a:r>
            <a:endParaRPr lang="en-US" dirty="0"/>
          </a:p>
        </p:txBody>
      </p:sp>
      <p:sp>
        <p:nvSpPr>
          <p:cNvPr id="8" name="Vertical Text Placeholder 2"/>
          <p:cNvSpPr>
            <a:spLocks noGrp="1"/>
          </p:cNvSpPr>
          <p:nvPr>
            <p:ph type="body" orient="vert" sz="quarter" idx="13"/>
          </p:nvPr>
        </p:nvSpPr>
        <p:spPr>
          <a:xfrm>
            <a:off x="913775" y="609601"/>
            <a:ext cx="7658724" cy="5181599"/>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10"/>
          </p:nvPr>
        </p:nvSpPr>
        <p:spPr/>
        <p:txBody>
          <a:bodyPr/>
          <a:lstStyle/>
          <a:p>
            <a:fld id="{EBDC2EEC-649F-4BDF-9575-E2E788F98C21}" type="datetimeFigureOut">
              <a:rPr lang="en-GB" smtClean="0"/>
              <a:t>21/08/2025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3F09A196-DB3B-45C4-A398-AB07400F6E69}" type="slidenum">
              <a:rPr lang="en-GB" smtClean="0"/>
              <a:t>‹#›</a:t>
            </a:fld>
            <a:endParaRPr lang="en-GB"/>
          </a:p>
        </p:txBody>
      </p:sp>
    </p:spTree>
    <p:extLst>
      <p:ext uri="{BB962C8B-B14F-4D97-AF65-F5344CB8AC3E}">
        <p14:creationId xmlns:p14="http://schemas.microsoft.com/office/powerpoint/2010/main" val="3783356680"/>
      </p:ext>
    </p:extLst>
  </p:cSld>
  <p:clrMapOvr>
    <a:masterClrMapping/>
  </p:clrMapOvr>
  <p:hf sldNum="0" hdr="0" ft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pic>
        <p:nvPicPr>
          <p:cNvPr id="1026" name="Picture 2" descr="\\DROBO-FS\QuickDrops\JB\PPTX NG\Droplets\LightingOverlay.png"/>
          <p:cNvPicPr>
            <a:picLocks noChangeAspect="1" noChangeArrowheads="1"/>
          </p:cNvPicPr>
          <p:nvPr/>
        </p:nvPicPr>
        <p:blipFill>
          <a:blip r:embed="rId19">
            <a:alphaModFix/>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Placeholder 1"/>
          <p:cNvSpPr>
            <a:spLocks noGrp="1"/>
          </p:cNvSpPr>
          <p:nvPr>
            <p:ph type="title"/>
          </p:nvPr>
        </p:nvSpPr>
        <p:spPr>
          <a:xfrm>
            <a:off x="913775" y="618517"/>
            <a:ext cx="10364451" cy="1596177"/>
          </a:xfrm>
          <a:prstGeom prst="rect">
            <a:avLst/>
          </a:prstGeom>
        </p:spPr>
        <p:txBody>
          <a:bodyPr vert="horz" lIns="91440" tIns="45720" rIns="91440" bIns="45720" rtlCol="0" anchor="ctr">
            <a:normAutofit/>
          </a:bodyPr>
          <a:lstStyle/>
          <a:p>
            <a:r>
              <a:rPr lang="en-GB"/>
              <a:t>Click to edit Master title style</a:t>
            </a:r>
            <a:endParaRPr lang="en-US" dirty="0"/>
          </a:p>
        </p:txBody>
      </p:sp>
      <p:sp>
        <p:nvSpPr>
          <p:cNvPr id="3" name="Text Placeholder 2"/>
          <p:cNvSpPr>
            <a:spLocks noGrp="1"/>
          </p:cNvSpPr>
          <p:nvPr>
            <p:ph type="body" idx="1"/>
          </p:nvPr>
        </p:nvSpPr>
        <p:spPr>
          <a:xfrm>
            <a:off x="913775" y="2367093"/>
            <a:ext cx="10364452" cy="3424107"/>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dirty="0"/>
          </a:p>
        </p:txBody>
      </p:sp>
      <p:sp>
        <p:nvSpPr>
          <p:cNvPr id="4" name="Date Placeholder 3"/>
          <p:cNvSpPr>
            <a:spLocks noGrp="1"/>
          </p:cNvSpPr>
          <p:nvPr>
            <p:ph type="dt" sz="half" idx="2"/>
          </p:nvPr>
        </p:nvSpPr>
        <p:spPr>
          <a:xfrm>
            <a:off x="7678737" y="5883275"/>
            <a:ext cx="2743200" cy="365125"/>
          </a:xfrm>
          <a:prstGeom prst="rect">
            <a:avLst/>
          </a:prstGeom>
        </p:spPr>
        <p:txBody>
          <a:bodyPr vert="horz" lIns="91440" tIns="45720" rIns="91440" bIns="45720" rtlCol="0" anchor="ctr"/>
          <a:lstStyle>
            <a:lvl1pPr algn="r">
              <a:defRPr sz="1000">
                <a:solidFill>
                  <a:schemeClr val="tx1"/>
                </a:solidFill>
              </a:defRPr>
            </a:lvl1pPr>
          </a:lstStyle>
          <a:p>
            <a:fld id="{EBDC2EEC-649F-4BDF-9575-E2E788F98C21}" type="datetimeFigureOut">
              <a:rPr lang="en-GB" smtClean="0"/>
              <a:t>21/08/2025</a:t>
            </a:fld>
            <a:endParaRPr lang="en-GB"/>
          </a:p>
        </p:txBody>
      </p:sp>
      <p:sp>
        <p:nvSpPr>
          <p:cNvPr id="5" name="Footer Placeholder 4"/>
          <p:cNvSpPr>
            <a:spLocks noGrp="1"/>
          </p:cNvSpPr>
          <p:nvPr>
            <p:ph type="ftr" sz="quarter" idx="3"/>
          </p:nvPr>
        </p:nvSpPr>
        <p:spPr>
          <a:xfrm>
            <a:off x="913774" y="5883275"/>
            <a:ext cx="6672887" cy="365125"/>
          </a:xfrm>
          <a:prstGeom prst="rect">
            <a:avLst/>
          </a:prstGeom>
        </p:spPr>
        <p:txBody>
          <a:bodyPr vert="horz" lIns="91440" tIns="45720" rIns="91440" bIns="45720" rtlCol="0" anchor="ctr"/>
          <a:lstStyle>
            <a:lvl1pPr algn="l">
              <a:defRPr sz="1000">
                <a:solidFill>
                  <a:schemeClr val="tx1"/>
                </a:solidFill>
              </a:defRPr>
            </a:lvl1pPr>
          </a:lstStyle>
          <a:p>
            <a:endParaRPr lang="en-GB"/>
          </a:p>
        </p:txBody>
      </p:sp>
      <p:sp>
        <p:nvSpPr>
          <p:cNvPr id="6" name="Slide Number Placeholder 5"/>
          <p:cNvSpPr>
            <a:spLocks noGrp="1"/>
          </p:cNvSpPr>
          <p:nvPr>
            <p:ph type="sldNum" sz="quarter" idx="4"/>
          </p:nvPr>
        </p:nvSpPr>
        <p:spPr>
          <a:xfrm>
            <a:off x="10514011" y="5883275"/>
            <a:ext cx="764215" cy="365125"/>
          </a:xfrm>
          <a:prstGeom prst="rect">
            <a:avLst/>
          </a:prstGeom>
        </p:spPr>
        <p:txBody>
          <a:bodyPr vert="horz" lIns="91440" tIns="45720" rIns="91440" bIns="45720" rtlCol="0" anchor="ctr"/>
          <a:lstStyle>
            <a:lvl1pPr algn="r">
              <a:defRPr sz="1000">
                <a:solidFill>
                  <a:schemeClr val="tx1"/>
                </a:solidFill>
              </a:defRPr>
            </a:lvl1pPr>
          </a:lstStyle>
          <a:p>
            <a:fld id="{3F09A196-DB3B-45C4-A398-AB07400F6E69}" type="slidenum">
              <a:rPr lang="en-GB" smtClean="0"/>
              <a:t>‹#›</a:t>
            </a:fld>
            <a:endParaRPr lang="en-GB"/>
          </a:p>
        </p:txBody>
      </p:sp>
    </p:spTree>
    <p:extLst>
      <p:ext uri="{BB962C8B-B14F-4D97-AF65-F5344CB8AC3E}">
        <p14:creationId xmlns:p14="http://schemas.microsoft.com/office/powerpoint/2010/main" val="1905755786"/>
      </p:ext>
    </p:extLst>
  </p:cSld>
  <p:clrMap bg1="lt1" tx1="dk1" bg2="lt2" tx2="dk2" accent1="accent1" accent2="accent2" accent3="accent3" accent4="accent4" accent5="accent5" accent6="accent6" hlink="hlink" folHlink="folHlink"/>
  <p:sldLayoutIdLst>
    <p:sldLayoutId id="2147483966" r:id="rId1"/>
    <p:sldLayoutId id="2147483967" r:id="rId2"/>
    <p:sldLayoutId id="2147483968" r:id="rId3"/>
    <p:sldLayoutId id="2147483969" r:id="rId4"/>
    <p:sldLayoutId id="2147483970" r:id="rId5"/>
    <p:sldLayoutId id="2147483971" r:id="rId6"/>
    <p:sldLayoutId id="2147483972" r:id="rId7"/>
    <p:sldLayoutId id="2147483973" r:id="rId8"/>
    <p:sldLayoutId id="2147483974" r:id="rId9"/>
    <p:sldLayoutId id="2147483975" r:id="rId10"/>
    <p:sldLayoutId id="2147483976" r:id="rId11"/>
    <p:sldLayoutId id="2147483977" r:id="rId12"/>
    <p:sldLayoutId id="2147483978" r:id="rId13"/>
    <p:sldLayoutId id="2147483979" r:id="rId14"/>
    <p:sldLayoutId id="2147483980" r:id="rId15"/>
    <p:sldLayoutId id="2147483981" r:id="rId16"/>
    <p:sldLayoutId id="2147483982" r:id="rId17"/>
  </p:sldLayoutIdLst>
  <p:hf sldNum="0" hdr="0" ftr="0" dt="0"/>
  <p:txStyles>
    <p:titleStyle>
      <a:lvl1pPr algn="ctr" defTabSz="914400" rtl="0" eaLnBrk="1" latinLnBrk="0" hangingPunct="1">
        <a:lnSpc>
          <a:spcPct val="90000"/>
        </a:lnSpc>
        <a:spcBef>
          <a:spcPct val="0"/>
        </a:spcBef>
        <a:buNone/>
        <a:defRPr sz="3600" kern="1200" cap="all" baseline="0">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tx1"/>
        </a:buClr>
        <a:buFont typeface="Arial" panose="020B0604020202020204" pitchFamily="34" charset="0"/>
        <a:buChar char="•"/>
        <a:defRPr sz="2000" kern="1200" cap="all" baseline="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tx1"/>
        </a:buClr>
        <a:buFont typeface="Arial" panose="020B0604020202020204" pitchFamily="34" charset="0"/>
        <a:buChar char="•"/>
        <a:defRPr sz="1800" kern="1200" cap="all"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tx1"/>
        </a:buClr>
        <a:buFont typeface="Arial" panose="020B0604020202020204" pitchFamily="34" charset="0"/>
        <a:buChar char="•"/>
        <a:defRPr sz="1600" kern="1200" cap="all" baseline="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tx1"/>
        </a:buClr>
        <a:buFont typeface="Arial" panose="020B0604020202020204" pitchFamily="34" charset="0"/>
        <a:buChar char="•"/>
        <a:defRPr sz="1400" kern="1200" cap="all"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5.png"/><Relationship Id="rId7"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8.svg"/><Relationship Id="rId5" Type="http://schemas.openxmlformats.org/officeDocument/2006/relationships/image" Target="../media/image7.png"/><Relationship Id="rId4" Type="http://schemas.openxmlformats.org/officeDocument/2006/relationships/image" Target="../media/image6.svg"/><Relationship Id="rId9" Type="http://schemas.openxmlformats.org/officeDocument/2006/relationships/image" Target="../media/image11.png"/></Relationships>
</file>

<file path=ppt/slides/_rels/slide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 Id="rId9" Type="http://schemas.openxmlformats.org/officeDocument/2006/relationships/image" Target="../media/image11.png"/></Relationships>
</file>

<file path=ppt/slides/_rels/slide5.xml.rels><?xml version="1.0" encoding="UTF-8" standalone="yes"?>
<Relationships xmlns="http://schemas.openxmlformats.org/package/2006/relationships"><Relationship Id="rId8" Type="http://schemas.openxmlformats.org/officeDocument/2006/relationships/image" Target="../media/image21.svg"/><Relationship Id="rId3" Type="http://schemas.openxmlformats.org/officeDocument/2006/relationships/image" Target="../media/image12.png"/><Relationship Id="rId7" Type="http://schemas.openxmlformats.org/officeDocument/2006/relationships/image" Target="../media/image20.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9.svg"/><Relationship Id="rId5" Type="http://schemas.openxmlformats.org/officeDocument/2006/relationships/image" Target="../media/image18.png"/><Relationship Id="rId4" Type="http://schemas.openxmlformats.org/officeDocument/2006/relationships/image" Target="../media/image13.svg"/><Relationship Id="rId9"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27.svg"/><Relationship Id="rId13" Type="http://schemas.openxmlformats.org/officeDocument/2006/relationships/image" Target="../media/image32.png"/><Relationship Id="rId3" Type="http://schemas.openxmlformats.org/officeDocument/2006/relationships/image" Target="../media/image22.png"/><Relationship Id="rId7" Type="http://schemas.openxmlformats.org/officeDocument/2006/relationships/image" Target="../media/image26.png"/><Relationship Id="rId12" Type="http://schemas.openxmlformats.org/officeDocument/2006/relationships/image" Target="../media/image31.svg"/><Relationship Id="rId2" Type="http://schemas.openxmlformats.org/officeDocument/2006/relationships/notesSlide" Target="../notesSlides/notesSlide6.xml"/><Relationship Id="rId16" Type="http://schemas.openxmlformats.org/officeDocument/2006/relationships/image" Target="../media/image34.png"/><Relationship Id="rId1" Type="http://schemas.openxmlformats.org/officeDocument/2006/relationships/slideLayout" Target="../slideLayouts/slideLayout7.xml"/><Relationship Id="rId6" Type="http://schemas.openxmlformats.org/officeDocument/2006/relationships/image" Target="../media/image25.svg"/><Relationship Id="rId11" Type="http://schemas.openxmlformats.org/officeDocument/2006/relationships/image" Target="../media/image30.svg"/><Relationship Id="rId5" Type="http://schemas.openxmlformats.org/officeDocument/2006/relationships/image" Target="../media/image24.png"/><Relationship Id="rId15" Type="http://schemas.openxmlformats.org/officeDocument/2006/relationships/image" Target="../media/image11.png"/><Relationship Id="rId10" Type="http://schemas.openxmlformats.org/officeDocument/2006/relationships/image" Target="../media/image29.png"/><Relationship Id="rId4" Type="http://schemas.openxmlformats.org/officeDocument/2006/relationships/image" Target="../media/image23.svg"/><Relationship Id="rId9" Type="http://schemas.openxmlformats.org/officeDocument/2006/relationships/image" Target="../media/image28.svg"/><Relationship Id="rId14" Type="http://schemas.openxmlformats.org/officeDocument/2006/relationships/image" Target="../media/image33.svg"/></Relationships>
</file>

<file path=ppt/slides/_rels/slide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8" Type="http://schemas.openxmlformats.org/officeDocument/2006/relationships/image" Target="../media/image42.svg"/><Relationship Id="rId13" Type="http://schemas.openxmlformats.org/officeDocument/2006/relationships/image" Target="../media/image47.png"/><Relationship Id="rId18" Type="http://schemas.openxmlformats.org/officeDocument/2006/relationships/image" Target="../media/image52.svg"/><Relationship Id="rId3" Type="http://schemas.openxmlformats.org/officeDocument/2006/relationships/image" Target="../media/image37.png"/><Relationship Id="rId7" Type="http://schemas.openxmlformats.org/officeDocument/2006/relationships/image" Target="../media/image41.png"/><Relationship Id="rId12" Type="http://schemas.openxmlformats.org/officeDocument/2006/relationships/image" Target="../media/image46.svg"/><Relationship Id="rId17" Type="http://schemas.openxmlformats.org/officeDocument/2006/relationships/image" Target="../media/image51.png"/><Relationship Id="rId2" Type="http://schemas.openxmlformats.org/officeDocument/2006/relationships/notesSlide" Target="../notesSlides/notesSlide9.xml"/><Relationship Id="rId16" Type="http://schemas.openxmlformats.org/officeDocument/2006/relationships/image" Target="../media/image50.svg"/><Relationship Id="rId1" Type="http://schemas.openxmlformats.org/officeDocument/2006/relationships/slideLayout" Target="../slideLayouts/slideLayout7.xml"/><Relationship Id="rId6" Type="http://schemas.openxmlformats.org/officeDocument/2006/relationships/image" Target="../media/image40.svg"/><Relationship Id="rId11" Type="http://schemas.openxmlformats.org/officeDocument/2006/relationships/image" Target="../media/image45.png"/><Relationship Id="rId5" Type="http://schemas.openxmlformats.org/officeDocument/2006/relationships/image" Target="../media/image39.png"/><Relationship Id="rId15" Type="http://schemas.openxmlformats.org/officeDocument/2006/relationships/image" Target="../media/image49.png"/><Relationship Id="rId10" Type="http://schemas.openxmlformats.org/officeDocument/2006/relationships/image" Target="../media/image44.svg"/><Relationship Id="rId4" Type="http://schemas.openxmlformats.org/officeDocument/2006/relationships/image" Target="../media/image38.svg"/><Relationship Id="rId9" Type="http://schemas.openxmlformats.org/officeDocument/2006/relationships/image" Target="../media/image43.png"/><Relationship Id="rId14" Type="http://schemas.openxmlformats.org/officeDocument/2006/relationships/image" Target="../media/image48.svg"/></Relationships>
</file>

<file path=ppt/slides/_rels/slide10.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59.svg"/><Relationship Id="rId13" Type="http://schemas.openxmlformats.org/officeDocument/2006/relationships/image" Target="../media/image64.png"/><Relationship Id="rId18" Type="http://schemas.openxmlformats.org/officeDocument/2006/relationships/image" Target="../media/image69.svg"/><Relationship Id="rId3" Type="http://schemas.openxmlformats.org/officeDocument/2006/relationships/image" Target="../media/image54.png"/><Relationship Id="rId7" Type="http://schemas.openxmlformats.org/officeDocument/2006/relationships/image" Target="../media/image58.png"/><Relationship Id="rId12" Type="http://schemas.openxmlformats.org/officeDocument/2006/relationships/image" Target="../media/image63.svg"/><Relationship Id="rId17" Type="http://schemas.openxmlformats.org/officeDocument/2006/relationships/image" Target="../media/image68.png"/><Relationship Id="rId2" Type="http://schemas.openxmlformats.org/officeDocument/2006/relationships/notesSlide" Target="../notesSlides/notesSlide13.xml"/><Relationship Id="rId16" Type="http://schemas.openxmlformats.org/officeDocument/2006/relationships/image" Target="../media/image67.svg"/><Relationship Id="rId1" Type="http://schemas.openxmlformats.org/officeDocument/2006/relationships/slideLayout" Target="../slideLayouts/slideLayout7.xml"/><Relationship Id="rId6" Type="http://schemas.openxmlformats.org/officeDocument/2006/relationships/image" Target="../media/image57.svg"/><Relationship Id="rId11" Type="http://schemas.openxmlformats.org/officeDocument/2006/relationships/image" Target="../media/image62.png"/><Relationship Id="rId5" Type="http://schemas.openxmlformats.org/officeDocument/2006/relationships/image" Target="../media/image56.png"/><Relationship Id="rId15" Type="http://schemas.openxmlformats.org/officeDocument/2006/relationships/image" Target="../media/image66.png"/><Relationship Id="rId10" Type="http://schemas.openxmlformats.org/officeDocument/2006/relationships/image" Target="../media/image61.svg"/><Relationship Id="rId19" Type="http://schemas.openxmlformats.org/officeDocument/2006/relationships/image" Target="../media/image11.png"/><Relationship Id="rId4" Type="http://schemas.openxmlformats.org/officeDocument/2006/relationships/image" Target="../media/image55.svg"/><Relationship Id="rId9" Type="http://schemas.openxmlformats.org/officeDocument/2006/relationships/image" Target="../media/image60.png"/><Relationship Id="rId14" Type="http://schemas.openxmlformats.org/officeDocument/2006/relationships/image" Target="../media/image65.svg"/></Relationships>
</file>

<file path=ppt/slides/_rels/slide14.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8" Type="http://schemas.openxmlformats.org/officeDocument/2006/relationships/image" Target="../media/image77.svg"/><Relationship Id="rId3" Type="http://schemas.openxmlformats.org/officeDocument/2006/relationships/image" Target="../media/image72.png"/><Relationship Id="rId7" Type="http://schemas.openxmlformats.org/officeDocument/2006/relationships/image" Target="../media/image76.png"/><Relationship Id="rId2" Type="http://schemas.openxmlformats.org/officeDocument/2006/relationships/notesSlide" Target="../notesSlides/notesSlide14.xml"/><Relationship Id="rId1" Type="http://schemas.openxmlformats.org/officeDocument/2006/relationships/slideLayout" Target="../slideLayouts/slideLayout7.xml"/><Relationship Id="rId6" Type="http://schemas.openxmlformats.org/officeDocument/2006/relationships/image" Target="../media/image75.svg"/><Relationship Id="rId11" Type="http://schemas.openxmlformats.org/officeDocument/2006/relationships/image" Target="../media/image11.png"/><Relationship Id="rId5" Type="http://schemas.openxmlformats.org/officeDocument/2006/relationships/image" Target="../media/image74.png"/><Relationship Id="rId10" Type="http://schemas.openxmlformats.org/officeDocument/2006/relationships/image" Target="../media/image79.svg"/><Relationship Id="rId4" Type="http://schemas.openxmlformats.org/officeDocument/2006/relationships/image" Target="../media/image73.svg"/><Relationship Id="rId9" Type="http://schemas.openxmlformats.org/officeDocument/2006/relationships/image" Target="../media/image78.png"/></Relationships>
</file>

<file path=ppt/slides/_rels/slide1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8" Type="http://schemas.openxmlformats.org/officeDocument/2006/relationships/image" Target="../media/image87.svg"/><Relationship Id="rId3" Type="http://schemas.openxmlformats.org/officeDocument/2006/relationships/image" Target="../media/image82.png"/><Relationship Id="rId7" Type="http://schemas.openxmlformats.org/officeDocument/2006/relationships/image" Target="../media/image86.png"/><Relationship Id="rId2" Type="http://schemas.openxmlformats.org/officeDocument/2006/relationships/notesSlide" Target="../notesSlides/notesSlide17.xml"/><Relationship Id="rId1" Type="http://schemas.openxmlformats.org/officeDocument/2006/relationships/slideLayout" Target="../slideLayouts/slideLayout7.xml"/><Relationship Id="rId6" Type="http://schemas.openxmlformats.org/officeDocument/2006/relationships/image" Target="../media/image85.svg"/><Relationship Id="rId5" Type="http://schemas.openxmlformats.org/officeDocument/2006/relationships/image" Target="../media/image84.png"/><Relationship Id="rId4" Type="http://schemas.openxmlformats.org/officeDocument/2006/relationships/image" Target="../media/image83.svg"/></Relationships>
</file>

<file path=ppt/slides/_rels/slide19.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18.xml"/><Relationship Id="rId1" Type="http://schemas.openxmlformats.org/officeDocument/2006/relationships/slideLayout" Target="../slideLayouts/slideLayout7.xml"/><Relationship Id="rId4" Type="http://schemas.openxmlformats.org/officeDocument/2006/relationships/image" Target="../media/image89.png"/></Relationships>
</file>

<file path=ppt/slides/_rels/slide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8" Type="http://schemas.openxmlformats.org/officeDocument/2006/relationships/image" Target="../media/image93.svg"/><Relationship Id="rId3" Type="http://schemas.openxmlformats.org/officeDocument/2006/relationships/image" Target="../media/image72.png"/><Relationship Id="rId7" Type="http://schemas.openxmlformats.org/officeDocument/2006/relationships/image" Target="../media/image92.png"/><Relationship Id="rId2" Type="http://schemas.openxmlformats.org/officeDocument/2006/relationships/notesSlide" Target="../notesSlides/notesSlide20.xml"/><Relationship Id="rId1" Type="http://schemas.openxmlformats.org/officeDocument/2006/relationships/slideLayout" Target="../slideLayouts/slideLayout7.xml"/><Relationship Id="rId6" Type="http://schemas.openxmlformats.org/officeDocument/2006/relationships/image" Target="../media/image91.svg"/><Relationship Id="rId11" Type="http://schemas.openxmlformats.org/officeDocument/2006/relationships/image" Target="../media/image11.png"/><Relationship Id="rId5" Type="http://schemas.openxmlformats.org/officeDocument/2006/relationships/image" Target="../media/image90.png"/><Relationship Id="rId10" Type="http://schemas.openxmlformats.org/officeDocument/2006/relationships/image" Target="../media/image95.svg"/><Relationship Id="rId4" Type="http://schemas.openxmlformats.org/officeDocument/2006/relationships/image" Target="../media/image73.svg"/><Relationship Id="rId9" Type="http://schemas.openxmlformats.org/officeDocument/2006/relationships/image" Target="../media/image94.png"/></Relationships>
</file>

<file path=ppt/slides/_rels/slide22.xml.rels><?xml version="1.0" encoding="UTF-8" standalone="yes"?>
<Relationships xmlns="http://schemas.openxmlformats.org/package/2006/relationships"><Relationship Id="rId3" Type="http://schemas.openxmlformats.org/officeDocument/2006/relationships/package" Target="../embeddings/Microsoft_Word_Document.docx"/><Relationship Id="rId2" Type="http://schemas.openxmlformats.org/officeDocument/2006/relationships/notesSlide" Target="../notesSlides/notesSlide21.xml"/><Relationship Id="rId1" Type="http://schemas.openxmlformats.org/officeDocument/2006/relationships/slideLayout" Target="../slideLayouts/slideLayout7.xml"/><Relationship Id="rId4" Type="http://schemas.openxmlformats.org/officeDocument/2006/relationships/image" Target="../media/image96.emf"/></Relationships>
</file>

<file path=ppt/slides/_rels/slide23.xml.rels><?xml version="1.0" encoding="UTF-8" standalone="yes"?>
<Relationships xmlns="http://schemas.openxmlformats.org/package/2006/relationships"><Relationship Id="rId8" Type="http://schemas.openxmlformats.org/officeDocument/2006/relationships/image" Target="../media/image102.svg"/><Relationship Id="rId3" Type="http://schemas.openxmlformats.org/officeDocument/2006/relationships/image" Target="../media/image97.png"/><Relationship Id="rId7" Type="http://schemas.openxmlformats.org/officeDocument/2006/relationships/image" Target="../media/image101.png"/><Relationship Id="rId2" Type="http://schemas.openxmlformats.org/officeDocument/2006/relationships/notesSlide" Target="../notesSlides/notesSlide22.xml"/><Relationship Id="rId1" Type="http://schemas.openxmlformats.org/officeDocument/2006/relationships/slideLayout" Target="../slideLayouts/slideLayout7.xml"/><Relationship Id="rId6" Type="http://schemas.openxmlformats.org/officeDocument/2006/relationships/image" Target="../media/image100.svg"/><Relationship Id="rId11" Type="http://schemas.openxmlformats.org/officeDocument/2006/relationships/image" Target="../media/image11.png"/><Relationship Id="rId5" Type="http://schemas.openxmlformats.org/officeDocument/2006/relationships/image" Target="../media/image99.png"/><Relationship Id="rId10" Type="http://schemas.openxmlformats.org/officeDocument/2006/relationships/image" Target="../media/image104.svg"/><Relationship Id="rId4" Type="http://schemas.openxmlformats.org/officeDocument/2006/relationships/image" Target="../media/image98.svg"/><Relationship Id="rId9" Type="http://schemas.openxmlformats.org/officeDocument/2006/relationships/image" Target="../media/image103.png"/></Relationships>
</file>

<file path=ppt/slides/_rels/slide2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8" Type="http://schemas.openxmlformats.org/officeDocument/2006/relationships/image" Target="../media/image110.svg"/><Relationship Id="rId3" Type="http://schemas.openxmlformats.org/officeDocument/2006/relationships/image" Target="../media/image105.png"/><Relationship Id="rId7" Type="http://schemas.openxmlformats.org/officeDocument/2006/relationships/image" Target="../media/image109.png"/><Relationship Id="rId2" Type="http://schemas.openxmlformats.org/officeDocument/2006/relationships/notesSlide" Target="../notesSlides/notesSlide24.xml"/><Relationship Id="rId1" Type="http://schemas.openxmlformats.org/officeDocument/2006/relationships/slideLayout" Target="../slideLayouts/slideLayout7.xml"/><Relationship Id="rId6" Type="http://schemas.openxmlformats.org/officeDocument/2006/relationships/image" Target="../media/image108.svg"/><Relationship Id="rId5" Type="http://schemas.openxmlformats.org/officeDocument/2006/relationships/image" Target="../media/image107.png"/><Relationship Id="rId4" Type="http://schemas.openxmlformats.org/officeDocument/2006/relationships/image" Target="../media/image106.svg"/><Relationship Id="rId9" Type="http://schemas.openxmlformats.org/officeDocument/2006/relationships/image" Target="../media/image1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notesSlide" Target="../notesSlides/notesSlide25.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28.xml.rels><?xml version="1.0" encoding="UTF-8" standalone="yes"?>
<Relationships xmlns="http://schemas.openxmlformats.org/package/2006/relationships"><Relationship Id="rId3" Type="http://schemas.openxmlformats.org/officeDocument/2006/relationships/image" Target="../media/image112.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29.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114.png"/><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29.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32.xml.rels><?xml version="1.0" encoding="UTF-8" standalone="yes"?>
<Relationships xmlns="http://schemas.openxmlformats.org/package/2006/relationships"><Relationship Id="rId3" Type="http://schemas.openxmlformats.org/officeDocument/2006/relationships/image" Target="../media/image116.png"/><Relationship Id="rId7" Type="http://schemas.openxmlformats.org/officeDocument/2006/relationships/image" Target="../media/image11.png"/><Relationship Id="rId2" Type="http://schemas.openxmlformats.org/officeDocument/2006/relationships/notesSlide" Target="../notesSlides/notesSlide30.xml"/><Relationship Id="rId1" Type="http://schemas.openxmlformats.org/officeDocument/2006/relationships/slideLayout" Target="../slideLayouts/slideLayout7.xml"/><Relationship Id="rId6" Type="http://schemas.openxmlformats.org/officeDocument/2006/relationships/image" Target="../media/image119.svg"/><Relationship Id="rId5" Type="http://schemas.openxmlformats.org/officeDocument/2006/relationships/image" Target="../media/image118.png"/><Relationship Id="rId4" Type="http://schemas.openxmlformats.org/officeDocument/2006/relationships/image" Target="../media/image117.svg"/></Relationships>
</file>

<file path=ppt/slides/_rels/slide33.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0.png"/><Relationship Id="rId7" Type="http://schemas.openxmlformats.org/officeDocument/2006/relationships/image" Target="../media/image16.png"/><Relationship Id="rId2" Type="http://schemas.openxmlformats.org/officeDocument/2006/relationships/notesSlide" Target="../notesSlides/notesSlide31.xml"/><Relationship Id="rId1" Type="http://schemas.openxmlformats.org/officeDocument/2006/relationships/slideLayout" Target="../slideLayouts/slideLayout7.xml"/><Relationship Id="rId6" Type="http://schemas.openxmlformats.org/officeDocument/2006/relationships/image" Target="../media/image123.svg"/><Relationship Id="rId5" Type="http://schemas.openxmlformats.org/officeDocument/2006/relationships/image" Target="../media/image122.png"/><Relationship Id="rId4" Type="http://schemas.openxmlformats.org/officeDocument/2006/relationships/image" Target="../media/image121.svg"/></Relationships>
</file>

<file path=ppt/slides/_rels/slide3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3" Type="http://schemas.openxmlformats.org/officeDocument/2006/relationships/image" Target="../media/image124.png"/><Relationship Id="rId2" Type="http://schemas.openxmlformats.org/officeDocument/2006/relationships/notesSlide" Target="../notesSlides/notesSlide34.xml"/><Relationship Id="rId1" Type="http://schemas.openxmlformats.org/officeDocument/2006/relationships/slideLayout" Target="../slideLayouts/slideLayout7.xml"/><Relationship Id="rId4" Type="http://schemas.openxmlformats.org/officeDocument/2006/relationships/image" Target="../media/image1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name="Slide 2">
    <p:bg>
      <p:bgPr>
        <a:solidFill>
          <a:srgbClr val="222222"/>
        </a:solidFill>
        <a:effectLst/>
      </p:bgPr>
    </p:bg>
    <p:spTree>
      <p:nvGrpSpPr>
        <p:cNvPr id="1" name=""/>
        <p:cNvGrpSpPr/>
        <p:nvPr/>
      </p:nvGrpSpPr>
      <p:grpSpPr>
        <a:xfrm>
          <a:off x="0" y="0"/>
          <a:ext cx="0" cy="0"/>
          <a:chOff x="0" y="0"/>
          <a:chExt cx="0" cy="0"/>
        </a:xfrm>
      </p:grpSpPr>
      <p:sp>
        <p:nvSpPr>
          <p:cNvPr id="2" name="Object 1"/>
          <p:cNvSpPr/>
          <p:nvPr/>
        </p:nvSpPr>
        <p:spPr>
          <a:xfrm>
            <a:off x="6094476" y="0"/>
            <a:ext cx="6094476" cy="6856286"/>
          </a:xfrm>
          <a:prstGeom prst="rect">
            <a:avLst/>
          </a:prstGeom>
          <a:solidFill>
            <a:srgbClr val="FFFFFF"/>
          </a:solidFill>
        </p:spPr>
        <p:txBody>
          <a:bodyPr/>
          <a:lstStyle/>
          <a:p>
            <a:endParaRPr lang="en-GB"/>
          </a:p>
        </p:txBody>
      </p:sp>
      <p:pic>
        <p:nvPicPr>
          <p:cNvPr id="3" name="Object 2" descr="Invent Analytics logo"/>
          <p:cNvPicPr>
            <a:picLocks noChangeAspect="1"/>
          </p:cNvPicPr>
          <p:nvPr/>
        </p:nvPicPr>
        <p:blipFill>
          <a:blip r:embed="rId3"/>
          <a:srcRect l="-25758" t="-218492" r="-25758" b="-218492"/>
          <a:stretch/>
        </p:blipFill>
        <p:spPr>
          <a:xfrm>
            <a:off x="6094476" y="0"/>
            <a:ext cx="6094476" cy="6856286"/>
          </a:xfrm>
          <a:prstGeom prst="rect">
            <a:avLst/>
          </a:prstGeom>
        </p:spPr>
      </p:pic>
      <p:sp>
        <p:nvSpPr>
          <p:cNvPr id="4" name="Object 3"/>
          <p:cNvSpPr/>
          <p:nvPr/>
        </p:nvSpPr>
        <p:spPr>
          <a:xfrm>
            <a:off x="224258" y="2131207"/>
            <a:ext cx="5645961" cy="556106"/>
          </a:xfrm>
          <a:prstGeom prst="rect">
            <a:avLst/>
          </a:prstGeom>
          <a:noFill/>
        </p:spPr>
        <p:txBody>
          <a:bodyPr wrap="square" lIns="0" tIns="0" rIns="0" bIns="0" rtlCol="0" anchor="ctr"/>
          <a:lstStyle/>
          <a:p>
            <a:pPr algn="ctr">
              <a:lnSpc>
                <a:spcPts val="4380"/>
              </a:lnSpc>
              <a:buNone/>
            </a:pPr>
            <a:r>
              <a:rPr lang="en-US" sz="2400" b="1" kern="0" spc="-225" dirty="0">
                <a:solidFill>
                  <a:srgbClr val="FFFFFF"/>
                </a:solidFill>
                <a:latin typeface="Inter" pitchFamily="34" charset="0"/>
                <a:ea typeface="Inter" pitchFamily="34" charset="-122"/>
              </a:rPr>
              <a:t>AC PROMOTION BUMP ASSIGMENT</a:t>
            </a:r>
            <a:endParaRPr lang="en-US" sz="1100" dirty="0"/>
          </a:p>
        </p:txBody>
      </p:sp>
      <p:sp>
        <p:nvSpPr>
          <p:cNvPr id="5" name="Object 4"/>
          <p:cNvSpPr/>
          <p:nvPr/>
        </p:nvSpPr>
        <p:spPr>
          <a:xfrm>
            <a:off x="224258" y="2792359"/>
            <a:ext cx="5645961" cy="1901548"/>
          </a:xfrm>
          <a:prstGeom prst="rect">
            <a:avLst/>
          </a:prstGeom>
          <a:noFill/>
        </p:spPr>
        <p:txBody>
          <a:bodyPr wrap="square" lIns="0" tIns="0" rIns="0" bIns="0" rtlCol="0" anchor="ctr"/>
          <a:lstStyle/>
          <a:p>
            <a:pPr algn="ctr">
              <a:lnSpc>
                <a:spcPts val="2497"/>
              </a:lnSpc>
              <a:spcBef>
                <a:spcPts val="811"/>
              </a:spcBef>
              <a:buNone/>
            </a:pPr>
            <a:r>
              <a:rPr lang="en-US" sz="2800" kern="0" spc="-36" dirty="0">
                <a:solidFill>
                  <a:srgbClr val="FFFFFF">
                    <a:alpha val="80000"/>
                  </a:srgbClr>
                </a:solidFill>
                <a:latin typeface="Inter" pitchFamily="34" charset="0"/>
                <a:ea typeface="Inter" pitchFamily="34" charset="-122"/>
                <a:cs typeface="Inter" pitchFamily="34" charset="-120"/>
              </a:rPr>
              <a:t>Kaan Turgay</a:t>
            </a:r>
            <a:endParaRPr lang="en-US" sz="2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Object 1"/>
          <p:cNvSpPr/>
          <p:nvPr/>
        </p:nvSpPr>
        <p:spPr>
          <a:xfrm>
            <a:off x="1476006" y="1975943"/>
            <a:ext cx="1428393" cy="1428393"/>
          </a:xfrm>
          <a:prstGeom prst="ellipse">
            <a:avLst/>
          </a:prstGeom>
          <a:solidFill>
            <a:srgbClr val="22AAEE"/>
          </a:solidFill>
        </p:spPr>
        <p:txBody>
          <a:bodyPr/>
          <a:lstStyle/>
          <a:p>
            <a:endParaRPr lang="en-GB"/>
          </a:p>
        </p:txBody>
      </p:sp>
      <p:pic>
        <p:nvPicPr>
          <p:cNvPr id="3" name="Object 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885308" y="2263214"/>
            <a:ext cx="599925" cy="847513"/>
          </a:xfrm>
          <a:prstGeom prst="rect">
            <a:avLst/>
          </a:prstGeom>
        </p:spPr>
      </p:pic>
      <p:sp>
        <p:nvSpPr>
          <p:cNvPr id="4" name="Object 3"/>
          <p:cNvSpPr/>
          <p:nvPr/>
        </p:nvSpPr>
        <p:spPr>
          <a:xfrm>
            <a:off x="514221" y="3498298"/>
            <a:ext cx="3351962" cy="533862"/>
          </a:xfrm>
          <a:prstGeom prst="rect">
            <a:avLst/>
          </a:prstGeom>
          <a:noFill/>
        </p:spPr>
        <p:txBody>
          <a:bodyPr wrap="square" lIns="0" tIns="0" rIns="0" bIns="0" rtlCol="0" anchor="t"/>
          <a:lstStyle/>
          <a:p>
            <a:pPr algn="ctr">
              <a:lnSpc>
                <a:spcPts val="2102"/>
              </a:lnSpc>
              <a:buNone/>
            </a:pPr>
            <a:r>
              <a:rPr lang="en-US" sz="1800" b="1" kern="0" spc="-108" dirty="0">
                <a:solidFill>
                  <a:srgbClr val="333333"/>
                </a:solidFill>
                <a:latin typeface="Inter" pitchFamily="34" charset="0"/>
                <a:ea typeface="Inter" pitchFamily="34" charset="-122"/>
                <a:cs typeface="Inter" pitchFamily="34" charset="-120"/>
              </a:rPr>
              <a:t>Evaluate impact of promotional activities</a:t>
            </a:r>
            <a:endParaRPr lang="en-US" dirty="0"/>
          </a:p>
        </p:txBody>
      </p:sp>
      <p:sp>
        <p:nvSpPr>
          <p:cNvPr id="5" name="Object 4"/>
          <p:cNvSpPr/>
          <p:nvPr/>
        </p:nvSpPr>
        <p:spPr>
          <a:xfrm>
            <a:off x="514221" y="4109754"/>
            <a:ext cx="3351962" cy="792312"/>
          </a:xfrm>
          <a:prstGeom prst="rect">
            <a:avLst/>
          </a:prstGeom>
          <a:noFill/>
        </p:spPr>
        <p:txBody>
          <a:bodyPr wrap="square" lIns="0" tIns="0" rIns="0" bIns="0" rtlCol="0" anchor="t"/>
          <a:lstStyle/>
          <a:p>
            <a:pPr algn="ctr">
              <a:lnSpc>
                <a:spcPts val="2081"/>
              </a:lnSpc>
              <a:spcBef>
                <a:spcPts val="599"/>
              </a:spcBef>
              <a:buNone/>
            </a:pPr>
            <a:r>
              <a:rPr lang="en-US" sz="1500" kern="0" spc="-30" dirty="0">
                <a:solidFill>
                  <a:srgbClr val="000000">
                    <a:alpha val="56000"/>
                  </a:srgbClr>
                </a:solidFill>
                <a:latin typeface="Inter" pitchFamily="34" charset="0"/>
                <a:ea typeface="Inter" pitchFamily="34" charset="-122"/>
                <a:cs typeface="Inter" pitchFamily="34" charset="-120"/>
              </a:rPr>
              <a:t>Analyze sales data to understand the effects of promotional campaigns on retail sales performance</a:t>
            </a:r>
            <a:endParaRPr lang="en-US" dirty="0"/>
          </a:p>
        </p:txBody>
      </p:sp>
      <p:sp>
        <p:nvSpPr>
          <p:cNvPr id="6" name="Object 5"/>
          <p:cNvSpPr/>
          <p:nvPr/>
        </p:nvSpPr>
        <p:spPr>
          <a:xfrm>
            <a:off x="5380280" y="1975943"/>
            <a:ext cx="1428393" cy="1428393"/>
          </a:xfrm>
          <a:prstGeom prst="ellipse">
            <a:avLst/>
          </a:prstGeom>
          <a:solidFill>
            <a:srgbClr val="FFD9AD"/>
          </a:solidFill>
        </p:spPr>
        <p:txBody>
          <a:bodyPr/>
          <a:lstStyle/>
          <a:p>
            <a:endParaRPr lang="en-GB"/>
          </a:p>
        </p:txBody>
      </p:sp>
      <p:pic>
        <p:nvPicPr>
          <p:cNvPr id="7" name="Object 6"/>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843244" y="2263220"/>
            <a:ext cx="504699" cy="857036"/>
          </a:xfrm>
          <a:prstGeom prst="rect">
            <a:avLst/>
          </a:prstGeom>
        </p:spPr>
      </p:pic>
      <p:sp>
        <p:nvSpPr>
          <p:cNvPr id="8" name="Object 7"/>
          <p:cNvSpPr/>
          <p:nvPr/>
        </p:nvSpPr>
        <p:spPr>
          <a:xfrm>
            <a:off x="4376596" y="3498298"/>
            <a:ext cx="3435761" cy="266931"/>
          </a:xfrm>
          <a:prstGeom prst="rect">
            <a:avLst/>
          </a:prstGeom>
          <a:noFill/>
        </p:spPr>
        <p:txBody>
          <a:bodyPr wrap="square" lIns="0" tIns="0" rIns="0" bIns="0" rtlCol="0" anchor="t"/>
          <a:lstStyle/>
          <a:p>
            <a:pPr algn="ctr">
              <a:lnSpc>
                <a:spcPts val="2102"/>
              </a:lnSpc>
              <a:buNone/>
            </a:pPr>
            <a:r>
              <a:rPr lang="en-US" sz="1800" b="1" kern="0" spc="-108" dirty="0">
                <a:solidFill>
                  <a:srgbClr val="333333"/>
                </a:solidFill>
                <a:latin typeface="Inter" pitchFamily="34" charset="0"/>
                <a:ea typeface="Inter" pitchFamily="34" charset="-122"/>
                <a:cs typeface="Inter" pitchFamily="34" charset="-120"/>
              </a:rPr>
              <a:t>Provide actionable insights</a:t>
            </a:r>
            <a:endParaRPr lang="en-US" dirty="0"/>
          </a:p>
        </p:txBody>
      </p:sp>
      <p:sp>
        <p:nvSpPr>
          <p:cNvPr id="9" name="Object 8"/>
          <p:cNvSpPr/>
          <p:nvPr/>
        </p:nvSpPr>
        <p:spPr>
          <a:xfrm>
            <a:off x="4376596" y="3842823"/>
            <a:ext cx="3435761" cy="792312"/>
          </a:xfrm>
          <a:prstGeom prst="rect">
            <a:avLst/>
          </a:prstGeom>
          <a:noFill/>
        </p:spPr>
        <p:txBody>
          <a:bodyPr wrap="square" lIns="0" tIns="0" rIns="0" bIns="0" rtlCol="0" anchor="t"/>
          <a:lstStyle/>
          <a:p>
            <a:pPr algn="ctr">
              <a:lnSpc>
                <a:spcPts val="2081"/>
              </a:lnSpc>
              <a:spcBef>
                <a:spcPts val="599"/>
              </a:spcBef>
              <a:buNone/>
            </a:pPr>
            <a:r>
              <a:rPr lang="en-US" sz="1500" kern="0" spc="-30" dirty="0">
                <a:solidFill>
                  <a:srgbClr val="000000">
                    <a:alpha val="56000"/>
                  </a:srgbClr>
                </a:solidFill>
                <a:latin typeface="Inter" pitchFamily="34" charset="0"/>
                <a:ea typeface="Inter" pitchFamily="34" charset="-122"/>
                <a:cs typeface="Inter" pitchFamily="34" charset="-120"/>
              </a:rPr>
              <a:t>Derive strategic recommendations to optimize future promotional strategies and campaigns</a:t>
            </a:r>
            <a:endParaRPr lang="en-US" dirty="0"/>
          </a:p>
        </p:txBody>
      </p:sp>
      <p:sp>
        <p:nvSpPr>
          <p:cNvPr id="10" name="Object 9"/>
          <p:cNvSpPr/>
          <p:nvPr/>
        </p:nvSpPr>
        <p:spPr>
          <a:xfrm>
            <a:off x="9284553" y="1975943"/>
            <a:ext cx="1428393" cy="1428393"/>
          </a:xfrm>
          <a:prstGeom prst="ellipse">
            <a:avLst/>
          </a:prstGeom>
          <a:solidFill>
            <a:srgbClr val="FEC088"/>
          </a:solidFill>
        </p:spPr>
        <p:txBody>
          <a:bodyPr/>
          <a:lstStyle/>
          <a:p>
            <a:endParaRPr lang="en-GB"/>
          </a:p>
        </p:txBody>
      </p:sp>
      <p:pic>
        <p:nvPicPr>
          <p:cNvPr id="11" name="Object 10"/>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80599" y="2372024"/>
            <a:ext cx="638015" cy="638015"/>
          </a:xfrm>
          <a:prstGeom prst="rect">
            <a:avLst/>
          </a:prstGeom>
        </p:spPr>
      </p:pic>
      <p:sp>
        <p:nvSpPr>
          <p:cNvPr id="12" name="Object 11"/>
          <p:cNvSpPr/>
          <p:nvPr/>
        </p:nvSpPr>
        <p:spPr>
          <a:xfrm>
            <a:off x="8134221" y="3498298"/>
            <a:ext cx="3729058" cy="266931"/>
          </a:xfrm>
          <a:prstGeom prst="rect">
            <a:avLst/>
          </a:prstGeom>
          <a:noFill/>
        </p:spPr>
        <p:txBody>
          <a:bodyPr wrap="square" lIns="0" tIns="0" rIns="0" bIns="0" rtlCol="0" anchor="t"/>
          <a:lstStyle/>
          <a:p>
            <a:pPr algn="ctr">
              <a:lnSpc>
                <a:spcPts val="2102"/>
              </a:lnSpc>
              <a:buNone/>
            </a:pPr>
            <a:r>
              <a:rPr lang="en-US" sz="1800" b="1" kern="0" spc="-108" dirty="0">
                <a:solidFill>
                  <a:srgbClr val="333333"/>
                </a:solidFill>
                <a:latin typeface="Inter" pitchFamily="34" charset="0"/>
                <a:ea typeface="Inter" pitchFamily="34" charset="-122"/>
                <a:cs typeface="Inter" pitchFamily="34" charset="-120"/>
              </a:rPr>
              <a:t>Comprehensive analysis framework</a:t>
            </a:r>
            <a:endParaRPr lang="en-US" dirty="0"/>
          </a:p>
        </p:txBody>
      </p:sp>
      <p:sp>
        <p:nvSpPr>
          <p:cNvPr id="13" name="Object 12"/>
          <p:cNvSpPr/>
          <p:nvPr/>
        </p:nvSpPr>
        <p:spPr>
          <a:xfrm>
            <a:off x="8134221" y="3842823"/>
            <a:ext cx="3729058" cy="1056416"/>
          </a:xfrm>
          <a:prstGeom prst="rect">
            <a:avLst/>
          </a:prstGeom>
          <a:noFill/>
        </p:spPr>
        <p:txBody>
          <a:bodyPr wrap="square" lIns="0" tIns="0" rIns="0" bIns="0" rtlCol="0" anchor="t"/>
          <a:lstStyle/>
          <a:p>
            <a:pPr algn="ctr">
              <a:lnSpc>
                <a:spcPts val="2081"/>
              </a:lnSpc>
              <a:spcBef>
                <a:spcPts val="599"/>
              </a:spcBef>
              <a:buNone/>
            </a:pPr>
            <a:r>
              <a:rPr lang="en-US" sz="1500" kern="0" spc="-30" dirty="0">
                <a:solidFill>
                  <a:srgbClr val="000000">
                    <a:alpha val="56000"/>
                  </a:srgbClr>
                </a:solidFill>
                <a:latin typeface="Inter" pitchFamily="34" charset="0"/>
                <a:ea typeface="Inter" pitchFamily="34" charset="-122"/>
                <a:cs typeface="Inter" pitchFamily="34" charset="-120"/>
              </a:rPr>
              <a:t>Combine descriptive, clustering, and predictive modeling approaches to gain a holistic understanding of promotional dynamics</a:t>
            </a:r>
            <a:endParaRPr lang="en-US" dirty="0"/>
          </a:p>
        </p:txBody>
      </p:sp>
      <p:sp>
        <p:nvSpPr>
          <p:cNvPr id="14" name="Object 13"/>
          <p:cNvSpPr/>
          <p:nvPr/>
        </p:nvSpPr>
        <p:spPr>
          <a:xfrm>
            <a:off x="0" y="5713571"/>
            <a:ext cx="12188952" cy="1142714"/>
          </a:xfrm>
          <a:prstGeom prst="rect">
            <a:avLst/>
          </a:prstGeom>
          <a:solidFill>
            <a:srgbClr val="FEC088"/>
          </a:solidFill>
        </p:spPr>
        <p:txBody>
          <a:bodyPr/>
          <a:lstStyle/>
          <a:p>
            <a:endParaRPr lang="en-GB"/>
          </a:p>
        </p:txBody>
      </p:sp>
      <p:sp>
        <p:nvSpPr>
          <p:cNvPr id="15" name="Object 14"/>
          <p:cNvSpPr/>
          <p:nvPr/>
        </p:nvSpPr>
        <p:spPr>
          <a:xfrm>
            <a:off x="690390" y="5952455"/>
            <a:ext cx="10808172" cy="667327"/>
          </a:xfrm>
          <a:prstGeom prst="rect">
            <a:avLst/>
          </a:prstGeom>
          <a:noFill/>
        </p:spPr>
        <p:txBody>
          <a:bodyPr wrap="square" lIns="0" tIns="0" rIns="0" bIns="0" rtlCol="0" anchor="ctr"/>
          <a:lstStyle/>
          <a:p>
            <a:pPr algn="ctr">
              <a:lnSpc>
                <a:spcPts val="2628"/>
              </a:lnSpc>
              <a:buNone/>
            </a:pPr>
            <a:r>
              <a:rPr lang="en-US" sz="2250" b="1" kern="0" spc="-135" dirty="0">
                <a:solidFill>
                  <a:srgbClr val="333333"/>
                </a:solidFill>
                <a:latin typeface="Inter" pitchFamily="34" charset="0"/>
                <a:ea typeface="Inter" pitchFamily="34" charset="-122"/>
                <a:cs typeface="Inter" pitchFamily="34" charset="-120"/>
              </a:rPr>
              <a:t>This study aims to equip the client with data-driven insights to guide their promotional planning and execution, ultimately driving improved sales and marketing performance.</a:t>
            </a:r>
            <a:endParaRPr lang="en-US" dirty="0"/>
          </a:p>
        </p:txBody>
      </p:sp>
      <p:pic>
        <p:nvPicPr>
          <p:cNvPr id="16" name="Object 15"/>
          <p:cNvPicPr>
            <a:picLocks noChangeAspect="1"/>
          </p:cNvPicPr>
          <p:nvPr/>
        </p:nvPicPr>
        <p:blipFill>
          <a:blip r:embed="rId9"/>
          <a:stretch>
            <a:fillRect/>
          </a:stretch>
        </p:blipFill>
        <p:spPr>
          <a:xfrm>
            <a:off x="0" y="0"/>
            <a:ext cx="12188952" cy="6856286"/>
          </a:xfrm>
          <a:prstGeom prst="rect">
            <a:avLst/>
          </a:prstGeom>
        </p:spPr>
      </p:pic>
      <p:sp>
        <p:nvSpPr>
          <p:cNvPr id="17" name="Object 16"/>
          <p:cNvSpPr/>
          <p:nvPr/>
        </p:nvSpPr>
        <p:spPr>
          <a:xfrm>
            <a:off x="0" y="374284"/>
            <a:ext cx="12188952" cy="556106"/>
          </a:xfrm>
          <a:prstGeom prst="rect">
            <a:avLst/>
          </a:prstGeom>
          <a:noFill/>
        </p:spPr>
        <p:txBody>
          <a:bodyPr wrap="square" lIns="0" tIns="0" rIns="0" bIns="0" rtlCol="0" anchor="t"/>
          <a:lstStyle/>
          <a:p>
            <a:pPr algn="ctr">
              <a:lnSpc>
                <a:spcPts val="4380"/>
              </a:lnSpc>
              <a:buNone/>
            </a:pPr>
            <a:r>
              <a:rPr lang="en-US" sz="3750" b="1" kern="0" spc="-225" dirty="0">
                <a:solidFill>
                  <a:srgbClr val="333333"/>
                </a:solidFill>
                <a:latin typeface="Inter" pitchFamily="34" charset="0"/>
                <a:ea typeface="Inter" pitchFamily="34" charset="-122"/>
                <a:cs typeface="Inter" pitchFamily="34" charset="-120"/>
              </a:rPr>
              <a:t>Introduction &amp; Objectives</a:t>
            </a: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5">
    <p:bg>
      <p:bgPr>
        <a:solidFill>
          <a:srgbClr val="000000"/>
        </a:solidFill>
        <a:effectLst/>
      </p:bgPr>
    </p:bg>
    <p:spTree>
      <p:nvGrpSpPr>
        <p:cNvPr id="1" name=""/>
        <p:cNvGrpSpPr/>
        <p:nvPr/>
      </p:nvGrpSpPr>
      <p:grpSpPr>
        <a:xfrm>
          <a:off x="0" y="0"/>
          <a:ext cx="0" cy="0"/>
          <a:chOff x="0" y="0"/>
          <a:chExt cx="0" cy="0"/>
        </a:xfrm>
      </p:grpSpPr>
      <p:sp>
        <p:nvSpPr>
          <p:cNvPr id="2" name="Object 1"/>
          <p:cNvSpPr/>
          <p:nvPr/>
        </p:nvSpPr>
        <p:spPr>
          <a:xfrm>
            <a:off x="952262" y="1735944"/>
            <a:ext cx="5446938" cy="4115259"/>
          </a:xfrm>
          <a:prstGeom prst="rect">
            <a:avLst/>
          </a:prstGeom>
          <a:noFill/>
        </p:spPr>
        <p:txBody>
          <a:bodyPr wrap="square" lIns="0" tIns="0" rIns="0" bIns="0" rtlCol="0" anchor="t"/>
          <a:lstStyle/>
          <a:p>
            <a:pPr marL="242900" indent="-242900" algn="l">
              <a:lnSpc>
                <a:spcPts val="3154"/>
              </a:lnSpc>
              <a:buSzPct val="100000"/>
              <a:buChar char="•"/>
            </a:pPr>
            <a:r>
              <a:rPr lang="en-US" sz="2700" b="1" kern="0" spc="-162" dirty="0">
                <a:solidFill>
                  <a:srgbClr val="FFFFFF"/>
                </a:solidFill>
                <a:latin typeface="Inter" pitchFamily="34" charset="0"/>
                <a:ea typeface="Inter" pitchFamily="34" charset="-122"/>
                <a:cs typeface="Inter" pitchFamily="34" charset="-120"/>
              </a:rPr>
              <a:t>Daily sales transactions</a:t>
            </a:r>
          </a:p>
          <a:p>
            <a:pPr lvl="1" algn="l">
              <a:lnSpc>
                <a:spcPts val="2392"/>
              </a:lnSpc>
              <a:spcBef>
                <a:spcPts val="330"/>
              </a:spcBef>
              <a:buNone/>
            </a:pPr>
            <a:r>
              <a:rPr lang="en-US" sz="1725" kern="0" spc="-34" dirty="0">
                <a:solidFill>
                  <a:srgbClr val="FFFFFF">
                    <a:alpha val="80000"/>
                  </a:srgbClr>
                </a:solidFill>
                <a:latin typeface="Inter" pitchFamily="34" charset="0"/>
                <a:ea typeface="Inter" pitchFamily="34" charset="-122"/>
                <a:cs typeface="Inter" pitchFamily="34" charset="-120"/>
              </a:rPr>
              <a:t>The data includes 1,873,618 daily sales transactions across 340 stores and 317 products.</a:t>
            </a:r>
          </a:p>
          <a:p>
            <a:pPr marL="242900" indent="-242900" algn="l">
              <a:lnSpc>
                <a:spcPts val="3154"/>
              </a:lnSpc>
              <a:spcBef>
                <a:spcPts val="2545"/>
              </a:spcBef>
              <a:buSzPct val="100000"/>
              <a:buChar char="•"/>
            </a:pPr>
            <a:r>
              <a:rPr lang="en-US" sz="2700" b="1" kern="0" spc="-162" dirty="0">
                <a:solidFill>
                  <a:srgbClr val="FFFFFF"/>
                </a:solidFill>
                <a:latin typeface="Inter" pitchFamily="34" charset="0"/>
                <a:ea typeface="Inter" pitchFamily="34" charset="-122"/>
                <a:cs typeface="Inter" pitchFamily="34" charset="-120"/>
              </a:rPr>
              <a:t>Product hierarchies</a:t>
            </a:r>
          </a:p>
          <a:p>
            <a:pPr lvl="1" algn="l">
              <a:lnSpc>
                <a:spcPts val="2392"/>
              </a:lnSpc>
              <a:spcBef>
                <a:spcPts val="330"/>
              </a:spcBef>
              <a:buNone/>
            </a:pPr>
            <a:r>
              <a:rPr lang="en-US" sz="1725" kern="0" spc="-34" dirty="0">
                <a:solidFill>
                  <a:srgbClr val="FFFFFF">
                    <a:alpha val="80000"/>
                  </a:srgbClr>
                </a:solidFill>
                <a:latin typeface="Inter" pitchFamily="34" charset="0"/>
                <a:ea typeface="Inter" pitchFamily="34" charset="-122"/>
                <a:cs typeface="Inter" pitchFamily="34" charset="-120"/>
              </a:rPr>
              <a:t>The data provides information on the product portfolio and its structure.</a:t>
            </a:r>
          </a:p>
          <a:p>
            <a:pPr marL="242900" indent="-242900" algn="l">
              <a:lnSpc>
                <a:spcPts val="3154"/>
              </a:lnSpc>
              <a:spcBef>
                <a:spcPts val="2545"/>
              </a:spcBef>
              <a:buSzPct val="100000"/>
              <a:buChar char="•"/>
            </a:pPr>
            <a:r>
              <a:rPr lang="en-US" sz="2700" b="1" kern="0" spc="-162" dirty="0">
                <a:solidFill>
                  <a:srgbClr val="FFFFFF"/>
                </a:solidFill>
                <a:latin typeface="Inter" pitchFamily="34" charset="0"/>
                <a:ea typeface="Inter" pitchFamily="34" charset="-122"/>
                <a:cs typeface="Inter" pitchFamily="34" charset="-120"/>
              </a:rPr>
              <a:t>Realized post-promotion sales</a:t>
            </a:r>
          </a:p>
          <a:p>
            <a:pPr lvl="1" algn="l">
              <a:lnSpc>
                <a:spcPts val="2392"/>
              </a:lnSpc>
              <a:spcBef>
                <a:spcPts val="330"/>
              </a:spcBef>
              <a:buNone/>
            </a:pPr>
            <a:r>
              <a:rPr lang="en-US" sz="1725" kern="0" spc="-34" dirty="0">
                <a:solidFill>
                  <a:srgbClr val="FFFFFF">
                    <a:alpha val="80000"/>
                  </a:srgbClr>
                </a:solidFill>
                <a:latin typeface="Inter" pitchFamily="34" charset="0"/>
                <a:ea typeface="Inter" pitchFamily="34" charset="-122"/>
                <a:cs typeface="Inter" pitchFamily="34" charset="-120"/>
              </a:rPr>
              <a:t>The data captures the realized sales performance during promotional periods.</a:t>
            </a:r>
            <a:endParaRPr lang="en-US" dirty="0"/>
          </a:p>
        </p:txBody>
      </p:sp>
      <p:sp>
        <p:nvSpPr>
          <p:cNvPr id="3" name="Object 2"/>
          <p:cNvSpPr/>
          <p:nvPr/>
        </p:nvSpPr>
        <p:spPr>
          <a:xfrm>
            <a:off x="6284928" y="1735944"/>
            <a:ext cx="5446938" cy="2431095"/>
          </a:xfrm>
          <a:prstGeom prst="rect">
            <a:avLst/>
          </a:prstGeom>
          <a:noFill/>
        </p:spPr>
        <p:txBody>
          <a:bodyPr wrap="square" lIns="0" tIns="0" rIns="0" bIns="0" rtlCol="0" anchor="t"/>
          <a:lstStyle/>
          <a:p>
            <a:pPr marL="242900" indent="-242900" algn="l">
              <a:lnSpc>
                <a:spcPts val="3154"/>
              </a:lnSpc>
              <a:buSzPct val="100000"/>
              <a:buChar char="•"/>
            </a:pPr>
            <a:r>
              <a:rPr lang="en-US" sz="2700" b="1" kern="0" spc="-162" dirty="0">
                <a:solidFill>
                  <a:srgbClr val="FFFFFF"/>
                </a:solidFill>
                <a:latin typeface="Inter" pitchFamily="34" charset="0"/>
                <a:ea typeface="Inter" pitchFamily="34" charset="-122"/>
                <a:cs typeface="Inter" pitchFamily="34" charset="-120"/>
              </a:rPr>
              <a:t>Promotion schedules</a:t>
            </a:r>
          </a:p>
          <a:p>
            <a:pPr lvl="1" algn="l">
              <a:lnSpc>
                <a:spcPts val="2392"/>
              </a:lnSpc>
              <a:spcBef>
                <a:spcPts val="330"/>
              </a:spcBef>
              <a:buNone/>
            </a:pPr>
            <a:r>
              <a:rPr lang="en-US" sz="1725" kern="0" spc="-34" dirty="0">
                <a:solidFill>
                  <a:srgbClr val="FFFFFF">
                    <a:alpha val="80000"/>
                  </a:srgbClr>
                </a:solidFill>
                <a:latin typeface="Inter" pitchFamily="34" charset="0"/>
                <a:ea typeface="Inter" pitchFamily="34" charset="-122"/>
                <a:cs typeface="Inter" pitchFamily="34" charset="-120"/>
              </a:rPr>
              <a:t>The data includes information on the timing and duration of promotional activities.</a:t>
            </a:r>
          </a:p>
          <a:p>
            <a:pPr marL="242900" indent="-242900" algn="l">
              <a:lnSpc>
                <a:spcPts val="3154"/>
              </a:lnSpc>
              <a:spcBef>
                <a:spcPts val="2545"/>
              </a:spcBef>
              <a:buSzPct val="100000"/>
              <a:buChar char="•"/>
            </a:pPr>
            <a:r>
              <a:rPr lang="en-US" sz="2700" b="1" kern="0" spc="-162" dirty="0">
                <a:solidFill>
                  <a:srgbClr val="FFFFFF"/>
                </a:solidFill>
                <a:latin typeface="Inter" pitchFamily="34" charset="0"/>
                <a:ea typeface="Inter" pitchFamily="34" charset="-122"/>
                <a:cs typeface="Inter" pitchFamily="34" charset="-120"/>
              </a:rPr>
              <a:t>Time period</a:t>
            </a:r>
          </a:p>
          <a:p>
            <a:pPr lvl="1" algn="l">
              <a:lnSpc>
                <a:spcPts val="2392"/>
              </a:lnSpc>
              <a:spcBef>
                <a:spcPts val="330"/>
              </a:spcBef>
              <a:buNone/>
            </a:pPr>
            <a:r>
              <a:rPr lang="en-US" sz="1725" kern="0" spc="-34" dirty="0">
                <a:solidFill>
                  <a:srgbClr val="FFFFFF">
                    <a:alpha val="80000"/>
                  </a:srgbClr>
                </a:solidFill>
                <a:latin typeface="Inter" pitchFamily="34" charset="0"/>
                <a:ea typeface="Inter" pitchFamily="34" charset="-122"/>
                <a:cs typeface="Inter" pitchFamily="34" charset="-120"/>
              </a:rPr>
              <a:t>The data spans 7 months, from January to July 2015.</a:t>
            </a:r>
            <a:endParaRPr lang="en-US" dirty="0"/>
          </a:p>
        </p:txBody>
      </p:sp>
      <p:sp>
        <p:nvSpPr>
          <p:cNvPr id="4" name="Object 3"/>
          <p:cNvSpPr/>
          <p:nvPr/>
        </p:nvSpPr>
        <p:spPr>
          <a:xfrm>
            <a:off x="11865183" y="6496211"/>
            <a:ext cx="133242" cy="237693"/>
          </a:xfrm>
          <a:prstGeom prst="rect">
            <a:avLst/>
          </a:prstGeom>
          <a:noFill/>
        </p:spPr>
        <p:txBody>
          <a:bodyPr/>
          <a:lstStyle/>
          <a:p>
            <a:endParaRPr lang="en-GB"/>
          </a:p>
        </p:txBody>
      </p:sp>
      <p:pic>
        <p:nvPicPr>
          <p:cNvPr id="5" name="Object 4"/>
          <p:cNvPicPr>
            <a:picLocks noChangeAspect="1"/>
          </p:cNvPicPr>
          <p:nvPr/>
        </p:nvPicPr>
        <p:blipFill>
          <a:blip r:embed="rId3"/>
          <a:stretch>
            <a:fillRect/>
          </a:stretch>
        </p:blipFill>
        <p:spPr>
          <a:xfrm>
            <a:off x="0" y="0"/>
            <a:ext cx="12188952" cy="6856286"/>
          </a:xfrm>
          <a:prstGeom prst="rect">
            <a:avLst/>
          </a:prstGeom>
        </p:spPr>
      </p:pic>
      <p:sp>
        <p:nvSpPr>
          <p:cNvPr id="6" name="Object 5"/>
          <p:cNvSpPr/>
          <p:nvPr/>
        </p:nvSpPr>
        <p:spPr>
          <a:xfrm>
            <a:off x="0" y="374284"/>
            <a:ext cx="12188952" cy="556106"/>
          </a:xfrm>
          <a:prstGeom prst="rect">
            <a:avLst/>
          </a:prstGeom>
          <a:noFill/>
        </p:spPr>
        <p:txBody>
          <a:bodyPr wrap="square" lIns="0" tIns="0" rIns="0" bIns="0" rtlCol="0" anchor="t"/>
          <a:lstStyle/>
          <a:p>
            <a:pPr algn="ctr">
              <a:lnSpc>
                <a:spcPts val="4380"/>
              </a:lnSpc>
              <a:buNone/>
            </a:pPr>
            <a:r>
              <a:rPr lang="en-US" sz="3750" b="1" kern="0" spc="-225" dirty="0">
                <a:solidFill>
                  <a:srgbClr val="FFFFFF"/>
                </a:solidFill>
                <a:latin typeface="Inter" pitchFamily="34" charset="0"/>
                <a:ea typeface="Inter" pitchFamily="34" charset="-122"/>
                <a:cs typeface="Inter" pitchFamily="34" charset="-120"/>
              </a:rPr>
              <a:t>Data Overview</a:t>
            </a:r>
            <a:endParaRPr lang="en-US" dirty="0"/>
          </a:p>
        </p:txBody>
      </p:sp>
      <p:sp>
        <p:nvSpPr>
          <p:cNvPr id="25" name="Slide Number Placeholder 24"/>
          <p:cNvSpPr>
            <a:spLocks noGrp="1"/>
          </p:cNvSpPr>
          <p:nvPr>
            <p:ph type="sldNum" sz="quarter" idx="12"/>
          </p:nvPr>
        </p:nvSpPr>
        <p:spPr>
          <a:xfrm>
            <a:off x="11826240" y="6515100"/>
            <a:ext cx="800000" cy="300000"/>
          </a:xfrm>
          <a:prstGeom prst="rect">
            <a:avLst/>
          </a:prstGeom>
          <a:extLst>
            <a:ext uri="{C572A759-6A51-4108-AA02-DFA0A04FC94B}">
              <ma14:wrappingTextBoxFlag xmlns:ma14="http://schemas.microsoft.com/office/mac/drawingml/2011/main" xmlns="" val="0"/>
            </a:ext>
          </a:extLst>
        </p:spPr>
        <p:txBody>
          <a:bodyPr/>
          <a:lstStyle>
            <a:lvl1pPr>
              <a:defRPr sz="1100"/>
            </a:lvl1pPr>
          </a:lstStyle>
          <a:p>
            <a:fld id="{F7021451-1387-4CA6-816F-3879F97B5CBC}" type="slidenum">
              <a:rPr lang="en-US" smtClean="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6">
    <p:bg>
      <p:bgPr>
        <a:solidFill>
          <a:srgbClr val="000000"/>
        </a:solidFill>
        <a:effectLst/>
      </p:bgPr>
    </p:bg>
    <p:spTree>
      <p:nvGrpSpPr>
        <p:cNvPr id="1" name=""/>
        <p:cNvGrpSpPr/>
        <p:nvPr/>
      </p:nvGrpSpPr>
      <p:grpSpPr>
        <a:xfrm>
          <a:off x="0" y="0"/>
          <a:ext cx="0" cy="0"/>
          <a:chOff x="0" y="0"/>
          <a:chExt cx="0" cy="0"/>
        </a:xfrm>
      </p:grpSpPr>
      <p:sp>
        <p:nvSpPr>
          <p:cNvPr id="2" name="Object 1"/>
          <p:cNvSpPr/>
          <p:nvPr/>
        </p:nvSpPr>
        <p:spPr>
          <a:xfrm>
            <a:off x="1476006" y="1980705"/>
            <a:ext cx="1428393" cy="1428393"/>
          </a:xfrm>
          <a:prstGeom prst="ellipse">
            <a:avLst/>
          </a:prstGeom>
          <a:solidFill>
            <a:srgbClr val="22AAEE"/>
          </a:solidFill>
        </p:spPr>
        <p:txBody>
          <a:bodyPr/>
          <a:lstStyle/>
          <a:p>
            <a:endParaRPr lang="en-GB"/>
          </a:p>
        </p:txBody>
      </p:sp>
      <p:pic>
        <p:nvPicPr>
          <p:cNvPr id="3" name="Object 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05562" y="2452036"/>
            <a:ext cx="561835" cy="485654"/>
          </a:xfrm>
          <a:prstGeom prst="rect">
            <a:avLst/>
          </a:prstGeom>
        </p:spPr>
      </p:pic>
      <p:sp>
        <p:nvSpPr>
          <p:cNvPr id="4" name="Object 3"/>
          <p:cNvSpPr/>
          <p:nvPr/>
        </p:nvSpPr>
        <p:spPr>
          <a:xfrm>
            <a:off x="304724" y="3503059"/>
            <a:ext cx="3770957" cy="266931"/>
          </a:xfrm>
          <a:prstGeom prst="rect">
            <a:avLst/>
          </a:prstGeom>
          <a:noFill/>
        </p:spPr>
        <p:txBody>
          <a:bodyPr wrap="square" lIns="0" tIns="0" rIns="0" bIns="0" rtlCol="0" anchor="t"/>
          <a:lstStyle/>
          <a:p>
            <a:pPr algn="ctr">
              <a:lnSpc>
                <a:spcPts val="2102"/>
              </a:lnSpc>
              <a:buNone/>
            </a:pPr>
            <a:r>
              <a:rPr lang="en-US" sz="1800" b="1" kern="0" spc="-108" dirty="0">
                <a:solidFill>
                  <a:srgbClr val="FFFFFF"/>
                </a:solidFill>
                <a:latin typeface="Inter" pitchFamily="34" charset="0"/>
                <a:ea typeface="Inter" pitchFamily="34" charset="-122"/>
                <a:cs typeface="Inter" pitchFamily="34" charset="-120"/>
              </a:rPr>
              <a:t>Promotion Calendar Cleaning</a:t>
            </a:r>
            <a:endParaRPr lang="en-US" dirty="0"/>
          </a:p>
        </p:txBody>
      </p:sp>
      <p:sp>
        <p:nvSpPr>
          <p:cNvPr id="5" name="Object 4"/>
          <p:cNvSpPr/>
          <p:nvPr/>
        </p:nvSpPr>
        <p:spPr>
          <a:xfrm>
            <a:off x="304724" y="3847584"/>
            <a:ext cx="3770957" cy="1056416"/>
          </a:xfrm>
          <a:prstGeom prst="rect">
            <a:avLst/>
          </a:prstGeom>
          <a:noFill/>
        </p:spPr>
        <p:txBody>
          <a:bodyPr wrap="square" lIns="0" tIns="0" rIns="0" bIns="0" rtlCol="0" anchor="t"/>
          <a:lstStyle/>
          <a:p>
            <a:pPr algn="ctr">
              <a:lnSpc>
                <a:spcPts val="2081"/>
              </a:lnSpc>
              <a:spcBef>
                <a:spcPts val="599"/>
              </a:spcBef>
              <a:buNone/>
            </a:pPr>
            <a:r>
              <a:rPr lang="en-US" sz="1500" kern="0" spc="-30" dirty="0">
                <a:solidFill>
                  <a:srgbClr val="FFFFFF">
                    <a:alpha val="80000"/>
                  </a:srgbClr>
                </a:solidFill>
                <a:latin typeface="Inter" pitchFamily="34" charset="0"/>
                <a:ea typeface="Inter" pitchFamily="34" charset="-122"/>
                <a:cs typeface="Inter" pitchFamily="34" charset="-120"/>
              </a:rPr>
              <a:t>Strict label validation, robust date parsing, start/end date consistency checks, duration checks to ensure 14-day windows</a:t>
            </a:r>
            <a:endParaRPr lang="en-US" dirty="0"/>
          </a:p>
        </p:txBody>
      </p:sp>
      <p:sp>
        <p:nvSpPr>
          <p:cNvPr id="6" name="Object 5"/>
          <p:cNvSpPr/>
          <p:nvPr/>
        </p:nvSpPr>
        <p:spPr>
          <a:xfrm>
            <a:off x="5380280" y="1980705"/>
            <a:ext cx="1428393" cy="1428393"/>
          </a:xfrm>
          <a:prstGeom prst="ellipse">
            <a:avLst/>
          </a:prstGeom>
          <a:solidFill>
            <a:srgbClr val="FFD9AD"/>
          </a:solidFill>
        </p:spPr>
        <p:txBody>
          <a:bodyPr/>
          <a:lstStyle/>
          <a:p>
            <a:endParaRPr lang="en-GB"/>
          </a:p>
        </p:txBody>
      </p:sp>
      <p:pic>
        <p:nvPicPr>
          <p:cNvPr id="7" name="Object 6"/>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859979" y="2368337"/>
            <a:ext cx="466608" cy="666583"/>
          </a:xfrm>
          <a:prstGeom prst="rect">
            <a:avLst/>
          </a:prstGeom>
        </p:spPr>
      </p:pic>
      <p:sp>
        <p:nvSpPr>
          <p:cNvPr id="8" name="Object 7"/>
          <p:cNvSpPr/>
          <p:nvPr/>
        </p:nvSpPr>
        <p:spPr>
          <a:xfrm>
            <a:off x="4214235" y="3503059"/>
            <a:ext cx="3760482" cy="266931"/>
          </a:xfrm>
          <a:prstGeom prst="rect">
            <a:avLst/>
          </a:prstGeom>
          <a:noFill/>
        </p:spPr>
        <p:txBody>
          <a:bodyPr wrap="square" lIns="0" tIns="0" rIns="0" bIns="0" rtlCol="0" anchor="t"/>
          <a:lstStyle/>
          <a:p>
            <a:pPr algn="ctr">
              <a:lnSpc>
                <a:spcPts val="2102"/>
              </a:lnSpc>
              <a:buNone/>
            </a:pPr>
            <a:r>
              <a:rPr lang="en-US" sz="1800" b="1" kern="0" spc="-108" dirty="0">
                <a:solidFill>
                  <a:srgbClr val="FFFFFF"/>
                </a:solidFill>
                <a:latin typeface="Inter" pitchFamily="34" charset="0"/>
                <a:ea typeface="Inter" pitchFamily="34" charset="-122"/>
                <a:cs typeface="Inter" pitchFamily="34" charset="-120"/>
              </a:rPr>
              <a:t>Promotion Tagging</a:t>
            </a:r>
            <a:endParaRPr lang="en-US" dirty="0"/>
          </a:p>
        </p:txBody>
      </p:sp>
      <p:sp>
        <p:nvSpPr>
          <p:cNvPr id="9" name="Object 8"/>
          <p:cNvSpPr/>
          <p:nvPr/>
        </p:nvSpPr>
        <p:spPr>
          <a:xfrm>
            <a:off x="4214235" y="3847584"/>
            <a:ext cx="3760482" cy="1056416"/>
          </a:xfrm>
          <a:prstGeom prst="rect">
            <a:avLst/>
          </a:prstGeom>
          <a:noFill/>
        </p:spPr>
        <p:txBody>
          <a:bodyPr wrap="square" lIns="0" tIns="0" rIns="0" bIns="0" rtlCol="0" anchor="t"/>
          <a:lstStyle/>
          <a:p>
            <a:pPr algn="ctr">
              <a:lnSpc>
                <a:spcPts val="2081"/>
              </a:lnSpc>
              <a:spcBef>
                <a:spcPts val="599"/>
              </a:spcBef>
              <a:buNone/>
            </a:pPr>
            <a:r>
              <a:rPr lang="en-US" sz="1500" kern="0" spc="-30" dirty="0">
                <a:solidFill>
                  <a:srgbClr val="FFFFFF">
                    <a:alpha val="80000"/>
                  </a:srgbClr>
                </a:solidFill>
                <a:latin typeface="Inter" pitchFamily="34" charset="0"/>
                <a:ea typeface="Inter" pitchFamily="34" charset="-122"/>
                <a:cs typeface="Inter" pitchFamily="34" charset="-120"/>
              </a:rPr>
              <a:t>Merge_asof operation to align sales data with promotion start dates, range filter on end dates to keep within promo windows, new fields: PromoPeriod and IsPromotion</a:t>
            </a:r>
            <a:endParaRPr lang="en-US" dirty="0"/>
          </a:p>
        </p:txBody>
      </p:sp>
      <p:sp>
        <p:nvSpPr>
          <p:cNvPr id="10" name="Object 9"/>
          <p:cNvSpPr/>
          <p:nvPr/>
        </p:nvSpPr>
        <p:spPr>
          <a:xfrm>
            <a:off x="9284553" y="1980705"/>
            <a:ext cx="1428393" cy="1428393"/>
          </a:xfrm>
          <a:prstGeom prst="ellipse">
            <a:avLst/>
          </a:prstGeom>
          <a:solidFill>
            <a:srgbClr val="FEC088"/>
          </a:solidFill>
        </p:spPr>
        <p:txBody>
          <a:bodyPr/>
          <a:lstStyle/>
          <a:p>
            <a:endParaRPr lang="en-GB"/>
          </a:p>
        </p:txBody>
      </p:sp>
      <p:pic>
        <p:nvPicPr>
          <p:cNvPr id="11" name="Object 10"/>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41260890" y="-2523793"/>
            <a:ext cx="657061" cy="628493"/>
          </a:xfrm>
          <a:prstGeom prst="rect">
            <a:avLst/>
          </a:prstGeom>
        </p:spPr>
      </p:pic>
      <p:sp>
        <p:nvSpPr>
          <p:cNvPr id="12" name="Object 11"/>
          <p:cNvSpPr/>
          <p:nvPr/>
        </p:nvSpPr>
        <p:spPr>
          <a:xfrm>
            <a:off x="8259920" y="3503059"/>
            <a:ext cx="3477660" cy="266931"/>
          </a:xfrm>
          <a:prstGeom prst="rect">
            <a:avLst/>
          </a:prstGeom>
          <a:noFill/>
        </p:spPr>
        <p:txBody>
          <a:bodyPr wrap="square" lIns="0" tIns="0" rIns="0" bIns="0" rtlCol="0" anchor="t"/>
          <a:lstStyle/>
          <a:p>
            <a:pPr algn="ctr">
              <a:lnSpc>
                <a:spcPts val="2102"/>
              </a:lnSpc>
              <a:buNone/>
            </a:pPr>
            <a:r>
              <a:rPr lang="en-US" sz="1800" b="1" kern="0" spc="-108" dirty="0">
                <a:solidFill>
                  <a:srgbClr val="FFFFFF"/>
                </a:solidFill>
                <a:latin typeface="Inter" pitchFamily="34" charset="0"/>
                <a:ea typeface="Inter" pitchFamily="34" charset="-122"/>
                <a:cs typeface="Inter" pitchFamily="34" charset="-120"/>
              </a:rPr>
              <a:t>Weekly Performance Panels</a:t>
            </a:r>
            <a:endParaRPr lang="en-US" dirty="0"/>
          </a:p>
        </p:txBody>
      </p:sp>
      <p:sp>
        <p:nvSpPr>
          <p:cNvPr id="13" name="Object 12"/>
          <p:cNvSpPr/>
          <p:nvPr/>
        </p:nvSpPr>
        <p:spPr>
          <a:xfrm>
            <a:off x="8259920" y="3847584"/>
            <a:ext cx="3477660" cy="1056416"/>
          </a:xfrm>
          <a:prstGeom prst="rect">
            <a:avLst/>
          </a:prstGeom>
          <a:noFill/>
        </p:spPr>
        <p:txBody>
          <a:bodyPr wrap="square" lIns="0" tIns="0" rIns="0" bIns="0" rtlCol="0" anchor="t"/>
          <a:lstStyle/>
          <a:p>
            <a:pPr algn="ctr">
              <a:lnSpc>
                <a:spcPts val="2081"/>
              </a:lnSpc>
              <a:spcBef>
                <a:spcPts val="599"/>
              </a:spcBef>
              <a:buNone/>
            </a:pPr>
            <a:r>
              <a:rPr lang="en-US" sz="1500" kern="0" spc="-30" dirty="0">
                <a:solidFill>
                  <a:srgbClr val="FFFFFF">
                    <a:alpha val="80000"/>
                  </a:srgbClr>
                </a:solidFill>
                <a:latin typeface="Inter" pitchFamily="34" charset="0"/>
                <a:ea typeface="Inter" pitchFamily="34" charset="-122"/>
                <a:cs typeface="Inter" pitchFamily="34" charset="-120"/>
              </a:rPr>
              <a:t>Store-product performance panels, calculated average weekly non-promo sales per store and per product, negligible null ratios</a:t>
            </a:r>
            <a:endParaRPr lang="en-US" dirty="0"/>
          </a:p>
        </p:txBody>
      </p:sp>
      <p:sp>
        <p:nvSpPr>
          <p:cNvPr id="14" name="Object 13"/>
          <p:cNvSpPr/>
          <p:nvPr/>
        </p:nvSpPr>
        <p:spPr>
          <a:xfrm>
            <a:off x="0" y="5713571"/>
            <a:ext cx="12188952" cy="1142714"/>
          </a:xfrm>
          <a:prstGeom prst="rect">
            <a:avLst/>
          </a:prstGeom>
          <a:solidFill>
            <a:srgbClr val="FD864D"/>
          </a:solidFill>
        </p:spPr>
        <p:txBody>
          <a:bodyPr/>
          <a:lstStyle/>
          <a:p>
            <a:endParaRPr lang="en-GB"/>
          </a:p>
        </p:txBody>
      </p:sp>
      <p:sp>
        <p:nvSpPr>
          <p:cNvPr id="15" name="Object 14"/>
          <p:cNvSpPr/>
          <p:nvPr/>
        </p:nvSpPr>
        <p:spPr>
          <a:xfrm>
            <a:off x="2218770" y="5952455"/>
            <a:ext cx="7751412" cy="667327"/>
          </a:xfrm>
          <a:prstGeom prst="rect">
            <a:avLst/>
          </a:prstGeom>
          <a:noFill/>
        </p:spPr>
        <p:txBody>
          <a:bodyPr wrap="square" lIns="0" tIns="0" rIns="0" bIns="0" rtlCol="0" anchor="ctr"/>
          <a:lstStyle/>
          <a:p>
            <a:pPr algn="ctr">
              <a:lnSpc>
                <a:spcPts val="2628"/>
              </a:lnSpc>
              <a:buNone/>
            </a:pPr>
            <a:r>
              <a:rPr lang="en-US" sz="2250" b="1" kern="0" spc="-135" dirty="0">
                <a:solidFill>
                  <a:srgbClr val="333333"/>
                </a:solidFill>
                <a:latin typeface="Inter" pitchFamily="34" charset="0"/>
                <a:ea typeface="Inter" pitchFamily="34" charset="-122"/>
                <a:cs typeface="Inter" pitchFamily="34" charset="-120"/>
              </a:rPr>
              <a:t>The data preparation process ensured clean, normalized, and well-structured data for comprehensive promotional analysis.</a:t>
            </a:r>
            <a:endParaRPr lang="en-US" dirty="0"/>
          </a:p>
        </p:txBody>
      </p:sp>
      <p:pic>
        <p:nvPicPr>
          <p:cNvPr id="16" name="Object 15"/>
          <p:cNvPicPr>
            <a:picLocks noChangeAspect="1"/>
          </p:cNvPicPr>
          <p:nvPr/>
        </p:nvPicPr>
        <p:blipFill>
          <a:blip r:embed="rId9"/>
          <a:stretch>
            <a:fillRect/>
          </a:stretch>
        </p:blipFill>
        <p:spPr>
          <a:xfrm>
            <a:off x="0" y="0"/>
            <a:ext cx="12188952" cy="6856286"/>
          </a:xfrm>
          <a:prstGeom prst="rect">
            <a:avLst/>
          </a:prstGeom>
        </p:spPr>
      </p:pic>
      <p:sp>
        <p:nvSpPr>
          <p:cNvPr id="17" name="Object 16"/>
          <p:cNvSpPr/>
          <p:nvPr/>
        </p:nvSpPr>
        <p:spPr>
          <a:xfrm>
            <a:off x="0" y="374284"/>
            <a:ext cx="12188952" cy="556106"/>
          </a:xfrm>
          <a:prstGeom prst="rect">
            <a:avLst/>
          </a:prstGeom>
          <a:noFill/>
        </p:spPr>
        <p:txBody>
          <a:bodyPr wrap="square" lIns="0" tIns="0" rIns="0" bIns="0" rtlCol="0" anchor="t"/>
          <a:lstStyle/>
          <a:p>
            <a:pPr algn="ctr">
              <a:lnSpc>
                <a:spcPts val="4380"/>
              </a:lnSpc>
              <a:buNone/>
            </a:pPr>
            <a:r>
              <a:rPr lang="en-US" sz="3750" b="1" kern="0" spc="-225" dirty="0">
                <a:solidFill>
                  <a:srgbClr val="FFFFFF"/>
                </a:solidFill>
                <a:latin typeface="Inter" pitchFamily="34" charset="0"/>
                <a:ea typeface="Inter" pitchFamily="34" charset="-122"/>
                <a:cs typeface="Inter" pitchFamily="34" charset="-120"/>
              </a:rPr>
              <a:t>Data Preparation</a:t>
            </a: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Object 1"/>
          <p:cNvSpPr/>
          <p:nvPr/>
        </p:nvSpPr>
        <p:spPr>
          <a:xfrm>
            <a:off x="1476006" y="1980705"/>
            <a:ext cx="1428393" cy="1428393"/>
          </a:xfrm>
          <a:prstGeom prst="ellipse">
            <a:avLst/>
          </a:prstGeom>
          <a:solidFill>
            <a:srgbClr val="22AAEE"/>
          </a:solidFill>
        </p:spPr>
        <p:txBody>
          <a:bodyPr/>
          <a:lstStyle/>
          <a:p>
            <a:endParaRPr lang="en-GB"/>
          </a:p>
        </p:txBody>
      </p:sp>
      <p:pic>
        <p:nvPicPr>
          <p:cNvPr id="3" name="Object 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05562" y="2452036"/>
            <a:ext cx="561835" cy="485654"/>
          </a:xfrm>
          <a:prstGeom prst="rect">
            <a:avLst/>
          </a:prstGeom>
        </p:spPr>
      </p:pic>
      <p:sp>
        <p:nvSpPr>
          <p:cNvPr id="4" name="Object 3"/>
          <p:cNvSpPr/>
          <p:nvPr/>
        </p:nvSpPr>
        <p:spPr>
          <a:xfrm>
            <a:off x="482800" y="3503059"/>
            <a:ext cx="3414729" cy="266931"/>
          </a:xfrm>
          <a:prstGeom prst="rect">
            <a:avLst/>
          </a:prstGeom>
          <a:noFill/>
        </p:spPr>
        <p:txBody>
          <a:bodyPr wrap="square" lIns="0" tIns="0" rIns="0" bIns="0" rtlCol="0" anchor="t"/>
          <a:lstStyle/>
          <a:p>
            <a:pPr algn="ctr">
              <a:lnSpc>
                <a:spcPts val="2102"/>
              </a:lnSpc>
              <a:buNone/>
            </a:pPr>
            <a:r>
              <a:rPr lang="en-US" sz="1800" b="1" kern="0" spc="-108" dirty="0">
                <a:solidFill>
                  <a:srgbClr val="333333"/>
                </a:solidFill>
                <a:latin typeface="Inter" pitchFamily="34" charset="0"/>
                <a:ea typeface="Inter" pitchFamily="34" charset="-122"/>
                <a:cs typeface="Inter" pitchFamily="34" charset="-120"/>
              </a:rPr>
              <a:t>Top Sales Days</a:t>
            </a:r>
            <a:endParaRPr lang="en-US" dirty="0"/>
          </a:p>
        </p:txBody>
      </p:sp>
      <p:sp>
        <p:nvSpPr>
          <p:cNvPr id="5" name="Object 4"/>
          <p:cNvSpPr/>
          <p:nvPr/>
        </p:nvSpPr>
        <p:spPr>
          <a:xfrm>
            <a:off x="482800" y="3847436"/>
            <a:ext cx="3414729" cy="792088"/>
          </a:xfrm>
          <a:prstGeom prst="rect">
            <a:avLst/>
          </a:prstGeom>
          <a:noFill/>
        </p:spPr>
        <p:txBody>
          <a:bodyPr wrap="square" lIns="0" tIns="0" rIns="0" bIns="0" rtlCol="0" anchor="t"/>
          <a:lstStyle/>
          <a:p>
            <a:pPr algn="ctr">
              <a:lnSpc>
                <a:spcPts val="2081"/>
              </a:lnSpc>
              <a:spcBef>
                <a:spcPts val="599"/>
              </a:spcBef>
              <a:buNone/>
            </a:pPr>
            <a:r>
              <a:rPr lang="en-US" sz="1500" kern="0" spc="-30" dirty="0">
                <a:solidFill>
                  <a:srgbClr val="000000">
                    <a:alpha val="56000"/>
                  </a:srgbClr>
                </a:solidFill>
                <a:latin typeface="Inter" pitchFamily="34" charset="0"/>
                <a:ea typeface="Inter" pitchFamily="34" charset="-122"/>
                <a:cs typeface="Inter" pitchFamily="34" charset="-120"/>
              </a:rPr>
              <a:t>Fridays and Sundays are the top sales days, accounting for the highest total units sold.</a:t>
            </a:r>
            <a:endParaRPr lang="en-US" dirty="0"/>
          </a:p>
        </p:txBody>
      </p:sp>
      <p:sp>
        <p:nvSpPr>
          <p:cNvPr id="6" name="Object 5"/>
          <p:cNvSpPr/>
          <p:nvPr/>
        </p:nvSpPr>
        <p:spPr>
          <a:xfrm>
            <a:off x="5380280" y="1980705"/>
            <a:ext cx="1428393" cy="1428393"/>
          </a:xfrm>
          <a:prstGeom prst="ellipse">
            <a:avLst/>
          </a:prstGeom>
          <a:solidFill>
            <a:srgbClr val="FFD9AD"/>
          </a:solidFill>
        </p:spPr>
        <p:txBody>
          <a:bodyPr/>
          <a:lstStyle/>
          <a:p>
            <a:endParaRPr lang="en-GB"/>
          </a:p>
        </p:txBody>
      </p:sp>
      <p:pic>
        <p:nvPicPr>
          <p:cNvPr id="7" name="Object 6"/>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843243" y="2326488"/>
            <a:ext cx="504699" cy="742764"/>
          </a:xfrm>
          <a:prstGeom prst="rect">
            <a:avLst/>
          </a:prstGeom>
        </p:spPr>
      </p:pic>
      <p:sp>
        <p:nvSpPr>
          <p:cNvPr id="8" name="Object 7"/>
          <p:cNvSpPr/>
          <p:nvPr/>
        </p:nvSpPr>
        <p:spPr>
          <a:xfrm>
            <a:off x="4313754" y="3503059"/>
            <a:ext cx="3561296" cy="266931"/>
          </a:xfrm>
          <a:prstGeom prst="rect">
            <a:avLst/>
          </a:prstGeom>
          <a:noFill/>
        </p:spPr>
        <p:txBody>
          <a:bodyPr wrap="square" lIns="0" tIns="0" rIns="0" bIns="0" rtlCol="0" anchor="t"/>
          <a:lstStyle/>
          <a:p>
            <a:pPr algn="ctr">
              <a:lnSpc>
                <a:spcPts val="2102"/>
              </a:lnSpc>
              <a:buNone/>
            </a:pPr>
            <a:r>
              <a:rPr lang="en-US" sz="1800" b="1" kern="0" spc="-108" dirty="0">
                <a:solidFill>
                  <a:srgbClr val="333333"/>
                </a:solidFill>
                <a:latin typeface="Inter" pitchFamily="34" charset="0"/>
                <a:ea typeface="Inter" pitchFamily="34" charset="-122"/>
                <a:cs typeface="Inter" pitchFamily="34" charset="-120"/>
              </a:rPr>
              <a:t>Higher Basket Sizes</a:t>
            </a:r>
            <a:endParaRPr lang="en-US" dirty="0"/>
          </a:p>
        </p:txBody>
      </p:sp>
      <p:sp>
        <p:nvSpPr>
          <p:cNvPr id="9" name="Object 8"/>
          <p:cNvSpPr/>
          <p:nvPr/>
        </p:nvSpPr>
        <p:spPr>
          <a:xfrm>
            <a:off x="4313754" y="3847436"/>
            <a:ext cx="3561296" cy="1056118"/>
          </a:xfrm>
          <a:prstGeom prst="rect">
            <a:avLst/>
          </a:prstGeom>
          <a:noFill/>
        </p:spPr>
        <p:txBody>
          <a:bodyPr wrap="square" lIns="0" tIns="0" rIns="0" bIns="0" rtlCol="0" anchor="t"/>
          <a:lstStyle/>
          <a:p>
            <a:pPr algn="ctr">
              <a:lnSpc>
                <a:spcPts val="2081"/>
              </a:lnSpc>
              <a:spcBef>
                <a:spcPts val="599"/>
              </a:spcBef>
              <a:buNone/>
            </a:pPr>
            <a:r>
              <a:rPr lang="en-US" sz="1500" kern="0" spc="-30" dirty="0">
                <a:solidFill>
                  <a:srgbClr val="000000">
                    <a:alpha val="56000"/>
                  </a:srgbClr>
                </a:solidFill>
                <a:latin typeface="Inter" pitchFamily="34" charset="0"/>
                <a:ea typeface="Inter" pitchFamily="34" charset="-122"/>
                <a:cs typeface="Inter" pitchFamily="34" charset="-120"/>
              </a:rPr>
              <a:t>Customers tend to have higher average basket sizes on Fridays and Saturdays, reaching 3.15 and 3.29 units per transaction respectively.</a:t>
            </a:r>
            <a:endParaRPr lang="en-US" dirty="0"/>
          </a:p>
        </p:txBody>
      </p:sp>
      <p:sp>
        <p:nvSpPr>
          <p:cNvPr id="10" name="Object 9"/>
          <p:cNvSpPr/>
          <p:nvPr/>
        </p:nvSpPr>
        <p:spPr>
          <a:xfrm>
            <a:off x="9284553" y="1980705"/>
            <a:ext cx="1428393" cy="1428393"/>
          </a:xfrm>
          <a:prstGeom prst="ellipse">
            <a:avLst/>
          </a:prstGeom>
          <a:solidFill>
            <a:srgbClr val="FEC088"/>
          </a:solidFill>
        </p:spPr>
        <p:txBody>
          <a:bodyPr/>
          <a:lstStyle/>
          <a:p>
            <a:endParaRPr lang="en-GB"/>
          </a:p>
        </p:txBody>
      </p:sp>
      <p:pic>
        <p:nvPicPr>
          <p:cNvPr id="11" name="Object 10"/>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714074" y="2426929"/>
            <a:ext cx="571357" cy="533267"/>
          </a:xfrm>
          <a:prstGeom prst="rect">
            <a:avLst/>
          </a:prstGeom>
        </p:spPr>
      </p:pic>
      <p:sp>
        <p:nvSpPr>
          <p:cNvPr id="12" name="Object 11"/>
          <p:cNvSpPr/>
          <p:nvPr/>
        </p:nvSpPr>
        <p:spPr>
          <a:xfrm>
            <a:off x="8438000" y="3503059"/>
            <a:ext cx="3121351" cy="266931"/>
          </a:xfrm>
          <a:prstGeom prst="rect">
            <a:avLst/>
          </a:prstGeom>
          <a:noFill/>
        </p:spPr>
        <p:txBody>
          <a:bodyPr wrap="square" lIns="0" tIns="0" rIns="0" bIns="0" rtlCol="0" anchor="t"/>
          <a:lstStyle/>
          <a:p>
            <a:pPr algn="ctr">
              <a:lnSpc>
                <a:spcPts val="2102"/>
              </a:lnSpc>
              <a:buNone/>
            </a:pPr>
            <a:r>
              <a:rPr lang="en-US" sz="1800" b="1" kern="0" spc="-108" dirty="0">
                <a:solidFill>
                  <a:srgbClr val="333333"/>
                </a:solidFill>
                <a:latin typeface="Inter" pitchFamily="34" charset="0"/>
                <a:ea typeface="Inter" pitchFamily="34" charset="-122"/>
                <a:cs typeface="Inter" pitchFamily="34" charset="-120"/>
              </a:rPr>
              <a:t>Elevated Return Rates</a:t>
            </a:r>
            <a:endParaRPr lang="en-US" dirty="0"/>
          </a:p>
        </p:txBody>
      </p:sp>
      <p:sp>
        <p:nvSpPr>
          <p:cNvPr id="13" name="Object 12"/>
          <p:cNvSpPr/>
          <p:nvPr/>
        </p:nvSpPr>
        <p:spPr>
          <a:xfrm>
            <a:off x="8438000" y="3847436"/>
            <a:ext cx="3121351" cy="792088"/>
          </a:xfrm>
          <a:prstGeom prst="rect">
            <a:avLst/>
          </a:prstGeom>
          <a:noFill/>
        </p:spPr>
        <p:txBody>
          <a:bodyPr wrap="square" lIns="0" tIns="0" rIns="0" bIns="0" rtlCol="0" anchor="t"/>
          <a:lstStyle/>
          <a:p>
            <a:pPr algn="ctr">
              <a:lnSpc>
                <a:spcPts val="2081"/>
              </a:lnSpc>
              <a:spcBef>
                <a:spcPts val="599"/>
              </a:spcBef>
              <a:buNone/>
            </a:pPr>
            <a:r>
              <a:rPr lang="en-US" sz="1500" kern="0" spc="-30" dirty="0">
                <a:solidFill>
                  <a:srgbClr val="000000">
                    <a:alpha val="56000"/>
                  </a:srgbClr>
                </a:solidFill>
                <a:latin typeface="Inter" pitchFamily="34" charset="0"/>
                <a:ea typeface="Inter" pitchFamily="34" charset="-122"/>
                <a:cs typeface="Inter" pitchFamily="34" charset="-120"/>
              </a:rPr>
              <a:t>The return rate is slightly higher on weekends, peaking at 0.644% on Saturdays and 0.593% on Fridays.</a:t>
            </a:r>
            <a:endParaRPr lang="en-US" dirty="0"/>
          </a:p>
        </p:txBody>
      </p:sp>
      <p:sp>
        <p:nvSpPr>
          <p:cNvPr id="14" name="Object 13"/>
          <p:cNvSpPr/>
          <p:nvPr/>
        </p:nvSpPr>
        <p:spPr>
          <a:xfrm>
            <a:off x="0" y="5713571"/>
            <a:ext cx="12188952" cy="1142714"/>
          </a:xfrm>
          <a:prstGeom prst="rect">
            <a:avLst/>
          </a:prstGeom>
          <a:solidFill>
            <a:srgbClr val="FEC088"/>
          </a:solidFill>
        </p:spPr>
        <p:txBody>
          <a:bodyPr/>
          <a:lstStyle/>
          <a:p>
            <a:endParaRPr lang="en-GB"/>
          </a:p>
        </p:txBody>
      </p:sp>
      <p:sp>
        <p:nvSpPr>
          <p:cNvPr id="15" name="Object 14"/>
          <p:cNvSpPr/>
          <p:nvPr/>
        </p:nvSpPr>
        <p:spPr>
          <a:xfrm>
            <a:off x="1637418" y="5959523"/>
            <a:ext cx="8914042" cy="650142"/>
          </a:xfrm>
          <a:prstGeom prst="rect">
            <a:avLst/>
          </a:prstGeom>
          <a:noFill/>
        </p:spPr>
        <p:txBody>
          <a:bodyPr wrap="square" lIns="0" tIns="0" rIns="0" bIns="0" rtlCol="0" anchor="ctr"/>
          <a:lstStyle/>
          <a:p>
            <a:pPr algn="ctr">
              <a:lnSpc>
                <a:spcPts val="1709"/>
              </a:lnSpc>
              <a:buNone/>
            </a:pPr>
            <a:r>
              <a:rPr lang="en-US" sz="1463" b="1" kern="0" spc="-88" dirty="0">
                <a:solidFill>
                  <a:srgbClr val="333333"/>
                </a:solidFill>
                <a:latin typeface="Inter" pitchFamily="34" charset="0"/>
                <a:ea typeface="Inter" pitchFamily="34" charset="-122"/>
                <a:cs typeface="Inter" pitchFamily="34" charset="-120"/>
              </a:rPr>
              <a:t>The analysis reveals distinct patterns in sales and returns by day of the week, with weekends and Fridays driving the highest volumes and larger basket sizes, but also slightly elevated return rates. These insights can inform promotional timing and operations planning to capitalize on the weekly rhythms of consumer demand.</a:t>
            </a:r>
            <a:endParaRPr lang="en-US" dirty="0"/>
          </a:p>
        </p:txBody>
      </p:sp>
      <p:pic>
        <p:nvPicPr>
          <p:cNvPr id="16" name="Object 15"/>
          <p:cNvPicPr>
            <a:picLocks noChangeAspect="1"/>
          </p:cNvPicPr>
          <p:nvPr/>
        </p:nvPicPr>
        <p:blipFill>
          <a:blip r:embed="rId9"/>
          <a:stretch>
            <a:fillRect/>
          </a:stretch>
        </p:blipFill>
        <p:spPr>
          <a:xfrm>
            <a:off x="0" y="0"/>
            <a:ext cx="12188952" cy="6856286"/>
          </a:xfrm>
          <a:prstGeom prst="rect">
            <a:avLst/>
          </a:prstGeom>
        </p:spPr>
      </p:pic>
      <p:sp>
        <p:nvSpPr>
          <p:cNvPr id="17" name="Object 16"/>
          <p:cNvSpPr/>
          <p:nvPr/>
        </p:nvSpPr>
        <p:spPr>
          <a:xfrm>
            <a:off x="0" y="374358"/>
            <a:ext cx="12188803" cy="555957"/>
          </a:xfrm>
          <a:prstGeom prst="rect">
            <a:avLst/>
          </a:prstGeom>
          <a:noFill/>
        </p:spPr>
        <p:txBody>
          <a:bodyPr wrap="square" lIns="0" tIns="0" rIns="0" bIns="0" rtlCol="0" anchor="t"/>
          <a:lstStyle/>
          <a:p>
            <a:pPr algn="ctr">
              <a:lnSpc>
                <a:spcPts val="4380"/>
              </a:lnSpc>
              <a:buNone/>
            </a:pPr>
            <a:r>
              <a:rPr lang="en-US" sz="3750" b="1" kern="0" spc="-225" dirty="0">
                <a:solidFill>
                  <a:srgbClr val="333333"/>
                </a:solidFill>
                <a:latin typeface="Inter" pitchFamily="34" charset="0"/>
                <a:ea typeface="Inter" pitchFamily="34" charset="-122"/>
                <a:cs typeface="Inter" pitchFamily="34" charset="-120"/>
              </a:rPr>
              <a:t>Seasonal &amp; Day-of-Week Effects</a:t>
            </a:r>
            <a:endParaRPr 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3807" y="3770957"/>
            <a:ext cx="12246088" cy="66658"/>
          </a:xfrm>
          <a:prstGeom prst="rect">
            <a:avLst/>
          </a:prstGeom>
        </p:spPr>
      </p:pic>
      <p:pic>
        <p:nvPicPr>
          <p:cNvPr id="3" name="Object 2"/>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911070" y="2744895"/>
            <a:ext cx="28568" cy="1066533"/>
          </a:xfrm>
          <a:prstGeom prst="rect">
            <a:avLst/>
          </a:prstGeom>
        </p:spPr>
      </p:pic>
      <p:pic>
        <p:nvPicPr>
          <p:cNvPr id="4" name="Object 3"/>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834886" y="3704299"/>
            <a:ext cx="180930" cy="180930"/>
          </a:xfrm>
          <a:prstGeom prst="rect">
            <a:avLst/>
          </a:prstGeom>
        </p:spPr>
      </p:pic>
      <p:pic>
        <p:nvPicPr>
          <p:cNvPr id="5" name="Object 4"/>
          <p:cNvPicPr>
            <a:picLocks noChangeAspect="1"/>
          </p:cNvPicPr>
          <p:nvPr/>
        </p:nvPicPr>
        <p:blipFill>
          <a:blip r:embed="rId5">
            <a:extLst>
              <a:ext uri="{96DAC541-7B7A-43D3-8B79-37D633B846F1}">
                <asvg:svgBlip xmlns:asvg="http://schemas.microsoft.com/office/drawing/2016/SVG/main" r:embed="rId9"/>
              </a:ext>
            </a:extLst>
          </a:blip>
          <a:stretch>
            <a:fillRect/>
          </a:stretch>
        </p:blipFill>
        <p:spPr>
          <a:xfrm>
            <a:off x="5836411" y="3780479"/>
            <a:ext cx="28568" cy="1066533"/>
          </a:xfrm>
          <a:prstGeom prst="rect">
            <a:avLst/>
          </a:prstGeom>
        </p:spPr>
      </p:pic>
      <p:pic>
        <p:nvPicPr>
          <p:cNvPr id="6" name="Object 5"/>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5760227" y="3704299"/>
            <a:ext cx="190452" cy="180930"/>
          </a:xfrm>
          <a:prstGeom prst="rect">
            <a:avLst/>
          </a:prstGeom>
        </p:spPr>
      </p:pic>
      <p:pic>
        <p:nvPicPr>
          <p:cNvPr id="7" name="Object 6"/>
          <p:cNvPicPr>
            <a:picLocks noChangeAspect="1"/>
          </p:cNvPicPr>
          <p:nvPr/>
        </p:nvPicPr>
        <p:blipFill>
          <a:blip r:embed="rId5">
            <a:extLst>
              <a:ext uri="{96DAC541-7B7A-43D3-8B79-37D633B846F1}">
                <asvg:svgBlip xmlns:asvg="http://schemas.microsoft.com/office/drawing/2016/SVG/main" r:embed="rId12"/>
              </a:ext>
            </a:extLst>
          </a:blip>
          <a:stretch>
            <a:fillRect/>
          </a:stretch>
        </p:blipFill>
        <p:spPr>
          <a:xfrm>
            <a:off x="8761765" y="2744895"/>
            <a:ext cx="28568" cy="1066533"/>
          </a:xfrm>
          <a:prstGeom prst="rect">
            <a:avLst/>
          </a:prstGeom>
        </p:spPr>
      </p:pic>
      <p:pic>
        <p:nvPicPr>
          <p:cNvPr id="8" name="Object 7"/>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8685581" y="3704299"/>
            <a:ext cx="180930" cy="180930"/>
          </a:xfrm>
          <a:prstGeom prst="rect">
            <a:avLst/>
          </a:prstGeom>
        </p:spPr>
      </p:pic>
      <p:sp>
        <p:nvSpPr>
          <p:cNvPr id="9" name="Object 8"/>
          <p:cNvSpPr/>
          <p:nvPr/>
        </p:nvSpPr>
        <p:spPr>
          <a:xfrm>
            <a:off x="2858643" y="2625808"/>
            <a:ext cx="133316" cy="133316"/>
          </a:xfrm>
          <a:prstGeom prst="ellipse">
            <a:avLst/>
          </a:prstGeom>
          <a:solidFill>
            <a:srgbClr val="22AAEE"/>
          </a:solidFill>
        </p:spPr>
        <p:txBody>
          <a:bodyPr/>
          <a:lstStyle/>
          <a:p>
            <a:endParaRPr lang="en-GB"/>
          </a:p>
        </p:txBody>
      </p:sp>
      <p:sp>
        <p:nvSpPr>
          <p:cNvPr id="10" name="Object 9"/>
          <p:cNvSpPr/>
          <p:nvPr/>
        </p:nvSpPr>
        <p:spPr>
          <a:xfrm>
            <a:off x="3087233" y="2560224"/>
            <a:ext cx="1864529" cy="266931"/>
          </a:xfrm>
          <a:prstGeom prst="rect">
            <a:avLst/>
          </a:prstGeom>
          <a:noFill/>
        </p:spPr>
        <p:txBody>
          <a:bodyPr wrap="square" lIns="0" tIns="0" rIns="0" bIns="0" rtlCol="0" anchor="t"/>
          <a:lstStyle/>
          <a:p>
            <a:pPr algn="l">
              <a:lnSpc>
                <a:spcPts val="2102"/>
              </a:lnSpc>
              <a:buNone/>
            </a:pPr>
            <a:r>
              <a:rPr lang="en-US" sz="1800" b="1" kern="0" spc="-108" dirty="0">
                <a:solidFill>
                  <a:srgbClr val="333333"/>
                </a:solidFill>
                <a:latin typeface="Inter" pitchFamily="34" charset="0"/>
                <a:ea typeface="Inter" pitchFamily="34" charset="-122"/>
                <a:cs typeface="Inter" pitchFamily="34" charset="-120"/>
              </a:rPr>
              <a:t>Daily</a:t>
            </a:r>
            <a:endParaRPr lang="en-US" dirty="0"/>
          </a:p>
        </p:txBody>
      </p:sp>
      <p:sp>
        <p:nvSpPr>
          <p:cNvPr id="11" name="Object 10"/>
          <p:cNvSpPr/>
          <p:nvPr/>
        </p:nvSpPr>
        <p:spPr>
          <a:xfrm>
            <a:off x="3087233" y="2904750"/>
            <a:ext cx="1864529" cy="528208"/>
          </a:xfrm>
          <a:prstGeom prst="rect">
            <a:avLst/>
          </a:prstGeom>
          <a:noFill/>
        </p:spPr>
        <p:txBody>
          <a:bodyPr wrap="square" lIns="0" tIns="0" rIns="0" bIns="0" rtlCol="0" anchor="t"/>
          <a:lstStyle/>
          <a:p>
            <a:pPr algn="l">
              <a:lnSpc>
                <a:spcPts val="2081"/>
              </a:lnSpc>
              <a:spcBef>
                <a:spcPts val="599"/>
              </a:spcBef>
              <a:buNone/>
            </a:pPr>
            <a:r>
              <a:rPr lang="en-US" sz="1500" kern="0" spc="-30" dirty="0">
                <a:solidFill>
                  <a:srgbClr val="000000">
                    <a:alpha val="56000"/>
                  </a:srgbClr>
                </a:solidFill>
                <a:latin typeface="Inter" pitchFamily="34" charset="0"/>
                <a:ea typeface="Inter" pitchFamily="34" charset="-122"/>
                <a:cs typeface="Inter" pitchFamily="34" charset="-120"/>
              </a:rPr>
              <a:t>19,855 average units sold per day</a:t>
            </a:r>
            <a:endParaRPr lang="en-US" dirty="0"/>
          </a:p>
        </p:txBody>
      </p:sp>
      <p:sp>
        <p:nvSpPr>
          <p:cNvPr id="12" name="Object 11"/>
          <p:cNvSpPr/>
          <p:nvPr/>
        </p:nvSpPr>
        <p:spPr>
          <a:xfrm>
            <a:off x="5784024" y="4830295"/>
            <a:ext cx="133316" cy="133316"/>
          </a:xfrm>
          <a:prstGeom prst="ellipse">
            <a:avLst/>
          </a:prstGeom>
          <a:solidFill>
            <a:srgbClr val="FFD9AD"/>
          </a:solidFill>
        </p:spPr>
        <p:txBody>
          <a:bodyPr/>
          <a:lstStyle/>
          <a:p>
            <a:endParaRPr lang="en-GB"/>
          </a:p>
        </p:txBody>
      </p:sp>
      <p:sp>
        <p:nvSpPr>
          <p:cNvPr id="13" name="Object 12"/>
          <p:cNvSpPr/>
          <p:nvPr/>
        </p:nvSpPr>
        <p:spPr>
          <a:xfrm>
            <a:off x="6012581" y="4764711"/>
            <a:ext cx="1885479" cy="266931"/>
          </a:xfrm>
          <a:prstGeom prst="rect">
            <a:avLst/>
          </a:prstGeom>
          <a:noFill/>
        </p:spPr>
        <p:txBody>
          <a:bodyPr wrap="square" lIns="0" tIns="0" rIns="0" bIns="0" rtlCol="0" anchor="t"/>
          <a:lstStyle/>
          <a:p>
            <a:pPr algn="l">
              <a:lnSpc>
                <a:spcPts val="2102"/>
              </a:lnSpc>
              <a:buNone/>
            </a:pPr>
            <a:r>
              <a:rPr lang="en-US" sz="1800" b="1" kern="0" spc="-108" dirty="0">
                <a:solidFill>
                  <a:srgbClr val="333333"/>
                </a:solidFill>
                <a:latin typeface="Inter" pitchFamily="34" charset="0"/>
                <a:ea typeface="Inter" pitchFamily="34" charset="-122"/>
                <a:cs typeface="Inter" pitchFamily="34" charset="-120"/>
              </a:rPr>
              <a:t>Weekly</a:t>
            </a:r>
            <a:endParaRPr lang="en-US" dirty="0"/>
          </a:p>
        </p:txBody>
      </p:sp>
      <p:sp>
        <p:nvSpPr>
          <p:cNvPr id="14" name="Object 13"/>
          <p:cNvSpPr/>
          <p:nvPr/>
        </p:nvSpPr>
        <p:spPr>
          <a:xfrm>
            <a:off x="6012581" y="5109236"/>
            <a:ext cx="1885479" cy="528208"/>
          </a:xfrm>
          <a:prstGeom prst="rect">
            <a:avLst/>
          </a:prstGeom>
          <a:noFill/>
        </p:spPr>
        <p:txBody>
          <a:bodyPr wrap="square" lIns="0" tIns="0" rIns="0" bIns="0" rtlCol="0" anchor="t"/>
          <a:lstStyle/>
          <a:p>
            <a:pPr algn="l">
              <a:lnSpc>
                <a:spcPts val="2081"/>
              </a:lnSpc>
              <a:spcBef>
                <a:spcPts val="599"/>
              </a:spcBef>
              <a:buNone/>
            </a:pPr>
            <a:r>
              <a:rPr lang="en-US" sz="1500" kern="0" spc="-30" dirty="0">
                <a:solidFill>
                  <a:srgbClr val="000000">
                    <a:alpha val="56000"/>
                  </a:srgbClr>
                </a:solidFill>
                <a:latin typeface="Inter" pitchFamily="34" charset="0"/>
                <a:ea typeface="Inter" pitchFamily="34" charset="-122"/>
                <a:cs typeface="Inter" pitchFamily="34" charset="-120"/>
              </a:rPr>
              <a:t>Fridays and Sundays highest sales days</a:t>
            </a:r>
            <a:endParaRPr lang="en-US" dirty="0"/>
          </a:p>
        </p:txBody>
      </p:sp>
      <p:sp>
        <p:nvSpPr>
          <p:cNvPr id="15" name="Object 14"/>
          <p:cNvSpPr/>
          <p:nvPr/>
        </p:nvSpPr>
        <p:spPr>
          <a:xfrm>
            <a:off x="8709325" y="2625808"/>
            <a:ext cx="133316" cy="133316"/>
          </a:xfrm>
          <a:prstGeom prst="ellipse">
            <a:avLst/>
          </a:prstGeom>
          <a:solidFill>
            <a:srgbClr val="FEC088"/>
          </a:solidFill>
        </p:spPr>
        <p:txBody>
          <a:bodyPr/>
          <a:lstStyle/>
          <a:p>
            <a:endParaRPr lang="en-GB"/>
          </a:p>
        </p:txBody>
      </p:sp>
      <p:sp>
        <p:nvSpPr>
          <p:cNvPr id="16" name="Object 15"/>
          <p:cNvSpPr/>
          <p:nvPr/>
        </p:nvSpPr>
        <p:spPr>
          <a:xfrm>
            <a:off x="8937930" y="2560224"/>
            <a:ext cx="1843579" cy="266931"/>
          </a:xfrm>
          <a:prstGeom prst="rect">
            <a:avLst/>
          </a:prstGeom>
          <a:noFill/>
        </p:spPr>
        <p:txBody>
          <a:bodyPr wrap="square" lIns="0" tIns="0" rIns="0" bIns="0" rtlCol="0" anchor="t"/>
          <a:lstStyle/>
          <a:p>
            <a:pPr algn="l">
              <a:lnSpc>
                <a:spcPts val="2102"/>
              </a:lnSpc>
              <a:buNone/>
            </a:pPr>
            <a:r>
              <a:rPr lang="en-US" sz="1800" b="1" kern="0" spc="-108" dirty="0">
                <a:solidFill>
                  <a:srgbClr val="333333"/>
                </a:solidFill>
                <a:latin typeface="Inter" pitchFamily="34" charset="0"/>
                <a:ea typeface="Inter" pitchFamily="34" charset="-122"/>
                <a:cs typeface="Inter" pitchFamily="34" charset="-120"/>
              </a:rPr>
              <a:t>Monthly</a:t>
            </a:r>
            <a:endParaRPr lang="en-US" dirty="0"/>
          </a:p>
        </p:txBody>
      </p:sp>
      <p:sp>
        <p:nvSpPr>
          <p:cNvPr id="17" name="Object 16"/>
          <p:cNvSpPr/>
          <p:nvPr/>
        </p:nvSpPr>
        <p:spPr>
          <a:xfrm>
            <a:off x="8937930" y="2904750"/>
            <a:ext cx="1843579" cy="792312"/>
          </a:xfrm>
          <a:prstGeom prst="rect">
            <a:avLst/>
          </a:prstGeom>
          <a:noFill/>
        </p:spPr>
        <p:txBody>
          <a:bodyPr wrap="square" lIns="0" tIns="0" rIns="0" bIns="0" rtlCol="0" anchor="t"/>
          <a:lstStyle/>
          <a:p>
            <a:pPr algn="l">
              <a:lnSpc>
                <a:spcPts val="2081"/>
              </a:lnSpc>
              <a:spcBef>
                <a:spcPts val="599"/>
              </a:spcBef>
              <a:buNone/>
            </a:pPr>
            <a:r>
              <a:rPr lang="en-US" sz="1500" kern="0" spc="-30" dirty="0">
                <a:solidFill>
                  <a:srgbClr val="000000">
                    <a:alpha val="56000"/>
                  </a:srgbClr>
                </a:solidFill>
                <a:latin typeface="Inter" pitchFamily="34" charset="0"/>
                <a:ea typeface="Inter" pitchFamily="34" charset="-122"/>
                <a:cs typeface="Inter" pitchFamily="34" charset="-120"/>
              </a:rPr>
              <a:t>Seasonal sales peak in March-May, decline in July</a:t>
            </a:r>
            <a:endParaRPr lang="en-US" dirty="0"/>
          </a:p>
        </p:txBody>
      </p:sp>
      <p:sp>
        <p:nvSpPr>
          <p:cNvPr id="18" name="Object 17"/>
          <p:cNvSpPr/>
          <p:nvPr/>
        </p:nvSpPr>
        <p:spPr>
          <a:xfrm>
            <a:off x="11865183" y="6496137"/>
            <a:ext cx="133317" cy="237693"/>
          </a:xfrm>
          <a:prstGeom prst="rect">
            <a:avLst/>
          </a:prstGeom>
          <a:noFill/>
        </p:spPr>
        <p:txBody>
          <a:bodyPr/>
          <a:lstStyle/>
          <a:p>
            <a:endParaRPr lang="en-GB"/>
          </a:p>
        </p:txBody>
      </p:sp>
      <p:pic>
        <p:nvPicPr>
          <p:cNvPr id="19" name="Object 18"/>
          <p:cNvPicPr>
            <a:picLocks noChangeAspect="1"/>
          </p:cNvPicPr>
          <p:nvPr/>
        </p:nvPicPr>
        <p:blipFill>
          <a:blip r:embed="rId15"/>
          <a:stretch>
            <a:fillRect/>
          </a:stretch>
        </p:blipFill>
        <p:spPr>
          <a:xfrm>
            <a:off x="8546" y="15077"/>
            <a:ext cx="12188952" cy="6856286"/>
          </a:xfrm>
          <a:prstGeom prst="rect">
            <a:avLst/>
          </a:prstGeom>
        </p:spPr>
      </p:pic>
      <p:sp>
        <p:nvSpPr>
          <p:cNvPr id="20" name="Object 19"/>
          <p:cNvSpPr/>
          <p:nvPr/>
        </p:nvSpPr>
        <p:spPr>
          <a:xfrm>
            <a:off x="0" y="374284"/>
            <a:ext cx="12188952" cy="556106"/>
          </a:xfrm>
          <a:prstGeom prst="rect">
            <a:avLst/>
          </a:prstGeom>
          <a:noFill/>
        </p:spPr>
        <p:txBody>
          <a:bodyPr wrap="square" lIns="0" tIns="0" rIns="0" bIns="0" rtlCol="0" anchor="t"/>
          <a:lstStyle/>
          <a:p>
            <a:pPr algn="ctr">
              <a:lnSpc>
                <a:spcPts val="4380"/>
              </a:lnSpc>
              <a:buNone/>
            </a:pPr>
            <a:r>
              <a:rPr lang="en-US" sz="3750" b="1" kern="0" spc="-225" dirty="0">
                <a:solidFill>
                  <a:srgbClr val="333333"/>
                </a:solidFill>
                <a:latin typeface="Inter" pitchFamily="34" charset="0"/>
                <a:ea typeface="Inter" pitchFamily="34" charset="-122"/>
                <a:cs typeface="Inter" pitchFamily="34" charset="-120"/>
              </a:rPr>
              <a:t>Sales Trends Over Time</a:t>
            </a:r>
            <a:endParaRPr lang="en-US" dirty="0"/>
          </a:p>
        </p:txBody>
      </p:sp>
      <p:sp>
        <p:nvSpPr>
          <p:cNvPr id="25" name="Slide Number Placeholder 24"/>
          <p:cNvSpPr>
            <a:spLocks noGrp="1"/>
          </p:cNvSpPr>
          <p:nvPr>
            <p:ph type="sldNum" sz="quarter" idx="12"/>
          </p:nvPr>
        </p:nvSpPr>
        <p:spPr>
          <a:xfrm>
            <a:off x="11826240" y="6515100"/>
            <a:ext cx="800000" cy="300000"/>
          </a:xfrm>
          <a:prstGeom prst="rect">
            <a:avLst/>
          </a:prstGeom>
          <a:extLst>
            <a:ext uri="{C572A759-6A51-4108-AA02-DFA0A04FC94B}">
              <ma14:wrappingTextBoxFlag xmlns="" xmlns:ma14="http://schemas.microsoft.com/office/mac/drawingml/2011/main" val="0"/>
            </a:ext>
          </a:extLst>
        </p:spPr>
        <p:txBody>
          <a:bodyPr/>
          <a:lstStyle>
            <a:lvl1pPr>
              <a:defRPr sz="1100"/>
            </a:lvl1pPr>
          </a:lstStyle>
          <a:p>
            <a:fld id="{F7021451-1387-4CA6-816F-3879F97B5CBC}" type="slidenum">
              <a:rPr lang="en-US" smtClean="0"/>
              <a:t>6</a:t>
            </a:fld>
            <a:endParaRPr lang="en-US"/>
          </a:p>
        </p:txBody>
      </p:sp>
      <p:pic>
        <p:nvPicPr>
          <p:cNvPr id="21" name="Picture 20" descr="A screenshot of a computer screen&#10;&#10;AI-generated content may be incorrect.">
            <a:extLst>
              <a:ext uri="{FF2B5EF4-FFF2-40B4-BE49-F238E27FC236}">
                <a16:creationId xmlns:a16="http://schemas.microsoft.com/office/drawing/2014/main" id="{B2499C32-50B8-59D5-B647-40DC77250406}"/>
              </a:ext>
            </a:extLst>
          </p:cNvPr>
          <p:cNvPicPr>
            <a:picLocks noChangeAspect="1"/>
          </p:cNvPicPr>
          <p:nvPr/>
        </p:nvPicPr>
        <p:blipFill>
          <a:blip r:embed="rId16"/>
          <a:srcRect l="13785" t="66134" r="50046" b="12132"/>
          <a:stretch>
            <a:fillRect/>
          </a:stretch>
        </p:blipFill>
        <p:spPr>
          <a:xfrm>
            <a:off x="392498" y="4113221"/>
            <a:ext cx="4033615" cy="2538774"/>
          </a:xfrm>
          <a:prstGeom prst="rect">
            <a:avLst/>
          </a:prstGeom>
        </p:spPr>
      </p:pic>
      <p:pic>
        <p:nvPicPr>
          <p:cNvPr id="22" name="Picture 21" descr="A screenshot of a computer screen&#10;&#10;AI-generated content may be incorrect.">
            <a:extLst>
              <a:ext uri="{FF2B5EF4-FFF2-40B4-BE49-F238E27FC236}">
                <a16:creationId xmlns:a16="http://schemas.microsoft.com/office/drawing/2014/main" id="{D6E3F795-8C3C-BC10-3E61-8C9E1653B7D3}"/>
              </a:ext>
            </a:extLst>
          </p:cNvPr>
          <p:cNvPicPr>
            <a:picLocks noChangeAspect="1"/>
          </p:cNvPicPr>
          <p:nvPr/>
        </p:nvPicPr>
        <p:blipFill>
          <a:blip r:embed="rId16"/>
          <a:srcRect l="12771" t="44021" r="50000" b="33327"/>
          <a:stretch>
            <a:fillRect/>
          </a:stretch>
        </p:blipFill>
        <p:spPr>
          <a:xfrm>
            <a:off x="7814349" y="4112843"/>
            <a:ext cx="4090740" cy="2607114"/>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Object 1"/>
          <p:cNvSpPr/>
          <p:nvPr/>
        </p:nvSpPr>
        <p:spPr>
          <a:xfrm>
            <a:off x="6768677" y="476131"/>
            <a:ext cx="4944144" cy="5904024"/>
          </a:xfrm>
          <a:prstGeom prst="rect">
            <a:avLst/>
          </a:prstGeom>
          <a:solidFill>
            <a:srgbClr val="22AAEE"/>
          </a:solidFill>
        </p:spPr>
        <p:txBody>
          <a:bodyPr/>
          <a:lstStyle/>
          <a:p>
            <a:endParaRPr lang="en-GB"/>
          </a:p>
        </p:txBody>
      </p:sp>
      <p:pic>
        <p:nvPicPr>
          <p:cNvPr id="3" name="Object 2" descr="retail stores"/>
          <p:cNvPicPr>
            <a:picLocks noChangeAspect="1"/>
          </p:cNvPicPr>
          <p:nvPr/>
        </p:nvPicPr>
        <p:blipFill>
          <a:blip r:embed="rId3"/>
          <a:srcRect t="4487" b="4487"/>
          <a:stretch/>
        </p:blipFill>
        <p:spPr>
          <a:xfrm>
            <a:off x="6768677" y="476131"/>
            <a:ext cx="4944144" cy="5904024"/>
          </a:xfrm>
          <a:prstGeom prst="rect">
            <a:avLst/>
          </a:prstGeom>
        </p:spPr>
      </p:pic>
      <p:sp>
        <p:nvSpPr>
          <p:cNvPr id="4" name="Object 3"/>
          <p:cNvSpPr/>
          <p:nvPr/>
        </p:nvSpPr>
        <p:spPr>
          <a:xfrm>
            <a:off x="268069" y="2126520"/>
            <a:ext cx="6232390" cy="555957"/>
          </a:xfrm>
          <a:prstGeom prst="rect">
            <a:avLst/>
          </a:prstGeom>
          <a:noFill/>
        </p:spPr>
        <p:txBody>
          <a:bodyPr wrap="square" lIns="0" tIns="0" rIns="0" bIns="0" rtlCol="0" anchor="ctr"/>
          <a:lstStyle/>
          <a:p>
            <a:pPr algn="ctr">
              <a:lnSpc>
                <a:spcPts val="4380"/>
              </a:lnSpc>
              <a:buNone/>
            </a:pPr>
            <a:r>
              <a:rPr lang="en-US" sz="3750" b="1" kern="0" spc="-225" dirty="0">
                <a:solidFill>
                  <a:srgbClr val="333333"/>
                </a:solidFill>
                <a:latin typeface="Inter" pitchFamily="34" charset="0"/>
                <a:ea typeface="Inter" pitchFamily="34" charset="-122"/>
                <a:cs typeface="Inter" pitchFamily="34" charset="-120"/>
              </a:rPr>
              <a:t>Store-Level Performance</a:t>
            </a:r>
            <a:endParaRPr lang="en-US" dirty="0"/>
          </a:p>
        </p:txBody>
      </p:sp>
      <p:sp>
        <p:nvSpPr>
          <p:cNvPr id="5" name="Object 4"/>
          <p:cNvSpPr/>
          <p:nvPr/>
        </p:nvSpPr>
        <p:spPr>
          <a:xfrm>
            <a:off x="268069" y="2787375"/>
            <a:ext cx="6232390" cy="1901548"/>
          </a:xfrm>
          <a:prstGeom prst="rect">
            <a:avLst/>
          </a:prstGeom>
          <a:noFill/>
        </p:spPr>
        <p:txBody>
          <a:bodyPr wrap="square" lIns="0" tIns="0" rIns="0" bIns="0" rtlCol="0" anchor="ctr"/>
          <a:lstStyle/>
          <a:p>
            <a:pPr algn="ctr">
              <a:lnSpc>
                <a:spcPts val="2497"/>
              </a:lnSpc>
              <a:spcBef>
                <a:spcPts val="811"/>
              </a:spcBef>
              <a:buNone/>
            </a:pPr>
            <a:r>
              <a:rPr lang="en-US" sz="1800" kern="0" spc="-36" dirty="0">
                <a:solidFill>
                  <a:srgbClr val="000000">
                    <a:alpha val="56000"/>
                  </a:srgbClr>
                </a:solidFill>
                <a:latin typeface="Inter" pitchFamily="34" charset="0"/>
                <a:ea typeface="Inter" pitchFamily="34" charset="-122"/>
                <a:cs typeface="Inter" pitchFamily="34" charset="-120"/>
              </a:rPr>
              <a:t>The analysis reveals that retail sales are highly concentrated in a few top-performing stores, with a long tail of lower-volume outlets. The data also shows notable variations in customer return rates across different stores, with some locations exhibiting significantly higher anomalies.</a:t>
            </a:r>
            <a:endParaRPr lang="en-US" dirty="0"/>
          </a:p>
        </p:txBody>
      </p:sp>
      <p:pic>
        <p:nvPicPr>
          <p:cNvPr id="6" name="Object 5"/>
          <p:cNvPicPr>
            <a:picLocks noChangeAspect="1"/>
          </p:cNvPicPr>
          <p:nvPr/>
        </p:nvPicPr>
        <p:blipFill>
          <a:blip r:embed="rId4"/>
          <a:stretch>
            <a:fillRect/>
          </a:stretch>
        </p:blipFill>
        <p:spPr>
          <a:xfrm>
            <a:off x="-105533" y="-3074"/>
            <a:ext cx="12188952" cy="6856286"/>
          </a:xfrm>
          <a:prstGeom prst="rect">
            <a:avLst/>
          </a:prstGeom>
        </p:spPr>
      </p:pic>
      <p:sp>
        <p:nvSpPr>
          <p:cNvPr id="7" name="TextBox 6">
            <a:extLst>
              <a:ext uri="{FF2B5EF4-FFF2-40B4-BE49-F238E27FC236}">
                <a16:creationId xmlns:a16="http://schemas.microsoft.com/office/drawing/2014/main" id="{133EFC58-BD3D-AB40-78E4-62A74C908EC1}"/>
              </a:ext>
            </a:extLst>
          </p:cNvPr>
          <p:cNvSpPr txBox="1"/>
          <p:nvPr/>
        </p:nvSpPr>
        <p:spPr>
          <a:xfrm>
            <a:off x="268070" y="4540102"/>
            <a:ext cx="5367186" cy="1754326"/>
          </a:xfrm>
          <a:prstGeom prst="rect">
            <a:avLst/>
          </a:prstGeom>
          <a:noFill/>
        </p:spPr>
        <p:txBody>
          <a:bodyPr wrap="square" rtlCol="0">
            <a:spAutoFit/>
          </a:bodyPr>
          <a:lstStyle/>
          <a:p>
            <a:r>
              <a:rPr lang="en-US" sz="1200" b="1" dirty="0"/>
              <a:t>6.1 Store Performance — Sales Leaders</a:t>
            </a:r>
            <a:endParaRPr lang="en-GB" sz="1200" b="1" dirty="0"/>
          </a:p>
          <a:p>
            <a:r>
              <a:rPr lang="en-US" sz="1200" dirty="0"/>
              <a:t>Store 331: 54,059 units across 17,470 transactions (</a:t>
            </a:r>
            <a:r>
              <a:rPr lang="en-US" sz="1200" dirty="0" err="1"/>
              <a:t>AvgSales</a:t>
            </a:r>
            <a:r>
              <a:rPr lang="en-US" sz="1200" dirty="0"/>
              <a:t> 3.09, </a:t>
            </a:r>
            <a:r>
              <a:rPr lang="en-US" sz="1200" dirty="0" err="1"/>
              <a:t>ReturnRate</a:t>
            </a:r>
            <a:r>
              <a:rPr lang="en-US" sz="1200" dirty="0"/>
              <a:t> 0.25%). Store 276: 46,602 units across 15,414 transactions (</a:t>
            </a:r>
            <a:r>
              <a:rPr lang="en-US" sz="1200" dirty="0" err="1"/>
              <a:t>AvgSales</a:t>
            </a:r>
            <a:r>
              <a:rPr lang="en-US" sz="1200" dirty="0"/>
              <a:t> 3.02, </a:t>
            </a:r>
            <a:r>
              <a:rPr lang="en-US" sz="1200" dirty="0" err="1"/>
              <a:t>ReturnRate</a:t>
            </a:r>
            <a:r>
              <a:rPr lang="en-US" sz="1200" dirty="0"/>
              <a:t> 0.36%). Store 2: 41,321 units (</a:t>
            </a:r>
            <a:r>
              <a:rPr lang="en-US" sz="1200" dirty="0" err="1"/>
              <a:t>AvgSales</a:t>
            </a:r>
            <a:r>
              <a:rPr lang="en-US" sz="1200" dirty="0"/>
              <a:t> 3.27, </a:t>
            </a:r>
            <a:r>
              <a:rPr lang="en-US" sz="1200" dirty="0" err="1"/>
              <a:t>ReturnRate</a:t>
            </a:r>
            <a:r>
              <a:rPr lang="en-US" sz="1200" dirty="0"/>
              <a:t> 0.44%). Store 281: 38,328 units (</a:t>
            </a:r>
            <a:r>
              <a:rPr lang="en-US" sz="1200" dirty="0" err="1"/>
              <a:t>ReturnRate</a:t>
            </a:r>
            <a:r>
              <a:rPr lang="en-US" sz="1200" dirty="0"/>
              <a:t> 0.64%). Store 98: 38,187 units (</a:t>
            </a:r>
            <a:r>
              <a:rPr lang="en-US" sz="1200" dirty="0" err="1"/>
              <a:t>AvgSales</a:t>
            </a:r>
            <a:r>
              <a:rPr lang="en-US" sz="1200" dirty="0"/>
              <a:t> 3.71, </a:t>
            </a:r>
            <a:r>
              <a:rPr lang="en-US" sz="1200" dirty="0" err="1"/>
              <a:t>ReturnRate</a:t>
            </a:r>
            <a:r>
              <a:rPr lang="en-US" sz="1200" dirty="0"/>
              <a:t> 0.56%).</a:t>
            </a:r>
            <a:endParaRPr lang="en-GB" sz="1200" dirty="0"/>
          </a:p>
          <a:p>
            <a:r>
              <a:rPr lang="en-US" sz="1200" b="1" dirty="0"/>
              <a:t>6.2 Store Performance — Return Rate Outliers</a:t>
            </a:r>
            <a:endParaRPr lang="en-GB" sz="1200" b="1" dirty="0"/>
          </a:p>
          <a:p>
            <a:r>
              <a:rPr lang="en-US" sz="1200" dirty="0"/>
              <a:t>High return‑rate stores include Store 165 (1.26%), Store 124 (1.21%), Store 208 (1.09%), Store 94 (1.09%), and Store 323 (1.06%).</a:t>
            </a:r>
            <a:endParaRPr lang="en-GB"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0">
    <p:bg>
      <p:bgPr>
        <a:solidFill>
          <a:srgbClr val="222222"/>
        </a:solidFill>
        <a:effectLst/>
      </p:bgPr>
    </p:bg>
    <p:spTree>
      <p:nvGrpSpPr>
        <p:cNvPr id="1" name=""/>
        <p:cNvGrpSpPr/>
        <p:nvPr/>
      </p:nvGrpSpPr>
      <p:grpSpPr>
        <a:xfrm>
          <a:off x="0" y="0"/>
          <a:ext cx="0" cy="0"/>
          <a:chOff x="0" y="0"/>
          <a:chExt cx="0" cy="0"/>
        </a:xfrm>
      </p:grpSpPr>
      <p:sp>
        <p:nvSpPr>
          <p:cNvPr id="2" name="Object 1"/>
          <p:cNvSpPr/>
          <p:nvPr/>
        </p:nvSpPr>
        <p:spPr>
          <a:xfrm>
            <a:off x="0" y="374358"/>
            <a:ext cx="12188803" cy="555957"/>
          </a:xfrm>
          <a:prstGeom prst="rect">
            <a:avLst/>
          </a:prstGeom>
          <a:noFill/>
        </p:spPr>
        <p:txBody>
          <a:bodyPr wrap="square" lIns="0" tIns="0" rIns="0" bIns="0" rtlCol="0" anchor="t"/>
          <a:lstStyle/>
          <a:p>
            <a:pPr algn="ctr">
              <a:lnSpc>
                <a:spcPts val="4380"/>
              </a:lnSpc>
              <a:buNone/>
            </a:pPr>
            <a:r>
              <a:rPr lang="en-US" sz="3750" b="1" kern="0" spc="-225" dirty="0">
                <a:solidFill>
                  <a:srgbClr val="FFFFFF"/>
                </a:solidFill>
                <a:latin typeface="Inter" pitchFamily="34" charset="0"/>
                <a:ea typeface="Inter" pitchFamily="34" charset="-122"/>
                <a:cs typeface="Inter" pitchFamily="34" charset="-120"/>
              </a:rPr>
              <a:t>Product-Level Performance</a:t>
            </a:r>
            <a:endParaRPr lang="en-US" dirty="0"/>
          </a:p>
        </p:txBody>
      </p:sp>
      <p:sp>
        <p:nvSpPr>
          <p:cNvPr id="3" name="Object 2"/>
          <p:cNvSpPr/>
          <p:nvPr/>
        </p:nvSpPr>
        <p:spPr>
          <a:xfrm>
            <a:off x="952262" y="1596824"/>
            <a:ext cx="5446774" cy="4379809"/>
          </a:xfrm>
          <a:prstGeom prst="rect">
            <a:avLst/>
          </a:prstGeom>
          <a:noFill/>
        </p:spPr>
        <p:txBody>
          <a:bodyPr wrap="square" lIns="0" tIns="0" rIns="0" bIns="0" rtlCol="0" anchor="t"/>
          <a:lstStyle/>
          <a:p>
            <a:pPr marL="242900" indent="-242900" algn="l">
              <a:lnSpc>
                <a:spcPts val="2996"/>
              </a:lnSpc>
              <a:buSzPct val="100000"/>
              <a:buChar char="•"/>
            </a:pPr>
            <a:r>
              <a:rPr lang="en-US" sz="2565" b="1" kern="0" spc="-154" dirty="0">
                <a:solidFill>
                  <a:srgbClr val="FFFFFF"/>
                </a:solidFill>
                <a:latin typeface="Inter" pitchFamily="34" charset="0"/>
                <a:ea typeface="Inter" pitchFamily="34" charset="-122"/>
                <a:cs typeface="Inter" pitchFamily="34" charset="-120"/>
              </a:rPr>
              <a:t>Pareto-like product sales distribution</a:t>
            </a:r>
          </a:p>
          <a:p>
            <a:pPr lvl="1" algn="l">
              <a:lnSpc>
                <a:spcPts val="2273"/>
              </a:lnSpc>
              <a:spcBef>
                <a:spcPts val="314"/>
              </a:spcBef>
              <a:buNone/>
            </a:pPr>
            <a:r>
              <a:rPr lang="en-US" sz="1639" kern="0" spc="-33" dirty="0">
                <a:solidFill>
                  <a:srgbClr val="FFFFFF">
                    <a:alpha val="80000"/>
                  </a:srgbClr>
                </a:solidFill>
                <a:latin typeface="Inter" pitchFamily="34" charset="0"/>
                <a:ea typeface="Inter" pitchFamily="34" charset="-122"/>
                <a:cs typeface="Inter" pitchFamily="34" charset="-120"/>
              </a:rPr>
              <a:t>A small subset of products account for a disproportionately large share of total sales</a:t>
            </a:r>
          </a:p>
          <a:p>
            <a:pPr marL="242900" indent="-242900" algn="l">
              <a:lnSpc>
                <a:spcPts val="2996"/>
              </a:lnSpc>
              <a:spcBef>
                <a:spcPts val="2418"/>
              </a:spcBef>
              <a:buSzPct val="100000"/>
              <a:buChar char="•"/>
            </a:pPr>
            <a:r>
              <a:rPr lang="en-US" sz="2565" b="1" kern="0" spc="-154" dirty="0">
                <a:solidFill>
                  <a:srgbClr val="FFFFFF"/>
                </a:solidFill>
                <a:latin typeface="Inter" pitchFamily="34" charset="0"/>
                <a:ea typeface="Inter" pitchFamily="34" charset="-122"/>
                <a:cs typeface="Inter" pitchFamily="34" charset="-120"/>
              </a:rPr>
              <a:t>Top-selling product</a:t>
            </a:r>
          </a:p>
          <a:p>
            <a:pPr lvl="1" algn="l">
              <a:lnSpc>
                <a:spcPts val="2273"/>
              </a:lnSpc>
              <a:spcBef>
                <a:spcPts val="314"/>
              </a:spcBef>
              <a:buNone/>
            </a:pPr>
            <a:r>
              <a:rPr lang="en-US" sz="1639" kern="0" spc="-33" dirty="0">
                <a:solidFill>
                  <a:srgbClr val="FFFFFF">
                    <a:alpha val="80000"/>
                  </a:srgbClr>
                </a:solidFill>
                <a:latin typeface="Inter" pitchFamily="34" charset="0"/>
                <a:ea typeface="Inter" pitchFamily="34" charset="-122"/>
                <a:cs typeface="Inter" pitchFamily="34" charset="-120"/>
              </a:rPr>
              <a:t>Product 218 generated 375,778 units in sales, or 20.1% of the total sales volume</a:t>
            </a:r>
          </a:p>
          <a:p>
            <a:pPr marL="242900" indent="-242900" algn="l">
              <a:lnSpc>
                <a:spcPts val="2996"/>
              </a:lnSpc>
              <a:spcBef>
                <a:spcPts val="2418"/>
              </a:spcBef>
              <a:buSzPct val="100000"/>
              <a:buChar char="•"/>
            </a:pPr>
            <a:r>
              <a:rPr lang="en-US" sz="2565" b="1" kern="0" spc="-154" dirty="0">
                <a:solidFill>
                  <a:srgbClr val="FFFFFF"/>
                </a:solidFill>
                <a:latin typeface="Inter" pitchFamily="34" charset="0"/>
                <a:ea typeface="Inter" pitchFamily="34" charset="-122"/>
                <a:cs typeface="Inter" pitchFamily="34" charset="-120"/>
              </a:rPr>
              <a:t>Top 5 products account for majority of sales</a:t>
            </a:r>
          </a:p>
          <a:p>
            <a:pPr lvl="1" algn="l">
              <a:lnSpc>
                <a:spcPts val="2273"/>
              </a:lnSpc>
              <a:spcBef>
                <a:spcPts val="314"/>
              </a:spcBef>
              <a:buNone/>
            </a:pPr>
            <a:r>
              <a:rPr lang="en-US" sz="1639" kern="0" spc="-33" dirty="0">
                <a:solidFill>
                  <a:srgbClr val="FFFFFF">
                    <a:alpha val="80000"/>
                  </a:srgbClr>
                </a:solidFill>
                <a:latin typeface="Inter" pitchFamily="34" charset="0"/>
                <a:ea typeface="Inter" pitchFamily="34" charset="-122"/>
                <a:cs typeface="Inter" pitchFamily="34" charset="-120"/>
              </a:rPr>
              <a:t>The top 5 products (218, 168, 221, 167, 166) accounted for 57.7% of the total sales</a:t>
            </a:r>
            <a:endParaRPr lang="en-US" dirty="0"/>
          </a:p>
        </p:txBody>
      </p:sp>
      <p:sp>
        <p:nvSpPr>
          <p:cNvPr id="4" name="Object 3"/>
          <p:cNvSpPr/>
          <p:nvPr/>
        </p:nvSpPr>
        <p:spPr>
          <a:xfrm>
            <a:off x="6284928" y="1596824"/>
            <a:ext cx="5446774" cy="2020060"/>
          </a:xfrm>
          <a:prstGeom prst="rect">
            <a:avLst/>
          </a:prstGeom>
          <a:noFill/>
        </p:spPr>
        <p:txBody>
          <a:bodyPr wrap="square" lIns="0" tIns="0" rIns="0" bIns="0" rtlCol="0" anchor="t"/>
          <a:lstStyle/>
          <a:p>
            <a:pPr marL="242900" indent="-242900" algn="l">
              <a:lnSpc>
                <a:spcPts val="2996"/>
              </a:lnSpc>
              <a:buSzPct val="100000"/>
              <a:buChar char="•"/>
            </a:pPr>
            <a:endParaRPr lang="en-US" dirty="0"/>
          </a:p>
        </p:txBody>
      </p:sp>
      <p:sp>
        <p:nvSpPr>
          <p:cNvPr id="5" name="Object 4"/>
          <p:cNvSpPr/>
          <p:nvPr/>
        </p:nvSpPr>
        <p:spPr>
          <a:xfrm>
            <a:off x="11798525" y="6496211"/>
            <a:ext cx="199975" cy="237693"/>
          </a:xfrm>
          <a:prstGeom prst="rect">
            <a:avLst/>
          </a:prstGeom>
          <a:noFill/>
        </p:spPr>
        <p:txBody>
          <a:bodyPr/>
          <a:lstStyle/>
          <a:p>
            <a:endParaRPr lang="en-GB"/>
          </a:p>
        </p:txBody>
      </p:sp>
      <p:sp>
        <p:nvSpPr>
          <p:cNvPr id="25" name="Slide Number Placeholder 24"/>
          <p:cNvSpPr>
            <a:spLocks noGrp="1"/>
          </p:cNvSpPr>
          <p:nvPr>
            <p:ph type="sldNum" sz="quarter" idx="12"/>
          </p:nvPr>
        </p:nvSpPr>
        <p:spPr>
          <a:xfrm>
            <a:off x="11826240" y="6515100"/>
            <a:ext cx="800000" cy="300000"/>
          </a:xfrm>
          <a:prstGeom prst="rect">
            <a:avLst/>
          </a:prstGeom>
          <a:extLst>
            <a:ext uri="{C572A759-6A51-4108-AA02-DFA0A04FC94B}">
              <ma14:wrappingTextBoxFlag xmlns:ma14="http://schemas.microsoft.com/office/mac/drawingml/2011/main" xmlns="" val="0"/>
            </a:ext>
          </a:extLst>
        </p:spPr>
        <p:txBody>
          <a:bodyPr/>
          <a:lstStyle>
            <a:lvl1pPr>
              <a:defRPr sz="1100"/>
            </a:lvl1pPr>
          </a:lstStyle>
          <a:p>
            <a:fld id="{F7021451-1387-4CA6-816F-3879F97B5CBC}" type="slidenum">
              <a:rPr lang="en-US" smtClean="0"/>
              <a:t>8</a:t>
            </a:fld>
            <a:endParaRPr lang="en-US"/>
          </a:p>
        </p:txBody>
      </p:sp>
      <p:pic>
        <p:nvPicPr>
          <p:cNvPr id="6" name="Picture 5" descr="A graph with orange bars&#10;&#10;AI-generated content may be incorrect.">
            <a:extLst>
              <a:ext uri="{FF2B5EF4-FFF2-40B4-BE49-F238E27FC236}">
                <a16:creationId xmlns:a16="http://schemas.microsoft.com/office/drawing/2014/main" id="{A679602E-7989-CA3A-D2DD-83D7A680EFFA}"/>
              </a:ext>
            </a:extLst>
          </p:cNvPr>
          <p:cNvPicPr>
            <a:picLocks noChangeAspect="1"/>
          </p:cNvPicPr>
          <p:nvPr/>
        </p:nvPicPr>
        <p:blipFill>
          <a:blip r:embed="rId3"/>
          <a:srcRect l="-21195" t="3886" r="25685" b="-3589"/>
          <a:stretch>
            <a:fillRect/>
          </a:stretch>
        </p:blipFill>
        <p:spPr>
          <a:xfrm>
            <a:off x="5183017" y="2090348"/>
            <a:ext cx="6715495" cy="3053072"/>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222222"/>
        </a:solidFill>
        <a:effectLst/>
      </p:bgPr>
    </p:bg>
    <p:spTree>
      <p:nvGrpSpPr>
        <p:cNvPr id="1" name=""/>
        <p:cNvGrpSpPr/>
        <p:nvPr/>
      </p:nvGrpSpPr>
      <p:grpSpPr>
        <a:xfrm>
          <a:off x="0" y="0"/>
          <a:ext cx="0" cy="0"/>
          <a:chOff x="0" y="0"/>
          <a:chExt cx="0" cy="0"/>
        </a:xfrm>
      </p:grpSpPr>
      <p:sp>
        <p:nvSpPr>
          <p:cNvPr id="2" name="Object 1"/>
          <p:cNvSpPr/>
          <p:nvPr/>
        </p:nvSpPr>
        <p:spPr>
          <a:xfrm>
            <a:off x="0" y="374358"/>
            <a:ext cx="12188803" cy="555957"/>
          </a:xfrm>
          <a:prstGeom prst="rect">
            <a:avLst/>
          </a:prstGeom>
          <a:noFill/>
        </p:spPr>
        <p:txBody>
          <a:bodyPr wrap="square" lIns="0" tIns="0" rIns="0" bIns="0" rtlCol="0" anchor="t"/>
          <a:lstStyle/>
          <a:p>
            <a:pPr algn="ctr">
              <a:lnSpc>
                <a:spcPts val="4380"/>
              </a:lnSpc>
              <a:buNone/>
            </a:pPr>
            <a:r>
              <a:rPr lang="en-US" sz="3750" b="1" kern="0" spc="-225" dirty="0">
                <a:solidFill>
                  <a:srgbClr val="FFFFFF"/>
                </a:solidFill>
                <a:latin typeface="Inter" pitchFamily="34" charset="0"/>
                <a:ea typeface="Inter" pitchFamily="34" charset="-122"/>
                <a:cs typeface="Inter" pitchFamily="34" charset="-120"/>
              </a:rPr>
              <a:t>High vs Low Performing Products</a:t>
            </a:r>
            <a:endParaRPr lang="en-US" dirty="0"/>
          </a:p>
        </p:txBody>
      </p:sp>
      <p:sp>
        <p:nvSpPr>
          <p:cNvPr id="3" name="Object 2"/>
          <p:cNvSpPr/>
          <p:nvPr/>
        </p:nvSpPr>
        <p:spPr>
          <a:xfrm>
            <a:off x="0" y="1032311"/>
            <a:ext cx="12188803" cy="330093"/>
          </a:xfrm>
          <a:prstGeom prst="rect">
            <a:avLst/>
          </a:prstGeom>
          <a:noFill/>
        </p:spPr>
        <p:txBody>
          <a:bodyPr wrap="square" lIns="0" tIns="0" rIns="0" bIns="0" rtlCol="0" anchor="t"/>
          <a:lstStyle/>
          <a:p>
            <a:pPr algn="ctr">
              <a:lnSpc>
                <a:spcPts val="2600"/>
              </a:lnSpc>
              <a:spcBef>
                <a:spcPts val="787"/>
              </a:spcBef>
              <a:buNone/>
            </a:pPr>
            <a:r>
              <a:rPr lang="en-US" sz="1875" kern="0" spc="-37" dirty="0">
                <a:solidFill>
                  <a:srgbClr val="FFFFFF">
                    <a:alpha val="80000"/>
                  </a:srgbClr>
                </a:solidFill>
                <a:latin typeface="Inter" pitchFamily="34" charset="0"/>
                <a:ea typeface="Inter" pitchFamily="34" charset="-122"/>
                <a:cs typeface="Inter" pitchFamily="34" charset="-120"/>
              </a:rPr>
              <a:t>Total Sales and Return Rate across Product Clusters</a:t>
            </a:r>
            <a:endParaRPr lang="en-US" dirty="0"/>
          </a:p>
        </p:txBody>
      </p:sp>
      <p:pic>
        <p:nvPicPr>
          <p:cNvPr id="4" name="Object 3"/>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6065" y="2576017"/>
            <a:ext cx="2094976" cy="2104499"/>
          </a:xfrm>
          <a:prstGeom prst="rect">
            <a:avLst/>
          </a:prstGeom>
        </p:spPr>
      </p:pic>
      <p:pic>
        <p:nvPicPr>
          <p:cNvPr id="5" name="Object 4"/>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6065" y="2576017"/>
            <a:ext cx="2104499" cy="2104499"/>
          </a:xfrm>
          <a:prstGeom prst="rect">
            <a:avLst/>
          </a:prstGeom>
        </p:spPr>
      </p:pic>
      <p:sp>
        <p:nvSpPr>
          <p:cNvPr id="6" name="Object 5"/>
          <p:cNvSpPr/>
          <p:nvPr/>
        </p:nvSpPr>
        <p:spPr>
          <a:xfrm>
            <a:off x="727532" y="3345653"/>
            <a:ext cx="1592100" cy="555957"/>
          </a:xfrm>
          <a:prstGeom prst="rect">
            <a:avLst/>
          </a:prstGeom>
          <a:noFill/>
        </p:spPr>
        <p:txBody>
          <a:bodyPr wrap="square" lIns="0" tIns="0" rIns="0" bIns="0" rtlCol="0" anchor="ctr"/>
          <a:lstStyle/>
          <a:p>
            <a:pPr algn="ctr">
              <a:lnSpc>
                <a:spcPts val="4380"/>
              </a:lnSpc>
              <a:buNone/>
            </a:pPr>
            <a:r>
              <a:rPr lang="en-US" sz="3750" b="1" kern="0" spc="-225" dirty="0">
                <a:solidFill>
                  <a:srgbClr val="FFFFFF"/>
                </a:solidFill>
                <a:latin typeface="Inter" pitchFamily="34" charset="0"/>
                <a:ea typeface="Inter" pitchFamily="34" charset="-122"/>
                <a:cs typeface="Inter" pitchFamily="34" charset="-120"/>
              </a:rPr>
              <a:t>85%</a:t>
            </a:r>
            <a:endParaRPr lang="en-US" dirty="0"/>
          </a:p>
        </p:txBody>
      </p:sp>
      <p:sp>
        <p:nvSpPr>
          <p:cNvPr id="7" name="Object 6"/>
          <p:cNvSpPr/>
          <p:nvPr/>
        </p:nvSpPr>
        <p:spPr>
          <a:xfrm>
            <a:off x="371390" y="4812657"/>
            <a:ext cx="2304310" cy="266931"/>
          </a:xfrm>
          <a:prstGeom prst="rect">
            <a:avLst/>
          </a:prstGeom>
          <a:noFill/>
        </p:spPr>
        <p:txBody>
          <a:bodyPr wrap="square" lIns="0" tIns="0" rIns="0" bIns="0" rtlCol="0" anchor="t"/>
          <a:lstStyle/>
          <a:p>
            <a:pPr algn="ctr">
              <a:lnSpc>
                <a:spcPts val="2102"/>
              </a:lnSpc>
              <a:buNone/>
            </a:pPr>
            <a:r>
              <a:rPr lang="en-US" sz="1800" b="1" kern="0" spc="-108" dirty="0">
                <a:solidFill>
                  <a:srgbClr val="FFFFFF"/>
                </a:solidFill>
                <a:latin typeface="Inter" pitchFamily="34" charset="0"/>
                <a:ea typeface="Inter" pitchFamily="34" charset="-122"/>
                <a:cs typeface="Inter" pitchFamily="34" charset="-120"/>
              </a:rPr>
              <a:t>Fast Movers</a:t>
            </a:r>
            <a:endParaRPr lang="en-US" dirty="0"/>
          </a:p>
        </p:txBody>
      </p:sp>
      <p:pic>
        <p:nvPicPr>
          <p:cNvPr id="8" name="Object 7"/>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3523222" y="2576017"/>
            <a:ext cx="2104499" cy="2104499"/>
          </a:xfrm>
          <a:prstGeom prst="rect">
            <a:avLst/>
          </a:prstGeom>
        </p:spPr>
      </p:pic>
      <p:pic>
        <p:nvPicPr>
          <p:cNvPr id="9" name="Object 8"/>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4504053" y="2576017"/>
            <a:ext cx="1123669" cy="2047363"/>
          </a:xfrm>
          <a:prstGeom prst="rect">
            <a:avLst/>
          </a:prstGeom>
        </p:spPr>
      </p:pic>
      <p:sp>
        <p:nvSpPr>
          <p:cNvPr id="10" name="Object 9"/>
          <p:cNvSpPr/>
          <p:nvPr/>
        </p:nvSpPr>
        <p:spPr>
          <a:xfrm>
            <a:off x="3774770" y="3345653"/>
            <a:ext cx="1592100" cy="555957"/>
          </a:xfrm>
          <a:prstGeom prst="rect">
            <a:avLst/>
          </a:prstGeom>
          <a:noFill/>
        </p:spPr>
        <p:txBody>
          <a:bodyPr wrap="square" lIns="0" tIns="0" rIns="0" bIns="0" rtlCol="0" anchor="ctr"/>
          <a:lstStyle/>
          <a:p>
            <a:pPr algn="ctr">
              <a:lnSpc>
                <a:spcPts val="4380"/>
              </a:lnSpc>
              <a:buNone/>
            </a:pPr>
            <a:r>
              <a:rPr lang="en-US" sz="3750" b="1" kern="0" spc="-225" dirty="0">
                <a:solidFill>
                  <a:srgbClr val="FFFFFF"/>
                </a:solidFill>
                <a:latin typeface="Inter" pitchFamily="34" charset="0"/>
                <a:ea typeface="Inter" pitchFamily="34" charset="-122"/>
                <a:cs typeface="Inter" pitchFamily="34" charset="-120"/>
              </a:rPr>
              <a:t>45%</a:t>
            </a:r>
            <a:endParaRPr lang="en-US" dirty="0"/>
          </a:p>
        </p:txBody>
      </p:sp>
      <p:sp>
        <p:nvSpPr>
          <p:cNvPr id="11" name="Object 10"/>
          <p:cNvSpPr/>
          <p:nvPr/>
        </p:nvSpPr>
        <p:spPr>
          <a:xfrm>
            <a:off x="3418628" y="4812657"/>
            <a:ext cx="2304310" cy="266931"/>
          </a:xfrm>
          <a:prstGeom prst="rect">
            <a:avLst/>
          </a:prstGeom>
          <a:noFill/>
        </p:spPr>
        <p:txBody>
          <a:bodyPr wrap="square" lIns="0" tIns="0" rIns="0" bIns="0" rtlCol="0" anchor="t"/>
          <a:lstStyle/>
          <a:p>
            <a:pPr algn="ctr">
              <a:lnSpc>
                <a:spcPts val="2102"/>
              </a:lnSpc>
              <a:buNone/>
            </a:pPr>
            <a:r>
              <a:rPr lang="en-US" sz="1800" b="1" kern="0" spc="-108" dirty="0">
                <a:solidFill>
                  <a:srgbClr val="FFFFFF"/>
                </a:solidFill>
                <a:latin typeface="Inter" pitchFamily="34" charset="0"/>
                <a:ea typeface="Inter" pitchFamily="34" charset="-122"/>
                <a:cs typeface="Inter" pitchFamily="34" charset="-120"/>
              </a:rPr>
              <a:t>Medium Movers</a:t>
            </a:r>
            <a:endParaRPr lang="en-US" dirty="0"/>
          </a:p>
        </p:txBody>
      </p:sp>
      <p:pic>
        <p:nvPicPr>
          <p:cNvPr id="12" name="Object 11"/>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6570502" y="2576017"/>
            <a:ext cx="2104499" cy="2104499"/>
          </a:xfrm>
          <a:prstGeom prst="rect">
            <a:avLst/>
          </a:prstGeom>
        </p:spPr>
      </p:pic>
      <p:pic>
        <p:nvPicPr>
          <p:cNvPr id="13" name="Object 12"/>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7551324" y="2576017"/>
            <a:ext cx="933217" cy="542789"/>
          </a:xfrm>
          <a:prstGeom prst="rect">
            <a:avLst/>
          </a:prstGeom>
        </p:spPr>
      </p:pic>
      <p:sp>
        <p:nvSpPr>
          <p:cNvPr id="14" name="Object 13"/>
          <p:cNvSpPr/>
          <p:nvPr/>
        </p:nvSpPr>
        <p:spPr>
          <a:xfrm>
            <a:off x="6822008" y="3345653"/>
            <a:ext cx="1592100" cy="555957"/>
          </a:xfrm>
          <a:prstGeom prst="rect">
            <a:avLst/>
          </a:prstGeom>
          <a:noFill/>
        </p:spPr>
        <p:txBody>
          <a:bodyPr wrap="square" lIns="0" tIns="0" rIns="0" bIns="0" rtlCol="0" anchor="ctr"/>
          <a:lstStyle/>
          <a:p>
            <a:pPr algn="ctr">
              <a:lnSpc>
                <a:spcPts val="4380"/>
              </a:lnSpc>
              <a:buNone/>
            </a:pPr>
            <a:r>
              <a:rPr lang="en-US" sz="3750" b="1" kern="0" spc="-225" dirty="0">
                <a:solidFill>
                  <a:srgbClr val="FFFFFF"/>
                </a:solidFill>
                <a:latin typeface="Inter" pitchFamily="34" charset="0"/>
                <a:ea typeface="Inter" pitchFamily="34" charset="-122"/>
                <a:cs typeface="Inter" pitchFamily="34" charset="-120"/>
              </a:rPr>
              <a:t>15%</a:t>
            </a:r>
            <a:endParaRPr lang="en-US" dirty="0"/>
          </a:p>
        </p:txBody>
      </p:sp>
      <p:sp>
        <p:nvSpPr>
          <p:cNvPr id="15" name="Object 14"/>
          <p:cNvSpPr/>
          <p:nvPr/>
        </p:nvSpPr>
        <p:spPr>
          <a:xfrm>
            <a:off x="6465866" y="4812657"/>
            <a:ext cx="2304310" cy="266931"/>
          </a:xfrm>
          <a:prstGeom prst="rect">
            <a:avLst/>
          </a:prstGeom>
          <a:noFill/>
        </p:spPr>
        <p:txBody>
          <a:bodyPr wrap="square" lIns="0" tIns="0" rIns="0" bIns="0" rtlCol="0" anchor="t"/>
          <a:lstStyle/>
          <a:p>
            <a:pPr algn="ctr">
              <a:lnSpc>
                <a:spcPts val="2102"/>
              </a:lnSpc>
              <a:buNone/>
            </a:pPr>
            <a:r>
              <a:rPr lang="en-US" sz="1800" b="1" kern="0" spc="-108" dirty="0">
                <a:solidFill>
                  <a:srgbClr val="FFFFFF"/>
                </a:solidFill>
                <a:latin typeface="Inter" pitchFamily="34" charset="0"/>
                <a:ea typeface="Inter" pitchFamily="34" charset="-122"/>
                <a:cs typeface="Inter" pitchFamily="34" charset="-120"/>
              </a:rPr>
              <a:t>Slow Movers</a:t>
            </a:r>
            <a:endParaRPr lang="en-US" dirty="0"/>
          </a:p>
        </p:txBody>
      </p:sp>
      <p:pic>
        <p:nvPicPr>
          <p:cNvPr id="16" name="Object 15"/>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617773" y="2576017"/>
            <a:ext cx="2104499" cy="2104499"/>
          </a:xfrm>
          <a:prstGeom prst="rect">
            <a:avLst/>
          </a:prstGeom>
        </p:spPr>
      </p:pic>
      <p:pic>
        <p:nvPicPr>
          <p:cNvPr id="17" name="Object 16"/>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9617773" y="2576017"/>
            <a:ext cx="2104499" cy="2104499"/>
          </a:xfrm>
          <a:prstGeom prst="rect">
            <a:avLst/>
          </a:prstGeom>
        </p:spPr>
      </p:pic>
      <p:sp>
        <p:nvSpPr>
          <p:cNvPr id="18" name="Object 17"/>
          <p:cNvSpPr/>
          <p:nvPr/>
        </p:nvSpPr>
        <p:spPr>
          <a:xfrm>
            <a:off x="9869246" y="3345653"/>
            <a:ext cx="1592100" cy="555957"/>
          </a:xfrm>
          <a:prstGeom prst="rect">
            <a:avLst/>
          </a:prstGeom>
          <a:noFill/>
        </p:spPr>
        <p:txBody>
          <a:bodyPr wrap="square" lIns="0" tIns="0" rIns="0" bIns="0" rtlCol="0" anchor="ctr"/>
          <a:lstStyle/>
          <a:p>
            <a:pPr algn="ctr">
              <a:lnSpc>
                <a:spcPts val="4380"/>
              </a:lnSpc>
              <a:buNone/>
            </a:pPr>
            <a:r>
              <a:rPr lang="en-US" sz="3750" b="1" kern="0" spc="-225" dirty="0">
                <a:solidFill>
                  <a:srgbClr val="FFFFFF"/>
                </a:solidFill>
                <a:latin typeface="Inter" pitchFamily="34" charset="0"/>
                <a:ea typeface="Inter" pitchFamily="34" charset="-122"/>
                <a:cs typeface="Inter" pitchFamily="34" charset="-120"/>
              </a:rPr>
              <a:t>100%</a:t>
            </a:r>
            <a:endParaRPr lang="en-US" dirty="0"/>
          </a:p>
        </p:txBody>
      </p:sp>
      <p:sp>
        <p:nvSpPr>
          <p:cNvPr id="19" name="Object 18"/>
          <p:cNvSpPr/>
          <p:nvPr/>
        </p:nvSpPr>
        <p:spPr>
          <a:xfrm>
            <a:off x="9513104" y="4812657"/>
            <a:ext cx="2304310" cy="266931"/>
          </a:xfrm>
          <a:prstGeom prst="rect">
            <a:avLst/>
          </a:prstGeom>
          <a:noFill/>
        </p:spPr>
        <p:txBody>
          <a:bodyPr wrap="square" lIns="0" tIns="0" rIns="0" bIns="0" rtlCol="0" anchor="t"/>
          <a:lstStyle/>
          <a:p>
            <a:pPr algn="ctr">
              <a:lnSpc>
                <a:spcPts val="2102"/>
              </a:lnSpc>
              <a:buNone/>
            </a:pPr>
            <a:r>
              <a:rPr lang="en-US" sz="1800" b="1" kern="0" spc="-108" dirty="0">
                <a:solidFill>
                  <a:srgbClr val="FFFFFF"/>
                </a:solidFill>
                <a:latin typeface="Inter" pitchFamily="34" charset="0"/>
                <a:ea typeface="Inter" pitchFamily="34" charset="-122"/>
                <a:cs typeface="Inter" pitchFamily="34" charset="-120"/>
              </a:rPr>
              <a:t>Extreme Outliers</a:t>
            </a:r>
            <a:endParaRPr lang="en-US" dirty="0"/>
          </a:p>
        </p:txBody>
      </p:sp>
      <p:sp>
        <p:nvSpPr>
          <p:cNvPr id="20" name="Object 19"/>
          <p:cNvSpPr/>
          <p:nvPr/>
        </p:nvSpPr>
        <p:spPr>
          <a:xfrm>
            <a:off x="11798525" y="6496211"/>
            <a:ext cx="199975" cy="237693"/>
          </a:xfrm>
          <a:prstGeom prst="rect">
            <a:avLst/>
          </a:prstGeom>
          <a:noFill/>
        </p:spPr>
        <p:txBody>
          <a:bodyPr/>
          <a:lstStyle/>
          <a:p>
            <a:endParaRPr lang="en-GB"/>
          </a:p>
        </p:txBody>
      </p:sp>
      <p:sp>
        <p:nvSpPr>
          <p:cNvPr id="25" name="Slide Number Placeholder 24"/>
          <p:cNvSpPr>
            <a:spLocks noGrp="1"/>
          </p:cNvSpPr>
          <p:nvPr>
            <p:ph type="sldNum" sz="quarter" idx="12"/>
          </p:nvPr>
        </p:nvSpPr>
        <p:spPr>
          <a:xfrm>
            <a:off x="11826240" y="6515100"/>
            <a:ext cx="800000" cy="300000"/>
          </a:xfrm>
          <a:prstGeom prst="rect">
            <a:avLst/>
          </a:prstGeom>
          <a:extLst>
            <a:ext uri="{C572A759-6A51-4108-AA02-DFA0A04FC94B}">
              <ma14:wrappingTextBoxFlag xmlns:ma14="http://schemas.microsoft.com/office/mac/drawingml/2011/main" xmlns="" val="0"/>
            </a:ext>
          </a:extLst>
        </p:spPr>
        <p:txBody>
          <a:bodyPr/>
          <a:lstStyle>
            <a:lvl1pPr>
              <a:defRPr sz="1100"/>
            </a:lvl1pPr>
          </a:lstStyle>
          <a:p>
            <a:fld id="{F7021451-1387-4CA6-816F-3879F97B5CBC}" type="slidenum">
              <a:rPr lang="en-US" smtClean="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a:effectLst/>
      </p:bgPr>
    </p:bg>
    <p:spTree>
      <p:nvGrpSpPr>
        <p:cNvPr id="1" name=""/>
        <p:cNvGrpSpPr/>
        <p:nvPr/>
      </p:nvGrpSpPr>
      <p:grpSpPr>
        <a:xfrm>
          <a:off x="0" y="0"/>
          <a:ext cx="0" cy="0"/>
          <a:chOff x="0" y="0"/>
          <a:chExt cx="0" cy="0"/>
        </a:xfrm>
      </p:grpSpPr>
      <p:sp>
        <p:nvSpPr>
          <p:cNvPr id="2" name="Object 1"/>
          <p:cNvSpPr/>
          <p:nvPr/>
        </p:nvSpPr>
        <p:spPr>
          <a:xfrm>
            <a:off x="8004713" y="476131"/>
            <a:ext cx="3708108" cy="5904024"/>
          </a:xfrm>
          <a:prstGeom prst="rect">
            <a:avLst/>
          </a:prstGeom>
          <a:solidFill>
            <a:srgbClr val="22AAEE"/>
          </a:solidFill>
        </p:spPr>
        <p:txBody>
          <a:bodyPr/>
          <a:lstStyle/>
          <a:p>
            <a:endParaRPr lang="en-GB"/>
          </a:p>
        </p:txBody>
      </p:sp>
      <p:pic>
        <p:nvPicPr>
          <p:cNvPr id="3" name="Object 2" descr="Anomalies &amp; Outliers"/>
          <p:cNvPicPr>
            <a:picLocks noChangeAspect="1"/>
          </p:cNvPicPr>
          <p:nvPr/>
        </p:nvPicPr>
        <p:blipFill>
          <a:blip r:embed="rId3"/>
          <a:srcRect l="32336" r="32336"/>
          <a:stretch/>
        </p:blipFill>
        <p:spPr>
          <a:xfrm>
            <a:off x="8004713" y="476131"/>
            <a:ext cx="3708108" cy="5904024"/>
          </a:xfrm>
          <a:prstGeom prst="rect">
            <a:avLst/>
          </a:prstGeom>
        </p:spPr>
      </p:pic>
      <p:sp>
        <p:nvSpPr>
          <p:cNvPr id="4" name="Object 3"/>
          <p:cNvSpPr/>
          <p:nvPr/>
        </p:nvSpPr>
        <p:spPr>
          <a:xfrm>
            <a:off x="152838" y="2288404"/>
            <a:ext cx="7699037" cy="555957"/>
          </a:xfrm>
          <a:prstGeom prst="rect">
            <a:avLst/>
          </a:prstGeom>
          <a:noFill/>
        </p:spPr>
        <p:txBody>
          <a:bodyPr wrap="square" lIns="0" tIns="0" rIns="0" bIns="0" rtlCol="0" anchor="ctr"/>
          <a:lstStyle/>
          <a:p>
            <a:pPr algn="ctr">
              <a:lnSpc>
                <a:spcPts val="4380"/>
              </a:lnSpc>
              <a:buNone/>
            </a:pPr>
            <a:r>
              <a:rPr lang="en-US" sz="3750" b="1" kern="0" spc="-225" dirty="0">
                <a:solidFill>
                  <a:srgbClr val="333333"/>
                </a:solidFill>
                <a:latin typeface="Inter" pitchFamily="34" charset="0"/>
                <a:ea typeface="Inter" pitchFamily="34" charset="-122"/>
                <a:cs typeface="Inter" pitchFamily="34" charset="-120"/>
              </a:rPr>
              <a:t>Anomalies &amp; Outliers</a:t>
            </a:r>
            <a:endParaRPr lang="en-US" dirty="0"/>
          </a:p>
        </p:txBody>
      </p:sp>
      <p:sp>
        <p:nvSpPr>
          <p:cNvPr id="5" name="Object 4"/>
          <p:cNvSpPr/>
          <p:nvPr/>
        </p:nvSpPr>
        <p:spPr>
          <a:xfrm>
            <a:off x="152838" y="2949259"/>
            <a:ext cx="7699037" cy="1584623"/>
          </a:xfrm>
          <a:prstGeom prst="rect">
            <a:avLst/>
          </a:prstGeom>
          <a:noFill/>
        </p:spPr>
        <p:txBody>
          <a:bodyPr wrap="square" lIns="0" tIns="0" rIns="0" bIns="0" rtlCol="0" anchor="ctr"/>
          <a:lstStyle/>
          <a:p>
            <a:pPr algn="ctr">
              <a:lnSpc>
                <a:spcPts val="2497"/>
              </a:lnSpc>
              <a:spcBef>
                <a:spcPts val="811"/>
              </a:spcBef>
              <a:buNone/>
            </a:pPr>
            <a:r>
              <a:rPr lang="en-US" sz="1800" kern="0" spc="-36" dirty="0">
                <a:solidFill>
                  <a:srgbClr val="000000">
                    <a:alpha val="56000"/>
                  </a:srgbClr>
                </a:solidFill>
                <a:latin typeface="Inter" pitchFamily="34" charset="0"/>
                <a:ea typeface="Inter" pitchFamily="34" charset="-122"/>
                <a:cs typeface="Inter" pitchFamily="34" charset="-120"/>
              </a:rPr>
              <a:t>The analysis identified a significant number of anomalies and outliers in the sales data, with 8.7% of records (163,898) classified as outliers using the IQR method. This includes 16,587 extreme positive outliers with the highest single sale of 912 units, as well as 9,669 extreme negative outliers with the lowest return of -60 units.</a:t>
            </a:r>
            <a:endParaRPr lang="en-US" dirty="0"/>
          </a:p>
        </p:txBody>
      </p:sp>
      <p:pic>
        <p:nvPicPr>
          <p:cNvPr id="6" name="Object 5"/>
          <p:cNvPicPr>
            <a:picLocks noChangeAspect="1"/>
          </p:cNvPicPr>
          <p:nvPr/>
        </p:nvPicPr>
        <p:blipFill>
          <a:blip r:embed="rId4"/>
          <a:stretch>
            <a:fillRect/>
          </a:stretch>
        </p:blipFill>
        <p:spPr>
          <a:xfrm>
            <a:off x="0" y="1714"/>
            <a:ext cx="12188952" cy="6856286"/>
          </a:xfrm>
          <a:prstGeom prst="rect">
            <a:avLst/>
          </a:prstGeom>
        </p:spPr>
      </p:pic>
      <p:sp>
        <p:nvSpPr>
          <p:cNvPr id="10" name="TextBox 9">
            <a:extLst>
              <a:ext uri="{FF2B5EF4-FFF2-40B4-BE49-F238E27FC236}">
                <a16:creationId xmlns:a16="http://schemas.microsoft.com/office/drawing/2014/main" id="{ABED683A-FE0E-4C02-8B6F-B51ADEB5F8FB}"/>
              </a:ext>
            </a:extLst>
          </p:cNvPr>
          <p:cNvSpPr txBox="1"/>
          <p:nvPr/>
        </p:nvSpPr>
        <p:spPr>
          <a:xfrm>
            <a:off x="345056" y="4638780"/>
            <a:ext cx="6630838" cy="1600438"/>
          </a:xfrm>
          <a:prstGeom prst="rect">
            <a:avLst/>
          </a:prstGeom>
          <a:noFill/>
        </p:spPr>
        <p:txBody>
          <a:bodyPr wrap="square">
            <a:spAutoFit/>
          </a:bodyPr>
          <a:lstStyle/>
          <a:p>
            <a:r>
              <a:rPr lang="en-GB" sz="1400" dirty="0"/>
              <a:t>IQR </a:t>
            </a:r>
            <a:r>
              <a:rPr lang="en-GB" sz="1400" dirty="0" err="1"/>
              <a:t>MethodThe</a:t>
            </a:r>
            <a:r>
              <a:rPr lang="en-GB" sz="1400" dirty="0"/>
              <a:t> IQR Method detects anomalies by measuring the spread of the middle 50% of data (between Q1 – 25th percentile and Q3 – 75th percentile).The Interquartile Range (IQR) is defined as:𝐼𝑄𝑅=𝑄3−𝑄1IQR=Q3−Q1Any value below Q1 – 1.5 × IQR or above Q3 + 1.5 × IQR is flagged as an </a:t>
            </a:r>
            <a:r>
              <a:rPr lang="en-GB" sz="1400" dirty="0" err="1"/>
              <a:t>outlier.This</a:t>
            </a:r>
            <a:r>
              <a:rPr lang="en-GB" sz="1400" dirty="0"/>
              <a:t> method is robust to skewness and works well with retail sales data, where extreme spikes or drops often distort </a:t>
            </a:r>
            <a:r>
              <a:rPr lang="en-GB" sz="1400" dirty="0" err="1"/>
              <a:t>averages.Applied</a:t>
            </a:r>
            <a:r>
              <a:rPr lang="en-GB" sz="1400" dirty="0"/>
              <a:t> here to remove abnormally high or low sales points (e.g., reporting errors, rare events), ensuring that clustering and predictive models rely on stable patterns.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bg>
      <p:bgPr>
        <a:solidFill>
          <a:srgbClr val="000000"/>
        </a:solidFill>
        <a:effectLst/>
      </p:bgPr>
    </p:bg>
    <p:spTree>
      <p:nvGrpSpPr>
        <p:cNvPr id="1" name=""/>
        <p:cNvGrpSpPr/>
        <p:nvPr/>
      </p:nvGrpSpPr>
      <p:grpSpPr>
        <a:xfrm>
          <a:off x="0" y="0"/>
          <a:ext cx="0" cy="0"/>
          <a:chOff x="0" y="0"/>
          <a:chExt cx="0" cy="0"/>
        </a:xfrm>
      </p:grpSpPr>
      <p:sp>
        <p:nvSpPr>
          <p:cNvPr id="2" name="Object 1"/>
          <p:cNvSpPr/>
          <p:nvPr/>
        </p:nvSpPr>
        <p:spPr>
          <a:xfrm>
            <a:off x="952262" y="1536006"/>
            <a:ext cx="5446897" cy="4515395"/>
          </a:xfrm>
          <a:prstGeom prst="rect">
            <a:avLst/>
          </a:prstGeom>
          <a:noFill/>
        </p:spPr>
        <p:txBody>
          <a:bodyPr wrap="square" lIns="0" tIns="0" rIns="0" bIns="0" rtlCol="0" anchor="t"/>
          <a:lstStyle/>
          <a:p>
            <a:pPr marL="242900" indent="-242900" algn="l">
              <a:lnSpc>
                <a:spcPts val="3154"/>
              </a:lnSpc>
              <a:buSzPct val="100000"/>
              <a:buChar char="•"/>
            </a:pPr>
            <a:r>
              <a:rPr lang="en-US" sz="2700" b="1" kern="0" spc="-162" dirty="0">
                <a:solidFill>
                  <a:srgbClr val="FFFFFF"/>
                </a:solidFill>
                <a:latin typeface="Inter" pitchFamily="34" charset="0"/>
                <a:ea typeface="Inter" pitchFamily="34" charset="-122"/>
                <a:cs typeface="Inter" pitchFamily="34" charset="-120"/>
              </a:rPr>
              <a:t>Recurring Sales Spikes</a:t>
            </a:r>
          </a:p>
          <a:p>
            <a:pPr lvl="1" algn="l">
              <a:lnSpc>
                <a:spcPts val="2392"/>
              </a:lnSpc>
              <a:spcBef>
                <a:spcPts val="330"/>
              </a:spcBef>
              <a:buNone/>
            </a:pPr>
            <a:r>
              <a:rPr lang="en-US" sz="1725" kern="0" spc="-34" dirty="0">
                <a:solidFill>
                  <a:srgbClr val="FFFFFF">
                    <a:alpha val="80000"/>
                  </a:srgbClr>
                </a:solidFill>
                <a:latin typeface="Inter" pitchFamily="34" charset="0"/>
                <a:ea typeface="Inter" pitchFamily="34" charset="-122"/>
                <a:cs typeface="Inter" pitchFamily="34" charset="-120"/>
              </a:rPr>
              <a:t>Daily sales exhibit recurring spikes, likely due to weekends and promotional periods.</a:t>
            </a:r>
          </a:p>
          <a:p>
            <a:pPr marL="242900" indent="-242900" algn="l">
              <a:lnSpc>
                <a:spcPts val="3154"/>
              </a:lnSpc>
              <a:spcBef>
                <a:spcPts val="2545"/>
              </a:spcBef>
              <a:buSzPct val="100000"/>
              <a:buChar char="•"/>
            </a:pPr>
            <a:r>
              <a:rPr lang="en-US" sz="2700" b="1" kern="0" spc="-162" dirty="0">
                <a:solidFill>
                  <a:srgbClr val="FFFFFF"/>
                </a:solidFill>
                <a:latin typeface="Inter" pitchFamily="34" charset="0"/>
                <a:ea typeface="Inter" pitchFamily="34" charset="-122"/>
                <a:cs typeface="Inter" pitchFamily="34" charset="-120"/>
              </a:rPr>
              <a:t>Seasonal Sales Trends</a:t>
            </a:r>
          </a:p>
          <a:p>
            <a:pPr lvl="1" algn="l">
              <a:lnSpc>
                <a:spcPts val="2392"/>
              </a:lnSpc>
              <a:spcBef>
                <a:spcPts val="330"/>
              </a:spcBef>
              <a:buNone/>
            </a:pPr>
            <a:r>
              <a:rPr lang="en-US" sz="1725" kern="0" spc="-34" dirty="0">
                <a:solidFill>
                  <a:srgbClr val="FFFFFF">
                    <a:alpha val="80000"/>
                  </a:srgbClr>
                </a:solidFill>
                <a:latin typeface="Inter" pitchFamily="34" charset="0"/>
                <a:ea typeface="Inter" pitchFamily="34" charset="-122"/>
                <a:cs typeface="Inter" pitchFamily="34" charset="-120"/>
              </a:rPr>
              <a:t>Monthly sales patterns show a seasonal arc, peaking in Q1-Q2 and cooling in Q3.</a:t>
            </a:r>
          </a:p>
          <a:p>
            <a:pPr marL="242900" indent="-242900" algn="l">
              <a:lnSpc>
                <a:spcPts val="3154"/>
              </a:lnSpc>
              <a:spcBef>
                <a:spcPts val="2545"/>
              </a:spcBef>
              <a:buSzPct val="100000"/>
              <a:buChar char="•"/>
            </a:pPr>
            <a:r>
              <a:rPr lang="en-US" sz="2700" b="1" kern="0" spc="-162" dirty="0">
                <a:solidFill>
                  <a:srgbClr val="FFFFFF"/>
                </a:solidFill>
                <a:latin typeface="Inter" pitchFamily="34" charset="0"/>
                <a:ea typeface="Inter" pitchFamily="34" charset="-122"/>
                <a:cs typeface="Inter" pitchFamily="34" charset="-120"/>
              </a:rPr>
              <a:t>Weekday vs. Weekend Differences</a:t>
            </a:r>
          </a:p>
          <a:p>
            <a:pPr lvl="1" algn="l">
              <a:lnSpc>
                <a:spcPts val="2392"/>
              </a:lnSpc>
              <a:spcBef>
                <a:spcPts val="330"/>
              </a:spcBef>
              <a:buNone/>
            </a:pPr>
            <a:r>
              <a:rPr lang="en-US" sz="1725" kern="0" spc="-34" dirty="0">
                <a:solidFill>
                  <a:srgbClr val="FFFFFF">
                    <a:alpha val="80000"/>
                  </a:srgbClr>
                </a:solidFill>
                <a:latin typeface="Inter" pitchFamily="34" charset="0"/>
                <a:ea typeface="Inter" pitchFamily="34" charset="-122"/>
                <a:cs typeface="Inter" pitchFamily="34" charset="-120"/>
              </a:rPr>
              <a:t>Fridays and Sundays are the top sales days, with higher average basket sizes. Return rates are slightly elevated on weekends.</a:t>
            </a:r>
            <a:endParaRPr lang="en-US" dirty="0"/>
          </a:p>
        </p:txBody>
      </p:sp>
      <p:sp>
        <p:nvSpPr>
          <p:cNvPr id="3" name="Object 2"/>
          <p:cNvSpPr/>
          <p:nvPr/>
        </p:nvSpPr>
        <p:spPr>
          <a:xfrm>
            <a:off x="6284928" y="1536006"/>
            <a:ext cx="5446897" cy="3438856"/>
          </a:xfrm>
          <a:prstGeom prst="rect">
            <a:avLst/>
          </a:prstGeom>
          <a:noFill/>
        </p:spPr>
        <p:txBody>
          <a:bodyPr wrap="square" lIns="0" tIns="0" rIns="0" bIns="0" rtlCol="0" anchor="t"/>
          <a:lstStyle/>
          <a:p>
            <a:pPr marL="242900" indent="-242900" algn="l">
              <a:lnSpc>
                <a:spcPts val="3154"/>
              </a:lnSpc>
              <a:buSzPct val="100000"/>
              <a:buChar char="•"/>
            </a:pPr>
            <a:r>
              <a:rPr lang="en-US" sz="2700" b="1" kern="0" spc="-162" dirty="0">
                <a:solidFill>
                  <a:srgbClr val="FFFFFF"/>
                </a:solidFill>
                <a:latin typeface="Inter" pitchFamily="34" charset="0"/>
                <a:ea typeface="Inter" pitchFamily="34" charset="-122"/>
                <a:cs typeface="Inter" pitchFamily="34" charset="-120"/>
              </a:rPr>
              <a:t>Concentrated Store &amp; Product Performance</a:t>
            </a:r>
          </a:p>
          <a:p>
            <a:pPr lvl="1" algn="l">
              <a:lnSpc>
                <a:spcPts val="2392"/>
              </a:lnSpc>
              <a:spcBef>
                <a:spcPts val="330"/>
              </a:spcBef>
              <a:buNone/>
            </a:pPr>
            <a:r>
              <a:rPr lang="en-US" sz="1725" kern="0" spc="-34" dirty="0">
                <a:solidFill>
                  <a:srgbClr val="FFFFFF">
                    <a:alpha val="80000"/>
                  </a:srgbClr>
                </a:solidFill>
                <a:latin typeface="Inter" pitchFamily="34" charset="0"/>
                <a:ea typeface="Inter" pitchFamily="34" charset="-122"/>
                <a:cs typeface="Inter" pitchFamily="34" charset="-120"/>
              </a:rPr>
              <a:t>Sales are highly concentrated in a few high-performing stores and products, with a long tail of low-volume outlets and SKUs.</a:t>
            </a:r>
          </a:p>
          <a:p>
            <a:pPr marL="242900" indent="-242900" algn="l">
              <a:lnSpc>
                <a:spcPts val="3154"/>
              </a:lnSpc>
              <a:spcBef>
                <a:spcPts val="2545"/>
              </a:spcBef>
              <a:buSzPct val="100000"/>
              <a:buChar char="•"/>
            </a:pPr>
            <a:r>
              <a:rPr lang="en-US" sz="2700" b="1" kern="0" spc="-162" dirty="0">
                <a:solidFill>
                  <a:srgbClr val="FFFFFF"/>
                </a:solidFill>
                <a:latin typeface="Inter" pitchFamily="34" charset="0"/>
                <a:ea typeface="Inter" pitchFamily="34" charset="-122"/>
                <a:cs typeface="Inter" pitchFamily="34" charset="-120"/>
              </a:rPr>
              <a:t>Anomalous Returns</a:t>
            </a:r>
          </a:p>
          <a:p>
            <a:pPr lvl="1" algn="l">
              <a:lnSpc>
                <a:spcPts val="2392"/>
              </a:lnSpc>
              <a:spcBef>
                <a:spcPts val="330"/>
              </a:spcBef>
              <a:buNone/>
            </a:pPr>
            <a:r>
              <a:rPr lang="en-US" sz="1725" kern="0" spc="-34" dirty="0">
                <a:solidFill>
                  <a:srgbClr val="FFFFFF">
                    <a:alpha val="80000"/>
                  </a:srgbClr>
                </a:solidFill>
                <a:latin typeface="Inter" pitchFamily="34" charset="0"/>
                <a:ea typeface="Inter" pitchFamily="34" charset="-122"/>
                <a:cs typeface="Inter" pitchFamily="34" charset="-120"/>
              </a:rPr>
              <a:t>8.7% of records are identified as outliers, including extreme positive and negative sales spikes.</a:t>
            </a:r>
            <a:endParaRPr lang="en-US" dirty="0"/>
          </a:p>
        </p:txBody>
      </p:sp>
      <p:sp>
        <p:nvSpPr>
          <p:cNvPr id="4" name="Object 3"/>
          <p:cNvSpPr/>
          <p:nvPr/>
        </p:nvSpPr>
        <p:spPr>
          <a:xfrm>
            <a:off x="11798525" y="6496211"/>
            <a:ext cx="199975" cy="237693"/>
          </a:xfrm>
          <a:prstGeom prst="rect">
            <a:avLst/>
          </a:prstGeom>
          <a:noFill/>
        </p:spPr>
        <p:txBody>
          <a:bodyPr/>
          <a:lstStyle/>
          <a:p>
            <a:endParaRPr lang="en-GB"/>
          </a:p>
        </p:txBody>
      </p:sp>
      <p:pic>
        <p:nvPicPr>
          <p:cNvPr id="5" name="Object 4"/>
          <p:cNvPicPr>
            <a:picLocks noChangeAspect="1"/>
          </p:cNvPicPr>
          <p:nvPr/>
        </p:nvPicPr>
        <p:blipFill>
          <a:blip r:embed="rId3"/>
          <a:stretch>
            <a:fillRect/>
          </a:stretch>
        </p:blipFill>
        <p:spPr>
          <a:xfrm>
            <a:off x="0" y="0"/>
            <a:ext cx="12188952" cy="6856286"/>
          </a:xfrm>
          <a:prstGeom prst="rect">
            <a:avLst/>
          </a:prstGeom>
        </p:spPr>
      </p:pic>
      <p:sp>
        <p:nvSpPr>
          <p:cNvPr id="6" name="Object 5"/>
          <p:cNvSpPr/>
          <p:nvPr/>
        </p:nvSpPr>
        <p:spPr>
          <a:xfrm>
            <a:off x="0" y="374246"/>
            <a:ext cx="12188915" cy="556069"/>
          </a:xfrm>
          <a:prstGeom prst="rect">
            <a:avLst/>
          </a:prstGeom>
          <a:noFill/>
        </p:spPr>
        <p:txBody>
          <a:bodyPr wrap="square" lIns="0" tIns="0" rIns="0" bIns="0" rtlCol="0" anchor="t"/>
          <a:lstStyle/>
          <a:p>
            <a:pPr algn="ctr">
              <a:lnSpc>
                <a:spcPts val="4380"/>
              </a:lnSpc>
              <a:buNone/>
            </a:pPr>
            <a:r>
              <a:rPr lang="en-US" sz="3750" b="1" kern="0" spc="-225" dirty="0">
                <a:solidFill>
                  <a:srgbClr val="FFFFFF"/>
                </a:solidFill>
                <a:latin typeface="Inter" pitchFamily="34" charset="0"/>
                <a:ea typeface="Inter" pitchFamily="34" charset="-122"/>
                <a:cs typeface="Inter" pitchFamily="34" charset="-120"/>
              </a:rPr>
              <a:t>Key Descriptive Insights</a:t>
            </a:r>
            <a:endParaRPr lang="en-US" dirty="0"/>
          </a:p>
        </p:txBody>
      </p:sp>
      <p:sp>
        <p:nvSpPr>
          <p:cNvPr id="25" name="Slide Number Placeholder 24"/>
          <p:cNvSpPr>
            <a:spLocks noGrp="1"/>
          </p:cNvSpPr>
          <p:nvPr>
            <p:ph type="sldNum" sz="quarter" idx="12"/>
          </p:nvPr>
        </p:nvSpPr>
        <p:spPr>
          <a:xfrm>
            <a:off x="11826240" y="6515100"/>
            <a:ext cx="800000" cy="300000"/>
          </a:xfrm>
          <a:prstGeom prst="rect">
            <a:avLst/>
          </a:prstGeom>
          <a:extLst>
            <a:ext uri="{C572A759-6A51-4108-AA02-DFA0A04FC94B}">
              <ma14:wrappingTextBoxFlag xmlns:ma14="http://schemas.microsoft.com/office/mac/drawingml/2011/main" xmlns="" val="0"/>
            </a:ext>
          </a:extLst>
        </p:spPr>
        <p:txBody>
          <a:bodyPr/>
          <a:lstStyle>
            <a:lvl1pPr>
              <a:defRPr sz="1100"/>
            </a:lvl1pPr>
          </a:lstStyle>
          <a:p>
            <a:fld id="{F7021451-1387-4CA6-816F-3879F97B5CBC}" type="slidenum">
              <a:rPr lang="en-US" smtClean="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4D32E2D-5044-0E80-C425-6DFEE0FE1732}"/>
            </a:ext>
          </a:extLst>
        </p:cNvPr>
        <p:cNvGrpSpPr/>
        <p:nvPr/>
      </p:nvGrpSpPr>
      <p:grpSpPr>
        <a:xfrm>
          <a:off x="0" y="0"/>
          <a:ext cx="0" cy="0"/>
          <a:chOff x="0" y="0"/>
          <a:chExt cx="0" cy="0"/>
        </a:xfrm>
      </p:grpSpPr>
      <p:sp>
        <p:nvSpPr>
          <p:cNvPr id="2" name="Object 1">
            <a:extLst>
              <a:ext uri="{FF2B5EF4-FFF2-40B4-BE49-F238E27FC236}">
                <a16:creationId xmlns:a16="http://schemas.microsoft.com/office/drawing/2014/main" id="{CCC94A10-6450-DE8F-0113-EB724D09B67A}"/>
              </a:ext>
            </a:extLst>
          </p:cNvPr>
          <p:cNvSpPr/>
          <p:nvPr/>
        </p:nvSpPr>
        <p:spPr>
          <a:xfrm>
            <a:off x="634276" y="640080"/>
            <a:ext cx="4208656" cy="3034857"/>
          </a:xfrm>
          <a:prstGeom prst="rect">
            <a:avLst/>
          </a:prstGeom>
        </p:spPr>
        <p:txBody>
          <a:bodyPr vert="horz" lIns="91440" tIns="45720" rIns="91440" bIns="45720" rtlCol="0" anchor="b">
            <a:normAutofit/>
          </a:bodyPr>
          <a:lstStyle/>
          <a:p>
            <a:pPr algn="r" defTabSz="914400">
              <a:lnSpc>
                <a:spcPct val="80000"/>
              </a:lnSpc>
              <a:spcBef>
                <a:spcPct val="0"/>
              </a:spcBef>
              <a:spcAft>
                <a:spcPts val="600"/>
              </a:spcAft>
            </a:pPr>
            <a:r>
              <a:rPr lang="en-US" sz="4400" b="1" kern="1200" cap="all" spc="200" baseline="0" dirty="0">
                <a:latin typeface="+mj-lt"/>
                <a:ea typeface="+mj-ea"/>
                <a:cs typeface="+mj-cs"/>
              </a:rPr>
              <a:t>KPI SUMMARY</a:t>
            </a:r>
            <a:endParaRPr lang="en-US" sz="4400" kern="1200" cap="all" spc="200" baseline="0" dirty="0">
              <a:latin typeface="+mj-lt"/>
              <a:ea typeface="+mj-ea"/>
              <a:cs typeface="+mj-cs"/>
            </a:endParaRPr>
          </a:p>
        </p:txBody>
      </p:sp>
      <p:sp>
        <p:nvSpPr>
          <p:cNvPr id="8" name="Rectangle 1">
            <a:extLst>
              <a:ext uri="{FF2B5EF4-FFF2-40B4-BE49-F238E27FC236}">
                <a16:creationId xmlns:a16="http://schemas.microsoft.com/office/drawing/2014/main" id="{99D2E161-798E-34FD-EBC7-0F3730587A4A}"/>
              </a:ext>
            </a:extLst>
          </p:cNvPr>
          <p:cNvSpPr>
            <a:spLocks noChangeArrowheads="1"/>
          </p:cNvSpPr>
          <p:nvPr/>
        </p:nvSpPr>
        <p:spPr bwMode="auto">
          <a:xfrm>
            <a:off x="638921" y="3849539"/>
            <a:ext cx="4204012" cy="2359417"/>
          </a:xfrm>
          <a:prstGeom prst="rect">
            <a:avLst/>
          </a:prstGeom>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lIns="91440" tIns="45720" rIns="91440" bIns="45720" numCol="1" rtlCol="0" anchor="t" anchorCtr="0" compatLnSpc="1">
            <a:prstTxWarp prst="textNoShape">
              <a:avLst/>
            </a:prstTxWarp>
            <a:normAutofit/>
          </a:bodyPr>
          <a:lstStyle/>
          <a:p>
            <a:pPr marR="0" lvl="0" algn="r" defTabSz="914400" fontAlgn="base">
              <a:spcAft>
                <a:spcPts val="200"/>
              </a:spcAft>
              <a:buClr>
                <a:schemeClr val="accent1"/>
              </a:buClr>
              <a:buSzPct val="100000"/>
              <a:tabLst/>
            </a:pPr>
            <a:r>
              <a:rPr kumimoji="0" lang="en-US" altLang="en-US" sz="1600" b="0" i="0" u="none" strike="noStrike" cap="none" normalizeH="0" baseline="0">
                <a:ln>
                  <a:noFill/>
                </a:ln>
                <a:solidFill>
                  <a:srgbClr val="FFFFFF"/>
                </a:solidFill>
                <a:effectLst/>
              </a:rPr>
              <a:t>IMPORTANT KPI</a:t>
            </a:r>
          </a:p>
        </p:txBody>
      </p:sp>
      <p:sp>
        <p:nvSpPr>
          <p:cNvPr id="25" name="Slide Number Placeholder 24">
            <a:extLst>
              <a:ext uri="{FF2B5EF4-FFF2-40B4-BE49-F238E27FC236}">
                <a16:creationId xmlns:a16="http://schemas.microsoft.com/office/drawing/2014/main" id="{B6EBB91F-54AB-2ADA-CF3D-06FDEB4BE69E}"/>
              </a:ext>
            </a:extLst>
          </p:cNvPr>
          <p:cNvSpPr>
            <a:spLocks noGrp="1"/>
          </p:cNvSpPr>
          <p:nvPr>
            <p:ph type="sldNum" sz="quarter" idx="12"/>
          </p:nvPr>
        </p:nvSpPr>
        <p:spPr>
          <a:prstGeom prst="rect">
            <a:avLst/>
          </a:prstGeom>
          <a:extLst>
            <a:ext uri="{C572A759-6A51-4108-AA02-DFA0A04FC94B}">
              <ma14:wrappingTextBoxFlag xmlns="" xmlns:ma14="http://schemas.microsoft.com/office/mac/drawingml/2011/main" val="0"/>
            </a:ext>
          </a:extLst>
        </p:spPr>
        <p:txBody>
          <a:bodyPr vert="horz" lIns="91440" tIns="45720" rIns="91440" bIns="45720" rtlCol="0" anchor="ctr">
            <a:normAutofit/>
          </a:bodyPr>
          <a:lstStyle>
            <a:lvl1pPr>
              <a:defRPr sz="1100"/>
            </a:lvl1pPr>
          </a:lstStyle>
          <a:p>
            <a:pPr defTabSz="914400">
              <a:spcAft>
                <a:spcPts val="600"/>
              </a:spcAft>
            </a:pPr>
            <a:fld id="{F7021451-1387-4CA6-816F-3879F97B5CBC}" type="slidenum">
              <a:rPr lang="en-US" sz="1000"/>
              <a:pPr defTabSz="914400">
                <a:spcAft>
                  <a:spcPts val="600"/>
                </a:spcAft>
              </a:pPr>
              <a:t>2</a:t>
            </a:fld>
            <a:endParaRPr lang="en-US" sz="1000"/>
          </a:p>
        </p:txBody>
      </p:sp>
      <p:sp>
        <p:nvSpPr>
          <p:cNvPr id="3" name="Object 2">
            <a:extLst>
              <a:ext uri="{FF2B5EF4-FFF2-40B4-BE49-F238E27FC236}">
                <a16:creationId xmlns:a16="http://schemas.microsoft.com/office/drawing/2014/main" id="{E4CB50F8-06B8-18D4-E872-7C3254463250}"/>
              </a:ext>
            </a:extLst>
          </p:cNvPr>
          <p:cNvSpPr/>
          <p:nvPr/>
        </p:nvSpPr>
        <p:spPr>
          <a:xfrm>
            <a:off x="952262" y="1596824"/>
            <a:ext cx="5446774" cy="4379809"/>
          </a:xfrm>
          <a:prstGeom prst="rect">
            <a:avLst/>
          </a:prstGeom>
          <a:noFill/>
        </p:spPr>
        <p:txBody>
          <a:bodyPr wrap="square" lIns="0" tIns="0" rIns="0" bIns="0" rtlCol="0" anchor="t"/>
          <a:lstStyle/>
          <a:p>
            <a:pPr marL="242900" indent="-242900" algn="l">
              <a:lnSpc>
                <a:spcPts val="2996"/>
              </a:lnSpc>
              <a:buSzPct val="100000"/>
              <a:buChar char="•"/>
            </a:pPr>
            <a:endParaRPr lang="en-US" dirty="0"/>
          </a:p>
        </p:txBody>
      </p:sp>
      <p:sp>
        <p:nvSpPr>
          <p:cNvPr id="4" name="Object 3">
            <a:extLst>
              <a:ext uri="{FF2B5EF4-FFF2-40B4-BE49-F238E27FC236}">
                <a16:creationId xmlns:a16="http://schemas.microsoft.com/office/drawing/2014/main" id="{FBDAED27-5C6F-06EE-1D01-DFD4B8FE32B0}"/>
              </a:ext>
            </a:extLst>
          </p:cNvPr>
          <p:cNvSpPr/>
          <p:nvPr/>
        </p:nvSpPr>
        <p:spPr>
          <a:xfrm>
            <a:off x="6284928" y="1596824"/>
            <a:ext cx="5446774" cy="2020060"/>
          </a:xfrm>
          <a:prstGeom prst="rect">
            <a:avLst/>
          </a:prstGeom>
          <a:noFill/>
        </p:spPr>
        <p:txBody>
          <a:bodyPr wrap="square" lIns="0" tIns="0" rIns="0" bIns="0" rtlCol="0" anchor="t"/>
          <a:lstStyle/>
          <a:p>
            <a:pPr marL="242900" indent="-242900" algn="l">
              <a:lnSpc>
                <a:spcPts val="2996"/>
              </a:lnSpc>
              <a:buSzPct val="100000"/>
              <a:buChar char="•"/>
            </a:pPr>
            <a:endParaRPr lang="en-US" dirty="0"/>
          </a:p>
        </p:txBody>
      </p:sp>
      <p:sp>
        <p:nvSpPr>
          <p:cNvPr id="5" name="Object 4">
            <a:extLst>
              <a:ext uri="{FF2B5EF4-FFF2-40B4-BE49-F238E27FC236}">
                <a16:creationId xmlns:a16="http://schemas.microsoft.com/office/drawing/2014/main" id="{A290D947-2ACF-93DF-8C1F-DCAA7764A67B}"/>
              </a:ext>
            </a:extLst>
          </p:cNvPr>
          <p:cNvSpPr/>
          <p:nvPr/>
        </p:nvSpPr>
        <p:spPr>
          <a:xfrm>
            <a:off x="11798525" y="6496211"/>
            <a:ext cx="199975" cy="237693"/>
          </a:xfrm>
          <a:prstGeom prst="rect">
            <a:avLst/>
          </a:prstGeom>
          <a:noFill/>
        </p:spPr>
        <p:txBody>
          <a:bodyPr/>
          <a:lstStyle/>
          <a:p>
            <a:endParaRPr lang="en-GB"/>
          </a:p>
        </p:txBody>
      </p:sp>
      <p:graphicFrame>
        <p:nvGraphicFramePr>
          <p:cNvPr id="7" name="Table 6">
            <a:extLst>
              <a:ext uri="{FF2B5EF4-FFF2-40B4-BE49-F238E27FC236}">
                <a16:creationId xmlns:a16="http://schemas.microsoft.com/office/drawing/2014/main" id="{83DE151B-5D5E-0E00-8550-305757374916}"/>
              </a:ext>
            </a:extLst>
          </p:cNvPr>
          <p:cNvGraphicFramePr>
            <a:graphicFrameLocks noGrp="1"/>
          </p:cNvGraphicFramePr>
          <p:nvPr>
            <p:extLst>
              <p:ext uri="{D42A27DB-BD31-4B8C-83A1-F6EECF244321}">
                <p14:modId xmlns:p14="http://schemas.microsoft.com/office/powerpoint/2010/main" val="2468883934"/>
              </p:ext>
            </p:extLst>
          </p:nvPr>
        </p:nvGraphicFramePr>
        <p:xfrm>
          <a:off x="6096000" y="986868"/>
          <a:ext cx="5459471" cy="4885248"/>
        </p:xfrm>
        <a:graphic>
          <a:graphicData uri="http://schemas.openxmlformats.org/drawingml/2006/table">
            <a:tbl>
              <a:tblPr firstRow="1" firstCol="1" bandRow="1">
                <a:tableStyleId>{8EC20E35-A176-4012-BC5E-935CFFF8708E}</a:tableStyleId>
              </a:tblPr>
              <a:tblGrid>
                <a:gridCol w="2667001">
                  <a:extLst>
                    <a:ext uri="{9D8B030D-6E8A-4147-A177-3AD203B41FA5}">
                      <a16:colId xmlns:a16="http://schemas.microsoft.com/office/drawing/2014/main" val="4279027868"/>
                    </a:ext>
                  </a:extLst>
                </a:gridCol>
                <a:gridCol w="2792470">
                  <a:extLst>
                    <a:ext uri="{9D8B030D-6E8A-4147-A177-3AD203B41FA5}">
                      <a16:colId xmlns:a16="http://schemas.microsoft.com/office/drawing/2014/main" val="3491024331"/>
                    </a:ext>
                  </a:extLst>
                </a:gridCol>
              </a:tblGrid>
              <a:tr h="305328">
                <a:tc>
                  <a:txBody>
                    <a:bodyPr/>
                    <a:lstStyle/>
                    <a:p>
                      <a:pPr>
                        <a:lnSpc>
                          <a:spcPct val="115000"/>
                        </a:lnSpc>
                        <a:spcAft>
                          <a:spcPts val="1000"/>
                        </a:spcAft>
                        <a:buNone/>
                      </a:pPr>
                      <a:r>
                        <a:rPr lang="en-US" sz="1600">
                          <a:effectLst/>
                        </a:rPr>
                        <a:t>Metric</a:t>
                      </a:r>
                      <a:endParaRPr lang="en-GB" sz="1600">
                        <a:effectLst/>
                        <a:latin typeface="Aptos" panose="020B0004020202020204" pitchFamily="34" charset="0"/>
                        <a:ea typeface="Times New Roman" panose="02020603050405020304" pitchFamily="18" charset="0"/>
                        <a:cs typeface="Times New Roman" panose="02020603050405020304" pitchFamily="18" charset="0"/>
                      </a:endParaRPr>
                    </a:p>
                  </a:txBody>
                  <a:tcPr marL="102449" marR="102449" marT="0" marB="0"/>
                </a:tc>
                <a:tc>
                  <a:txBody>
                    <a:bodyPr/>
                    <a:lstStyle/>
                    <a:p>
                      <a:pPr>
                        <a:lnSpc>
                          <a:spcPct val="115000"/>
                        </a:lnSpc>
                        <a:spcAft>
                          <a:spcPts val="1000"/>
                        </a:spcAft>
                        <a:buNone/>
                      </a:pPr>
                      <a:r>
                        <a:rPr lang="en-US" sz="1600">
                          <a:effectLst/>
                        </a:rPr>
                        <a:t>Value</a:t>
                      </a:r>
                      <a:endParaRPr lang="en-GB" sz="1600">
                        <a:effectLst/>
                        <a:latin typeface="Aptos" panose="020B0004020202020204" pitchFamily="34" charset="0"/>
                        <a:ea typeface="Times New Roman" panose="02020603050405020304" pitchFamily="18" charset="0"/>
                        <a:cs typeface="Times New Roman" panose="02020603050405020304" pitchFamily="18" charset="0"/>
                      </a:endParaRPr>
                    </a:p>
                  </a:txBody>
                  <a:tcPr marL="102449" marR="102449" marT="0" marB="0"/>
                </a:tc>
                <a:extLst>
                  <a:ext uri="{0D108BD9-81ED-4DB2-BD59-A6C34878D82A}">
                    <a16:rowId xmlns:a16="http://schemas.microsoft.com/office/drawing/2014/main" val="1254727811"/>
                  </a:ext>
                </a:extLst>
              </a:tr>
              <a:tr h="305328">
                <a:tc>
                  <a:txBody>
                    <a:bodyPr/>
                    <a:lstStyle/>
                    <a:p>
                      <a:pPr>
                        <a:lnSpc>
                          <a:spcPct val="115000"/>
                        </a:lnSpc>
                        <a:spcAft>
                          <a:spcPts val="1000"/>
                        </a:spcAft>
                        <a:buNone/>
                      </a:pPr>
                      <a:r>
                        <a:rPr lang="en-US" sz="1600">
                          <a:effectLst/>
                        </a:rPr>
                        <a:t>Date Range</a:t>
                      </a:r>
                      <a:endParaRPr lang="en-GB" sz="1600">
                        <a:effectLst/>
                        <a:latin typeface="Aptos" panose="020B0004020202020204" pitchFamily="34" charset="0"/>
                        <a:ea typeface="Times New Roman" panose="02020603050405020304" pitchFamily="18" charset="0"/>
                        <a:cs typeface="Times New Roman" panose="02020603050405020304" pitchFamily="18" charset="0"/>
                      </a:endParaRPr>
                    </a:p>
                  </a:txBody>
                  <a:tcPr marL="102449" marR="102449" marT="0" marB="0"/>
                </a:tc>
                <a:tc>
                  <a:txBody>
                    <a:bodyPr/>
                    <a:lstStyle/>
                    <a:p>
                      <a:pPr>
                        <a:lnSpc>
                          <a:spcPct val="115000"/>
                        </a:lnSpc>
                        <a:spcAft>
                          <a:spcPts val="1000"/>
                        </a:spcAft>
                        <a:buNone/>
                      </a:pPr>
                      <a:r>
                        <a:rPr lang="en-US" sz="1600">
                          <a:effectLst/>
                        </a:rPr>
                        <a:t>01/01/2015 to 31/07/2015</a:t>
                      </a:r>
                      <a:endParaRPr lang="en-GB" sz="1600">
                        <a:effectLst/>
                        <a:latin typeface="Aptos" panose="020B0004020202020204" pitchFamily="34" charset="0"/>
                        <a:ea typeface="Times New Roman" panose="02020603050405020304" pitchFamily="18" charset="0"/>
                        <a:cs typeface="Times New Roman" panose="02020603050405020304" pitchFamily="18" charset="0"/>
                      </a:endParaRPr>
                    </a:p>
                  </a:txBody>
                  <a:tcPr marL="102449" marR="102449" marT="0" marB="0"/>
                </a:tc>
                <a:extLst>
                  <a:ext uri="{0D108BD9-81ED-4DB2-BD59-A6C34878D82A}">
                    <a16:rowId xmlns:a16="http://schemas.microsoft.com/office/drawing/2014/main" val="2334146114"/>
                  </a:ext>
                </a:extLst>
              </a:tr>
              <a:tr h="305328">
                <a:tc>
                  <a:txBody>
                    <a:bodyPr/>
                    <a:lstStyle/>
                    <a:p>
                      <a:pPr>
                        <a:lnSpc>
                          <a:spcPct val="115000"/>
                        </a:lnSpc>
                        <a:spcAft>
                          <a:spcPts val="1000"/>
                        </a:spcAft>
                        <a:buNone/>
                      </a:pPr>
                      <a:r>
                        <a:rPr lang="en-US" sz="1600">
                          <a:effectLst/>
                        </a:rPr>
                        <a:t>Total Days</a:t>
                      </a:r>
                      <a:endParaRPr lang="en-GB" sz="1600">
                        <a:effectLst/>
                        <a:latin typeface="Aptos" panose="020B0004020202020204" pitchFamily="34" charset="0"/>
                        <a:ea typeface="Times New Roman" panose="02020603050405020304" pitchFamily="18" charset="0"/>
                        <a:cs typeface="Times New Roman" panose="02020603050405020304" pitchFamily="18" charset="0"/>
                      </a:endParaRPr>
                    </a:p>
                  </a:txBody>
                  <a:tcPr marL="102449" marR="102449" marT="0" marB="0"/>
                </a:tc>
                <a:tc>
                  <a:txBody>
                    <a:bodyPr/>
                    <a:lstStyle/>
                    <a:p>
                      <a:pPr>
                        <a:lnSpc>
                          <a:spcPct val="115000"/>
                        </a:lnSpc>
                        <a:spcAft>
                          <a:spcPts val="1000"/>
                        </a:spcAft>
                        <a:buNone/>
                      </a:pPr>
                      <a:r>
                        <a:rPr lang="en-US" sz="1600">
                          <a:effectLst/>
                        </a:rPr>
                        <a:t>212</a:t>
                      </a:r>
                      <a:endParaRPr lang="en-GB" sz="1600">
                        <a:effectLst/>
                        <a:latin typeface="Aptos" panose="020B0004020202020204" pitchFamily="34" charset="0"/>
                        <a:ea typeface="Times New Roman" panose="02020603050405020304" pitchFamily="18" charset="0"/>
                        <a:cs typeface="Times New Roman" panose="02020603050405020304" pitchFamily="18" charset="0"/>
                      </a:endParaRPr>
                    </a:p>
                  </a:txBody>
                  <a:tcPr marL="102449" marR="102449" marT="0" marB="0"/>
                </a:tc>
                <a:extLst>
                  <a:ext uri="{0D108BD9-81ED-4DB2-BD59-A6C34878D82A}">
                    <a16:rowId xmlns:a16="http://schemas.microsoft.com/office/drawing/2014/main" val="326581193"/>
                  </a:ext>
                </a:extLst>
              </a:tr>
              <a:tr h="305328">
                <a:tc>
                  <a:txBody>
                    <a:bodyPr/>
                    <a:lstStyle/>
                    <a:p>
                      <a:pPr>
                        <a:lnSpc>
                          <a:spcPct val="115000"/>
                        </a:lnSpc>
                        <a:spcAft>
                          <a:spcPts val="1000"/>
                        </a:spcAft>
                        <a:buNone/>
                      </a:pPr>
                      <a:r>
                        <a:rPr lang="en-US" sz="1600">
                          <a:effectLst/>
                        </a:rPr>
                        <a:t>Avg Daily Sales</a:t>
                      </a:r>
                      <a:endParaRPr lang="en-GB" sz="1600">
                        <a:effectLst/>
                        <a:latin typeface="Aptos" panose="020B0004020202020204" pitchFamily="34" charset="0"/>
                        <a:ea typeface="Times New Roman" panose="02020603050405020304" pitchFamily="18" charset="0"/>
                        <a:cs typeface="Times New Roman" panose="02020603050405020304" pitchFamily="18" charset="0"/>
                      </a:endParaRPr>
                    </a:p>
                  </a:txBody>
                  <a:tcPr marL="102449" marR="102449" marT="0" marB="0"/>
                </a:tc>
                <a:tc>
                  <a:txBody>
                    <a:bodyPr/>
                    <a:lstStyle/>
                    <a:p>
                      <a:pPr>
                        <a:lnSpc>
                          <a:spcPct val="115000"/>
                        </a:lnSpc>
                        <a:spcAft>
                          <a:spcPts val="1000"/>
                        </a:spcAft>
                        <a:buNone/>
                      </a:pPr>
                      <a:r>
                        <a:rPr lang="en-US" sz="1600">
                          <a:effectLst/>
                        </a:rPr>
                        <a:t>19855.33</a:t>
                      </a:r>
                      <a:endParaRPr lang="en-GB" sz="1600">
                        <a:effectLst/>
                        <a:latin typeface="Aptos" panose="020B0004020202020204" pitchFamily="34" charset="0"/>
                        <a:ea typeface="Times New Roman" panose="02020603050405020304" pitchFamily="18" charset="0"/>
                        <a:cs typeface="Times New Roman" panose="02020603050405020304" pitchFamily="18" charset="0"/>
                      </a:endParaRPr>
                    </a:p>
                  </a:txBody>
                  <a:tcPr marL="102449" marR="102449" marT="0" marB="0"/>
                </a:tc>
                <a:extLst>
                  <a:ext uri="{0D108BD9-81ED-4DB2-BD59-A6C34878D82A}">
                    <a16:rowId xmlns:a16="http://schemas.microsoft.com/office/drawing/2014/main" val="3755051053"/>
                  </a:ext>
                </a:extLst>
              </a:tr>
              <a:tr h="305328">
                <a:tc>
                  <a:txBody>
                    <a:bodyPr/>
                    <a:lstStyle/>
                    <a:p>
                      <a:pPr>
                        <a:lnSpc>
                          <a:spcPct val="115000"/>
                        </a:lnSpc>
                        <a:spcAft>
                          <a:spcPts val="1000"/>
                        </a:spcAft>
                        <a:buNone/>
                      </a:pPr>
                      <a:r>
                        <a:rPr lang="en-US" sz="1600">
                          <a:effectLst/>
                        </a:rPr>
                        <a:t>Avg Daily Returns</a:t>
                      </a:r>
                      <a:endParaRPr lang="en-GB" sz="1600">
                        <a:effectLst/>
                        <a:latin typeface="Aptos" panose="020B0004020202020204" pitchFamily="34" charset="0"/>
                        <a:ea typeface="Times New Roman" panose="02020603050405020304" pitchFamily="18" charset="0"/>
                        <a:cs typeface="Times New Roman" panose="02020603050405020304" pitchFamily="18" charset="0"/>
                      </a:endParaRPr>
                    </a:p>
                  </a:txBody>
                  <a:tcPr marL="102449" marR="102449" marT="0" marB="0"/>
                </a:tc>
                <a:tc>
                  <a:txBody>
                    <a:bodyPr/>
                    <a:lstStyle/>
                    <a:p>
                      <a:pPr>
                        <a:lnSpc>
                          <a:spcPct val="115000"/>
                        </a:lnSpc>
                        <a:spcAft>
                          <a:spcPts val="1000"/>
                        </a:spcAft>
                        <a:buNone/>
                      </a:pPr>
                      <a:r>
                        <a:rPr lang="en-US" sz="1600">
                          <a:effectLst/>
                        </a:rPr>
                        <a:t>45.61</a:t>
                      </a:r>
                      <a:endParaRPr lang="en-GB" sz="1600">
                        <a:effectLst/>
                        <a:latin typeface="Aptos" panose="020B0004020202020204" pitchFamily="34" charset="0"/>
                        <a:ea typeface="Times New Roman" panose="02020603050405020304" pitchFamily="18" charset="0"/>
                        <a:cs typeface="Times New Roman" panose="02020603050405020304" pitchFamily="18" charset="0"/>
                      </a:endParaRPr>
                    </a:p>
                  </a:txBody>
                  <a:tcPr marL="102449" marR="102449" marT="0" marB="0"/>
                </a:tc>
                <a:extLst>
                  <a:ext uri="{0D108BD9-81ED-4DB2-BD59-A6C34878D82A}">
                    <a16:rowId xmlns:a16="http://schemas.microsoft.com/office/drawing/2014/main" val="52247760"/>
                  </a:ext>
                </a:extLst>
              </a:tr>
              <a:tr h="305328">
                <a:tc>
                  <a:txBody>
                    <a:bodyPr/>
                    <a:lstStyle/>
                    <a:p>
                      <a:pPr>
                        <a:lnSpc>
                          <a:spcPct val="115000"/>
                        </a:lnSpc>
                        <a:spcAft>
                          <a:spcPts val="1000"/>
                        </a:spcAft>
                        <a:buNone/>
                      </a:pPr>
                      <a:r>
                        <a:rPr lang="en-US" sz="1600">
                          <a:effectLst/>
                        </a:rPr>
                        <a:t>Total Stores</a:t>
                      </a:r>
                      <a:endParaRPr lang="en-GB" sz="1600">
                        <a:effectLst/>
                        <a:latin typeface="Aptos" panose="020B0004020202020204" pitchFamily="34" charset="0"/>
                        <a:ea typeface="Times New Roman" panose="02020603050405020304" pitchFamily="18" charset="0"/>
                        <a:cs typeface="Times New Roman" panose="02020603050405020304" pitchFamily="18" charset="0"/>
                      </a:endParaRPr>
                    </a:p>
                  </a:txBody>
                  <a:tcPr marL="102449" marR="102449" marT="0" marB="0"/>
                </a:tc>
                <a:tc>
                  <a:txBody>
                    <a:bodyPr/>
                    <a:lstStyle/>
                    <a:p>
                      <a:pPr>
                        <a:lnSpc>
                          <a:spcPct val="115000"/>
                        </a:lnSpc>
                        <a:spcAft>
                          <a:spcPts val="1000"/>
                        </a:spcAft>
                        <a:buNone/>
                      </a:pPr>
                      <a:r>
                        <a:rPr lang="en-US" sz="1600">
                          <a:effectLst/>
                        </a:rPr>
                        <a:t>340</a:t>
                      </a:r>
                      <a:endParaRPr lang="en-GB" sz="1600">
                        <a:effectLst/>
                        <a:latin typeface="Aptos" panose="020B0004020202020204" pitchFamily="34" charset="0"/>
                        <a:ea typeface="Times New Roman" panose="02020603050405020304" pitchFamily="18" charset="0"/>
                        <a:cs typeface="Times New Roman" panose="02020603050405020304" pitchFamily="18" charset="0"/>
                      </a:endParaRPr>
                    </a:p>
                  </a:txBody>
                  <a:tcPr marL="102449" marR="102449" marT="0" marB="0"/>
                </a:tc>
                <a:extLst>
                  <a:ext uri="{0D108BD9-81ED-4DB2-BD59-A6C34878D82A}">
                    <a16:rowId xmlns:a16="http://schemas.microsoft.com/office/drawing/2014/main" val="659188095"/>
                  </a:ext>
                </a:extLst>
              </a:tr>
              <a:tr h="305328">
                <a:tc>
                  <a:txBody>
                    <a:bodyPr/>
                    <a:lstStyle/>
                    <a:p>
                      <a:pPr>
                        <a:lnSpc>
                          <a:spcPct val="115000"/>
                        </a:lnSpc>
                        <a:spcAft>
                          <a:spcPts val="1000"/>
                        </a:spcAft>
                        <a:buNone/>
                      </a:pPr>
                      <a:r>
                        <a:rPr lang="en-US" sz="1600">
                          <a:effectLst/>
                        </a:rPr>
                        <a:t>Store Sales Range</a:t>
                      </a:r>
                      <a:endParaRPr lang="en-GB" sz="1600">
                        <a:effectLst/>
                        <a:latin typeface="Aptos" panose="020B0004020202020204" pitchFamily="34" charset="0"/>
                        <a:ea typeface="Times New Roman" panose="02020603050405020304" pitchFamily="18" charset="0"/>
                        <a:cs typeface="Times New Roman" panose="02020603050405020304" pitchFamily="18" charset="0"/>
                      </a:endParaRPr>
                    </a:p>
                  </a:txBody>
                  <a:tcPr marL="102449" marR="102449" marT="0" marB="0"/>
                </a:tc>
                <a:tc>
                  <a:txBody>
                    <a:bodyPr/>
                    <a:lstStyle/>
                    <a:p>
                      <a:pPr>
                        <a:lnSpc>
                          <a:spcPct val="115000"/>
                        </a:lnSpc>
                        <a:spcAft>
                          <a:spcPts val="1000"/>
                        </a:spcAft>
                        <a:buNone/>
                      </a:pPr>
                      <a:r>
                        <a:rPr lang="en-US" sz="1600">
                          <a:effectLst/>
                        </a:rPr>
                        <a:t>0 - 54059</a:t>
                      </a:r>
                      <a:endParaRPr lang="en-GB" sz="1600">
                        <a:effectLst/>
                        <a:latin typeface="Aptos" panose="020B0004020202020204" pitchFamily="34" charset="0"/>
                        <a:ea typeface="Times New Roman" panose="02020603050405020304" pitchFamily="18" charset="0"/>
                        <a:cs typeface="Times New Roman" panose="02020603050405020304" pitchFamily="18" charset="0"/>
                      </a:endParaRPr>
                    </a:p>
                  </a:txBody>
                  <a:tcPr marL="102449" marR="102449" marT="0" marB="0"/>
                </a:tc>
                <a:extLst>
                  <a:ext uri="{0D108BD9-81ED-4DB2-BD59-A6C34878D82A}">
                    <a16:rowId xmlns:a16="http://schemas.microsoft.com/office/drawing/2014/main" val="3194135693"/>
                  </a:ext>
                </a:extLst>
              </a:tr>
              <a:tr h="305328">
                <a:tc>
                  <a:txBody>
                    <a:bodyPr/>
                    <a:lstStyle/>
                    <a:p>
                      <a:pPr>
                        <a:lnSpc>
                          <a:spcPct val="115000"/>
                        </a:lnSpc>
                        <a:spcAft>
                          <a:spcPts val="1000"/>
                        </a:spcAft>
                        <a:buNone/>
                      </a:pPr>
                      <a:r>
                        <a:rPr lang="en-US" sz="1600">
                          <a:effectLst/>
                        </a:rPr>
                        <a:t>Avg Store Sales</a:t>
                      </a:r>
                      <a:endParaRPr lang="en-GB" sz="1600">
                        <a:effectLst/>
                        <a:latin typeface="Aptos" panose="020B0004020202020204" pitchFamily="34" charset="0"/>
                        <a:ea typeface="Times New Roman" panose="02020603050405020304" pitchFamily="18" charset="0"/>
                        <a:cs typeface="Times New Roman" panose="02020603050405020304" pitchFamily="18" charset="0"/>
                      </a:endParaRPr>
                    </a:p>
                  </a:txBody>
                  <a:tcPr marL="102449" marR="102449" marT="0" marB="0"/>
                </a:tc>
                <a:tc>
                  <a:txBody>
                    <a:bodyPr/>
                    <a:lstStyle/>
                    <a:p>
                      <a:pPr>
                        <a:lnSpc>
                          <a:spcPct val="115000"/>
                        </a:lnSpc>
                        <a:spcAft>
                          <a:spcPts val="1000"/>
                        </a:spcAft>
                        <a:buNone/>
                      </a:pPr>
                      <a:r>
                        <a:rPr lang="en-US" sz="1600">
                          <a:effectLst/>
                        </a:rPr>
                        <a:t>12380.38</a:t>
                      </a:r>
                      <a:endParaRPr lang="en-GB" sz="1600">
                        <a:effectLst/>
                        <a:latin typeface="Aptos" panose="020B0004020202020204" pitchFamily="34" charset="0"/>
                        <a:ea typeface="Times New Roman" panose="02020603050405020304" pitchFamily="18" charset="0"/>
                        <a:cs typeface="Times New Roman" panose="02020603050405020304" pitchFamily="18" charset="0"/>
                      </a:endParaRPr>
                    </a:p>
                  </a:txBody>
                  <a:tcPr marL="102449" marR="102449" marT="0" marB="0"/>
                </a:tc>
                <a:extLst>
                  <a:ext uri="{0D108BD9-81ED-4DB2-BD59-A6C34878D82A}">
                    <a16:rowId xmlns:a16="http://schemas.microsoft.com/office/drawing/2014/main" val="618865729"/>
                  </a:ext>
                </a:extLst>
              </a:tr>
              <a:tr h="305328">
                <a:tc>
                  <a:txBody>
                    <a:bodyPr/>
                    <a:lstStyle/>
                    <a:p>
                      <a:pPr>
                        <a:lnSpc>
                          <a:spcPct val="115000"/>
                        </a:lnSpc>
                        <a:spcAft>
                          <a:spcPts val="1000"/>
                        </a:spcAft>
                        <a:buNone/>
                      </a:pPr>
                      <a:r>
                        <a:rPr lang="en-US" sz="1600">
                          <a:effectLst/>
                        </a:rPr>
                        <a:t>Avg Store Return Rate</a:t>
                      </a:r>
                      <a:endParaRPr lang="en-GB" sz="1600">
                        <a:effectLst/>
                        <a:latin typeface="Aptos" panose="020B0004020202020204" pitchFamily="34" charset="0"/>
                        <a:ea typeface="Times New Roman" panose="02020603050405020304" pitchFamily="18" charset="0"/>
                        <a:cs typeface="Times New Roman" panose="02020603050405020304" pitchFamily="18" charset="0"/>
                      </a:endParaRPr>
                    </a:p>
                  </a:txBody>
                  <a:tcPr marL="102449" marR="102449" marT="0" marB="0"/>
                </a:tc>
                <a:tc>
                  <a:txBody>
                    <a:bodyPr/>
                    <a:lstStyle/>
                    <a:p>
                      <a:pPr>
                        <a:lnSpc>
                          <a:spcPct val="115000"/>
                        </a:lnSpc>
                        <a:spcAft>
                          <a:spcPts val="1000"/>
                        </a:spcAft>
                        <a:buNone/>
                      </a:pPr>
                      <a:r>
                        <a:rPr lang="en-US" sz="1600">
                          <a:effectLst/>
                        </a:rPr>
                        <a:t>0.52%</a:t>
                      </a:r>
                      <a:endParaRPr lang="en-GB" sz="1600">
                        <a:effectLst/>
                        <a:latin typeface="Aptos" panose="020B0004020202020204" pitchFamily="34" charset="0"/>
                        <a:ea typeface="Times New Roman" panose="02020603050405020304" pitchFamily="18" charset="0"/>
                        <a:cs typeface="Times New Roman" panose="02020603050405020304" pitchFamily="18" charset="0"/>
                      </a:endParaRPr>
                    </a:p>
                  </a:txBody>
                  <a:tcPr marL="102449" marR="102449" marT="0" marB="0"/>
                </a:tc>
                <a:extLst>
                  <a:ext uri="{0D108BD9-81ED-4DB2-BD59-A6C34878D82A}">
                    <a16:rowId xmlns:a16="http://schemas.microsoft.com/office/drawing/2014/main" val="755280515"/>
                  </a:ext>
                </a:extLst>
              </a:tr>
              <a:tr h="305328">
                <a:tc>
                  <a:txBody>
                    <a:bodyPr/>
                    <a:lstStyle/>
                    <a:p>
                      <a:pPr>
                        <a:lnSpc>
                          <a:spcPct val="115000"/>
                        </a:lnSpc>
                        <a:spcAft>
                          <a:spcPts val="1000"/>
                        </a:spcAft>
                        <a:buNone/>
                      </a:pPr>
                      <a:r>
                        <a:rPr lang="en-US" sz="1600">
                          <a:effectLst/>
                        </a:rPr>
                        <a:t>Total Products</a:t>
                      </a:r>
                      <a:endParaRPr lang="en-GB" sz="1600">
                        <a:effectLst/>
                        <a:latin typeface="Aptos" panose="020B0004020202020204" pitchFamily="34" charset="0"/>
                        <a:ea typeface="Times New Roman" panose="02020603050405020304" pitchFamily="18" charset="0"/>
                        <a:cs typeface="Times New Roman" panose="02020603050405020304" pitchFamily="18" charset="0"/>
                      </a:endParaRPr>
                    </a:p>
                  </a:txBody>
                  <a:tcPr marL="102449" marR="102449" marT="0" marB="0"/>
                </a:tc>
                <a:tc>
                  <a:txBody>
                    <a:bodyPr/>
                    <a:lstStyle/>
                    <a:p>
                      <a:pPr>
                        <a:lnSpc>
                          <a:spcPct val="115000"/>
                        </a:lnSpc>
                        <a:spcAft>
                          <a:spcPts val="1000"/>
                        </a:spcAft>
                        <a:buNone/>
                      </a:pPr>
                      <a:r>
                        <a:rPr lang="en-US" sz="1600">
                          <a:effectLst/>
                        </a:rPr>
                        <a:t>317</a:t>
                      </a:r>
                      <a:endParaRPr lang="en-GB" sz="1600">
                        <a:effectLst/>
                        <a:latin typeface="Aptos" panose="020B0004020202020204" pitchFamily="34" charset="0"/>
                        <a:ea typeface="Times New Roman" panose="02020603050405020304" pitchFamily="18" charset="0"/>
                        <a:cs typeface="Times New Roman" panose="02020603050405020304" pitchFamily="18" charset="0"/>
                      </a:endParaRPr>
                    </a:p>
                  </a:txBody>
                  <a:tcPr marL="102449" marR="102449" marT="0" marB="0"/>
                </a:tc>
                <a:extLst>
                  <a:ext uri="{0D108BD9-81ED-4DB2-BD59-A6C34878D82A}">
                    <a16:rowId xmlns:a16="http://schemas.microsoft.com/office/drawing/2014/main" val="1004151029"/>
                  </a:ext>
                </a:extLst>
              </a:tr>
              <a:tr h="305328">
                <a:tc>
                  <a:txBody>
                    <a:bodyPr/>
                    <a:lstStyle/>
                    <a:p>
                      <a:pPr>
                        <a:lnSpc>
                          <a:spcPct val="115000"/>
                        </a:lnSpc>
                        <a:spcAft>
                          <a:spcPts val="1000"/>
                        </a:spcAft>
                        <a:buNone/>
                      </a:pPr>
                      <a:r>
                        <a:rPr lang="en-US" sz="1600">
                          <a:effectLst/>
                        </a:rPr>
                        <a:t>Product Sales Range</a:t>
                      </a:r>
                      <a:endParaRPr lang="en-GB" sz="1600">
                        <a:effectLst/>
                        <a:latin typeface="Aptos" panose="020B0004020202020204" pitchFamily="34" charset="0"/>
                        <a:ea typeface="Times New Roman" panose="02020603050405020304" pitchFamily="18" charset="0"/>
                        <a:cs typeface="Times New Roman" panose="02020603050405020304" pitchFamily="18" charset="0"/>
                      </a:endParaRPr>
                    </a:p>
                  </a:txBody>
                  <a:tcPr marL="102449" marR="102449" marT="0" marB="0"/>
                </a:tc>
                <a:tc>
                  <a:txBody>
                    <a:bodyPr/>
                    <a:lstStyle/>
                    <a:p>
                      <a:pPr>
                        <a:lnSpc>
                          <a:spcPct val="115000"/>
                        </a:lnSpc>
                        <a:spcAft>
                          <a:spcPts val="1000"/>
                        </a:spcAft>
                        <a:buNone/>
                      </a:pPr>
                      <a:r>
                        <a:rPr lang="en-US" sz="1600">
                          <a:effectLst/>
                        </a:rPr>
                        <a:t>-3 - 375778</a:t>
                      </a:r>
                      <a:endParaRPr lang="en-GB" sz="1600">
                        <a:effectLst/>
                        <a:latin typeface="Aptos" panose="020B0004020202020204" pitchFamily="34" charset="0"/>
                        <a:ea typeface="Times New Roman" panose="02020603050405020304" pitchFamily="18" charset="0"/>
                        <a:cs typeface="Times New Roman" panose="02020603050405020304" pitchFamily="18" charset="0"/>
                      </a:endParaRPr>
                    </a:p>
                  </a:txBody>
                  <a:tcPr marL="102449" marR="102449" marT="0" marB="0"/>
                </a:tc>
                <a:extLst>
                  <a:ext uri="{0D108BD9-81ED-4DB2-BD59-A6C34878D82A}">
                    <a16:rowId xmlns:a16="http://schemas.microsoft.com/office/drawing/2014/main" val="1898626875"/>
                  </a:ext>
                </a:extLst>
              </a:tr>
              <a:tr h="305328">
                <a:tc>
                  <a:txBody>
                    <a:bodyPr/>
                    <a:lstStyle/>
                    <a:p>
                      <a:pPr>
                        <a:lnSpc>
                          <a:spcPct val="115000"/>
                        </a:lnSpc>
                        <a:spcAft>
                          <a:spcPts val="1000"/>
                        </a:spcAft>
                        <a:buNone/>
                      </a:pPr>
                      <a:r>
                        <a:rPr lang="en-US" sz="1600">
                          <a:effectLst/>
                        </a:rPr>
                        <a:t>Avg Product Sales</a:t>
                      </a:r>
                      <a:endParaRPr lang="en-GB" sz="1600">
                        <a:effectLst/>
                        <a:latin typeface="Aptos" panose="020B0004020202020204" pitchFamily="34" charset="0"/>
                        <a:ea typeface="Times New Roman" panose="02020603050405020304" pitchFamily="18" charset="0"/>
                        <a:cs typeface="Times New Roman" panose="02020603050405020304" pitchFamily="18" charset="0"/>
                      </a:endParaRPr>
                    </a:p>
                  </a:txBody>
                  <a:tcPr marL="102449" marR="102449" marT="0" marB="0"/>
                </a:tc>
                <a:tc>
                  <a:txBody>
                    <a:bodyPr/>
                    <a:lstStyle/>
                    <a:p>
                      <a:pPr>
                        <a:lnSpc>
                          <a:spcPct val="115000"/>
                        </a:lnSpc>
                        <a:spcAft>
                          <a:spcPts val="1000"/>
                        </a:spcAft>
                        <a:buNone/>
                      </a:pPr>
                      <a:r>
                        <a:rPr lang="en-US" sz="1600">
                          <a:effectLst/>
                        </a:rPr>
                        <a:t>13278.64</a:t>
                      </a:r>
                      <a:endParaRPr lang="en-GB" sz="1600">
                        <a:effectLst/>
                        <a:latin typeface="Aptos" panose="020B0004020202020204" pitchFamily="34" charset="0"/>
                        <a:ea typeface="Times New Roman" panose="02020603050405020304" pitchFamily="18" charset="0"/>
                        <a:cs typeface="Times New Roman" panose="02020603050405020304" pitchFamily="18" charset="0"/>
                      </a:endParaRPr>
                    </a:p>
                  </a:txBody>
                  <a:tcPr marL="102449" marR="102449" marT="0" marB="0"/>
                </a:tc>
                <a:extLst>
                  <a:ext uri="{0D108BD9-81ED-4DB2-BD59-A6C34878D82A}">
                    <a16:rowId xmlns:a16="http://schemas.microsoft.com/office/drawing/2014/main" val="3923993296"/>
                  </a:ext>
                </a:extLst>
              </a:tr>
              <a:tr h="305328">
                <a:tc>
                  <a:txBody>
                    <a:bodyPr/>
                    <a:lstStyle/>
                    <a:p>
                      <a:pPr>
                        <a:lnSpc>
                          <a:spcPct val="115000"/>
                        </a:lnSpc>
                        <a:spcAft>
                          <a:spcPts val="1000"/>
                        </a:spcAft>
                        <a:buNone/>
                      </a:pPr>
                      <a:r>
                        <a:rPr lang="en-US" sz="1600">
                          <a:effectLst/>
                        </a:rPr>
                        <a:t>Avg Product Return Rate</a:t>
                      </a:r>
                      <a:endParaRPr lang="en-GB" sz="1600">
                        <a:effectLst/>
                        <a:latin typeface="Aptos" panose="020B0004020202020204" pitchFamily="34" charset="0"/>
                        <a:ea typeface="Times New Roman" panose="02020603050405020304" pitchFamily="18" charset="0"/>
                        <a:cs typeface="Times New Roman" panose="02020603050405020304" pitchFamily="18" charset="0"/>
                      </a:endParaRPr>
                    </a:p>
                  </a:txBody>
                  <a:tcPr marL="102449" marR="102449" marT="0" marB="0"/>
                </a:tc>
                <a:tc>
                  <a:txBody>
                    <a:bodyPr/>
                    <a:lstStyle/>
                    <a:p>
                      <a:pPr>
                        <a:lnSpc>
                          <a:spcPct val="115000"/>
                        </a:lnSpc>
                        <a:spcAft>
                          <a:spcPts val="1000"/>
                        </a:spcAft>
                        <a:buNone/>
                      </a:pPr>
                      <a:r>
                        <a:rPr lang="en-US" sz="1600">
                          <a:effectLst/>
                        </a:rPr>
                        <a:t>2.60%</a:t>
                      </a:r>
                      <a:endParaRPr lang="en-GB" sz="1600">
                        <a:effectLst/>
                        <a:latin typeface="Aptos" panose="020B0004020202020204" pitchFamily="34" charset="0"/>
                        <a:ea typeface="Times New Roman" panose="02020603050405020304" pitchFamily="18" charset="0"/>
                        <a:cs typeface="Times New Roman" panose="02020603050405020304" pitchFamily="18" charset="0"/>
                      </a:endParaRPr>
                    </a:p>
                  </a:txBody>
                  <a:tcPr marL="102449" marR="102449" marT="0" marB="0"/>
                </a:tc>
                <a:extLst>
                  <a:ext uri="{0D108BD9-81ED-4DB2-BD59-A6C34878D82A}">
                    <a16:rowId xmlns:a16="http://schemas.microsoft.com/office/drawing/2014/main" val="547402353"/>
                  </a:ext>
                </a:extLst>
              </a:tr>
              <a:tr h="305328">
                <a:tc>
                  <a:txBody>
                    <a:bodyPr/>
                    <a:lstStyle/>
                    <a:p>
                      <a:pPr>
                        <a:lnSpc>
                          <a:spcPct val="115000"/>
                        </a:lnSpc>
                        <a:spcAft>
                          <a:spcPts val="1000"/>
                        </a:spcAft>
                        <a:buNone/>
                      </a:pPr>
                      <a:r>
                        <a:rPr lang="en-US" sz="1600">
                          <a:effectLst/>
                        </a:rPr>
                        <a:t>Outliers (%)</a:t>
                      </a:r>
                      <a:endParaRPr lang="en-GB" sz="1600">
                        <a:effectLst/>
                        <a:latin typeface="Aptos" panose="020B0004020202020204" pitchFamily="34" charset="0"/>
                        <a:ea typeface="Times New Roman" panose="02020603050405020304" pitchFamily="18" charset="0"/>
                        <a:cs typeface="Times New Roman" panose="02020603050405020304" pitchFamily="18" charset="0"/>
                      </a:endParaRPr>
                    </a:p>
                  </a:txBody>
                  <a:tcPr marL="102449" marR="102449" marT="0" marB="0"/>
                </a:tc>
                <a:tc>
                  <a:txBody>
                    <a:bodyPr/>
                    <a:lstStyle/>
                    <a:p>
                      <a:pPr>
                        <a:lnSpc>
                          <a:spcPct val="115000"/>
                        </a:lnSpc>
                        <a:spcAft>
                          <a:spcPts val="1000"/>
                        </a:spcAft>
                        <a:buNone/>
                      </a:pPr>
                      <a:r>
                        <a:rPr lang="en-US" sz="1600">
                          <a:effectLst/>
                        </a:rPr>
                        <a:t>8.7%</a:t>
                      </a:r>
                      <a:endParaRPr lang="en-GB" sz="1600">
                        <a:effectLst/>
                        <a:latin typeface="Aptos" panose="020B0004020202020204" pitchFamily="34" charset="0"/>
                        <a:ea typeface="Times New Roman" panose="02020603050405020304" pitchFamily="18" charset="0"/>
                        <a:cs typeface="Times New Roman" panose="02020603050405020304" pitchFamily="18" charset="0"/>
                      </a:endParaRPr>
                    </a:p>
                  </a:txBody>
                  <a:tcPr marL="102449" marR="102449" marT="0" marB="0"/>
                </a:tc>
                <a:extLst>
                  <a:ext uri="{0D108BD9-81ED-4DB2-BD59-A6C34878D82A}">
                    <a16:rowId xmlns:a16="http://schemas.microsoft.com/office/drawing/2014/main" val="1009647827"/>
                  </a:ext>
                </a:extLst>
              </a:tr>
              <a:tr h="305328">
                <a:tc>
                  <a:txBody>
                    <a:bodyPr/>
                    <a:lstStyle/>
                    <a:p>
                      <a:pPr>
                        <a:lnSpc>
                          <a:spcPct val="115000"/>
                        </a:lnSpc>
                        <a:spcAft>
                          <a:spcPts val="1000"/>
                        </a:spcAft>
                        <a:buNone/>
                      </a:pPr>
                      <a:r>
                        <a:rPr lang="en-US" sz="1600">
                          <a:effectLst/>
                        </a:rPr>
                        <a:t>Extreme Positive Count</a:t>
                      </a:r>
                      <a:endParaRPr lang="en-GB" sz="1600">
                        <a:effectLst/>
                        <a:latin typeface="Aptos" panose="020B0004020202020204" pitchFamily="34" charset="0"/>
                        <a:ea typeface="Times New Roman" panose="02020603050405020304" pitchFamily="18" charset="0"/>
                        <a:cs typeface="Times New Roman" panose="02020603050405020304" pitchFamily="18" charset="0"/>
                      </a:endParaRPr>
                    </a:p>
                  </a:txBody>
                  <a:tcPr marL="102449" marR="102449" marT="0" marB="0"/>
                </a:tc>
                <a:tc>
                  <a:txBody>
                    <a:bodyPr/>
                    <a:lstStyle/>
                    <a:p>
                      <a:pPr>
                        <a:lnSpc>
                          <a:spcPct val="115000"/>
                        </a:lnSpc>
                        <a:spcAft>
                          <a:spcPts val="1000"/>
                        </a:spcAft>
                        <a:buNone/>
                      </a:pPr>
                      <a:r>
                        <a:rPr lang="en-US" sz="1600">
                          <a:effectLst/>
                        </a:rPr>
                        <a:t>16587</a:t>
                      </a:r>
                      <a:endParaRPr lang="en-GB" sz="1600">
                        <a:effectLst/>
                        <a:latin typeface="Aptos" panose="020B0004020202020204" pitchFamily="34" charset="0"/>
                        <a:ea typeface="Times New Roman" panose="02020603050405020304" pitchFamily="18" charset="0"/>
                        <a:cs typeface="Times New Roman" panose="02020603050405020304" pitchFamily="18" charset="0"/>
                      </a:endParaRPr>
                    </a:p>
                  </a:txBody>
                  <a:tcPr marL="102449" marR="102449" marT="0" marB="0"/>
                </a:tc>
                <a:extLst>
                  <a:ext uri="{0D108BD9-81ED-4DB2-BD59-A6C34878D82A}">
                    <a16:rowId xmlns:a16="http://schemas.microsoft.com/office/drawing/2014/main" val="4072097794"/>
                  </a:ext>
                </a:extLst>
              </a:tr>
              <a:tr h="305328">
                <a:tc>
                  <a:txBody>
                    <a:bodyPr/>
                    <a:lstStyle/>
                    <a:p>
                      <a:pPr>
                        <a:lnSpc>
                          <a:spcPct val="115000"/>
                        </a:lnSpc>
                        <a:spcAft>
                          <a:spcPts val="1000"/>
                        </a:spcAft>
                        <a:buNone/>
                      </a:pPr>
                      <a:r>
                        <a:rPr lang="en-US" sz="1600">
                          <a:effectLst/>
                        </a:rPr>
                        <a:t>Extreme Negative Count</a:t>
                      </a:r>
                      <a:endParaRPr lang="en-GB" sz="1600">
                        <a:effectLst/>
                        <a:latin typeface="Aptos" panose="020B0004020202020204" pitchFamily="34" charset="0"/>
                        <a:ea typeface="Times New Roman" panose="02020603050405020304" pitchFamily="18" charset="0"/>
                        <a:cs typeface="Times New Roman" panose="02020603050405020304" pitchFamily="18" charset="0"/>
                      </a:endParaRPr>
                    </a:p>
                  </a:txBody>
                  <a:tcPr marL="102449" marR="102449" marT="0" marB="0"/>
                </a:tc>
                <a:tc>
                  <a:txBody>
                    <a:bodyPr/>
                    <a:lstStyle/>
                    <a:p>
                      <a:pPr>
                        <a:lnSpc>
                          <a:spcPct val="115000"/>
                        </a:lnSpc>
                        <a:spcAft>
                          <a:spcPts val="1000"/>
                        </a:spcAft>
                        <a:buNone/>
                      </a:pPr>
                      <a:r>
                        <a:rPr lang="en-US" sz="1600">
                          <a:effectLst/>
                        </a:rPr>
                        <a:t>9669</a:t>
                      </a:r>
                      <a:endParaRPr lang="en-GB" sz="1600">
                        <a:effectLst/>
                        <a:latin typeface="Aptos" panose="020B0004020202020204" pitchFamily="34" charset="0"/>
                        <a:ea typeface="Times New Roman" panose="02020603050405020304" pitchFamily="18" charset="0"/>
                        <a:cs typeface="Times New Roman" panose="02020603050405020304" pitchFamily="18" charset="0"/>
                      </a:endParaRPr>
                    </a:p>
                  </a:txBody>
                  <a:tcPr marL="102449" marR="102449" marT="0" marB="0"/>
                </a:tc>
                <a:extLst>
                  <a:ext uri="{0D108BD9-81ED-4DB2-BD59-A6C34878D82A}">
                    <a16:rowId xmlns:a16="http://schemas.microsoft.com/office/drawing/2014/main" val="1222301248"/>
                  </a:ext>
                </a:extLst>
              </a:tr>
            </a:tbl>
          </a:graphicData>
        </a:graphic>
      </p:graphicFrame>
    </p:spTree>
    <p:extLst>
      <p:ext uri="{BB962C8B-B14F-4D97-AF65-F5344CB8AC3E}">
        <p14:creationId xmlns:p14="http://schemas.microsoft.com/office/powerpoint/2010/main" val="25654859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5">
    <p:bg>
      <p:bgPr>
        <a:solidFill>
          <a:srgbClr val="000000"/>
        </a:solidFill>
        <a:effectLst/>
      </p:bgPr>
    </p:bg>
    <p:spTree>
      <p:nvGrpSpPr>
        <p:cNvPr id="1" name=""/>
        <p:cNvGrpSpPr/>
        <p:nvPr/>
      </p:nvGrpSpPr>
      <p:grpSpPr>
        <a:xfrm>
          <a:off x="0" y="0"/>
          <a:ext cx="0" cy="0"/>
          <a:chOff x="0" y="0"/>
          <a:chExt cx="0" cy="0"/>
        </a:xfrm>
      </p:grpSpPr>
      <p:pic>
        <p:nvPicPr>
          <p:cNvPr id="2" name="Object 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142721" y="1875881"/>
            <a:ext cx="10132066" cy="895126"/>
          </a:xfrm>
          <a:prstGeom prst="rect">
            <a:avLst/>
          </a:prstGeom>
        </p:spPr>
      </p:pic>
      <p:pic>
        <p:nvPicPr>
          <p:cNvPr id="3" name="Object 2"/>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0" y="1395274"/>
            <a:ext cx="1152237" cy="1276031"/>
          </a:xfrm>
          <a:prstGeom prst="rect">
            <a:avLst/>
          </a:prstGeom>
        </p:spPr>
      </p:pic>
      <p:sp>
        <p:nvSpPr>
          <p:cNvPr id="4" name="Object 3"/>
          <p:cNvSpPr/>
          <p:nvPr/>
        </p:nvSpPr>
        <p:spPr>
          <a:xfrm>
            <a:off x="1333167" y="2140506"/>
            <a:ext cx="10088660" cy="355871"/>
          </a:xfrm>
          <a:prstGeom prst="rect">
            <a:avLst/>
          </a:prstGeom>
          <a:noFill/>
        </p:spPr>
        <p:txBody>
          <a:bodyPr wrap="square" lIns="0" tIns="0" rIns="0" bIns="0" rtlCol="0" anchor="ctr"/>
          <a:lstStyle/>
          <a:p>
            <a:pPr algn="l">
              <a:lnSpc>
                <a:spcPts val="2804"/>
              </a:lnSpc>
              <a:buNone/>
            </a:pPr>
            <a:r>
              <a:rPr lang="en-US" sz="2400" b="1" kern="0" spc="-144" dirty="0">
                <a:solidFill>
                  <a:srgbClr val="333333"/>
                </a:solidFill>
                <a:latin typeface="Inter" pitchFamily="34" charset="0"/>
                <a:ea typeface="Inter" pitchFamily="34" charset="-122"/>
                <a:cs typeface="Inter" pitchFamily="34" charset="-120"/>
              </a:rPr>
              <a:t>Daily Sales Range (X-bar)</a:t>
            </a:r>
            <a:endParaRPr lang="en-US" dirty="0"/>
          </a:p>
        </p:txBody>
      </p:sp>
      <p:pic>
        <p:nvPicPr>
          <p:cNvPr id="5" name="Object 4"/>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142721" y="2859017"/>
            <a:ext cx="9236940" cy="895126"/>
          </a:xfrm>
          <a:prstGeom prst="rect">
            <a:avLst/>
          </a:prstGeom>
        </p:spPr>
      </p:pic>
      <p:pic>
        <p:nvPicPr>
          <p:cNvPr id="6" name="Object 5"/>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0" y="2688848"/>
            <a:ext cx="1152237" cy="971307"/>
          </a:xfrm>
          <a:prstGeom prst="rect">
            <a:avLst/>
          </a:prstGeom>
        </p:spPr>
      </p:pic>
      <p:sp>
        <p:nvSpPr>
          <p:cNvPr id="7" name="Object 6"/>
          <p:cNvSpPr/>
          <p:nvPr/>
        </p:nvSpPr>
        <p:spPr>
          <a:xfrm>
            <a:off x="1333167" y="3123717"/>
            <a:ext cx="9106886" cy="355871"/>
          </a:xfrm>
          <a:prstGeom prst="rect">
            <a:avLst/>
          </a:prstGeom>
          <a:noFill/>
        </p:spPr>
        <p:txBody>
          <a:bodyPr wrap="square" lIns="0" tIns="0" rIns="0" bIns="0" rtlCol="0" anchor="ctr"/>
          <a:lstStyle/>
          <a:p>
            <a:pPr algn="l">
              <a:lnSpc>
                <a:spcPts val="2804"/>
              </a:lnSpc>
              <a:buNone/>
            </a:pPr>
            <a:r>
              <a:rPr lang="en-US" sz="2400" b="1" kern="0" spc="-144" dirty="0">
                <a:solidFill>
                  <a:srgbClr val="333333"/>
                </a:solidFill>
                <a:latin typeface="Inter" pitchFamily="34" charset="0"/>
                <a:ea typeface="Inter" pitchFamily="34" charset="-122"/>
                <a:cs typeface="Inter" pitchFamily="34" charset="-120"/>
              </a:rPr>
              <a:t>Weekly Sales Volatility (Moving Range)</a:t>
            </a:r>
            <a:endParaRPr lang="en-US" dirty="0"/>
          </a:p>
        </p:txBody>
      </p:sp>
      <p:pic>
        <p:nvPicPr>
          <p:cNvPr id="8" name="Object 7"/>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1142721" y="3842265"/>
            <a:ext cx="10579629" cy="895126"/>
          </a:xfrm>
          <a:prstGeom prst="rect">
            <a:avLst/>
          </a:prstGeom>
        </p:spPr>
      </p:pic>
      <p:pic>
        <p:nvPicPr>
          <p:cNvPr id="9" name="Object 8"/>
          <p:cNvPicPr>
            <a:picLocks noChangeAspect="1"/>
          </p:cNvPicPr>
          <p:nvPr/>
        </p:nvPicPr>
        <p:blipFill>
          <a:blip r:embed="rId13">
            <a:extLst>
              <a:ext uri="{96DAC541-7B7A-43D3-8B79-37D633B846F1}">
                <asvg:svgBlip xmlns:asvg="http://schemas.microsoft.com/office/drawing/2016/SVG/main" r:embed="rId14"/>
              </a:ext>
            </a:extLst>
          </a:blip>
          <a:stretch>
            <a:fillRect/>
          </a:stretch>
        </p:blipFill>
        <p:spPr>
          <a:xfrm>
            <a:off x="0" y="3937491"/>
            <a:ext cx="1152237" cy="971307"/>
          </a:xfrm>
          <a:prstGeom prst="rect">
            <a:avLst/>
          </a:prstGeom>
        </p:spPr>
      </p:pic>
      <p:sp>
        <p:nvSpPr>
          <p:cNvPr id="10" name="Object 9"/>
          <p:cNvSpPr/>
          <p:nvPr/>
        </p:nvSpPr>
        <p:spPr>
          <a:xfrm>
            <a:off x="1333167" y="4106927"/>
            <a:ext cx="10570032" cy="355871"/>
          </a:xfrm>
          <a:prstGeom prst="rect">
            <a:avLst/>
          </a:prstGeom>
          <a:noFill/>
        </p:spPr>
        <p:txBody>
          <a:bodyPr wrap="square" lIns="0" tIns="0" rIns="0" bIns="0" rtlCol="0" anchor="ctr"/>
          <a:lstStyle/>
          <a:p>
            <a:pPr algn="l">
              <a:lnSpc>
                <a:spcPts val="2804"/>
              </a:lnSpc>
              <a:buNone/>
            </a:pPr>
            <a:r>
              <a:rPr lang="en-US" sz="2400" b="1" kern="0" spc="-144" dirty="0">
                <a:solidFill>
                  <a:srgbClr val="333333"/>
                </a:solidFill>
                <a:latin typeface="Inter" pitchFamily="34" charset="0"/>
                <a:ea typeface="Inter" pitchFamily="34" charset="-122"/>
                <a:cs typeface="Inter" pitchFamily="34" charset="-120"/>
              </a:rPr>
              <a:t>Monthly Sales Seasonality</a:t>
            </a:r>
            <a:endParaRPr lang="en-US" dirty="0"/>
          </a:p>
        </p:txBody>
      </p:sp>
      <p:pic>
        <p:nvPicPr>
          <p:cNvPr id="11" name="Object 10"/>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142721" y="4825512"/>
            <a:ext cx="3323394" cy="895126"/>
          </a:xfrm>
          <a:prstGeom prst="rect">
            <a:avLst/>
          </a:prstGeom>
        </p:spPr>
      </p:pic>
      <p:pic>
        <p:nvPicPr>
          <p:cNvPr id="12" name="Object 11"/>
          <p:cNvPicPr>
            <a:picLocks noChangeAspect="1"/>
          </p:cNvPicPr>
          <p:nvPr/>
        </p:nvPicPr>
        <p:blipFill>
          <a:blip r:embed="rId17">
            <a:extLst>
              <a:ext uri="{96DAC541-7B7A-43D3-8B79-37D633B846F1}">
                <asvg:svgBlip xmlns:asvg="http://schemas.microsoft.com/office/drawing/2016/SVG/main" r:embed="rId18"/>
              </a:ext>
            </a:extLst>
          </a:blip>
          <a:stretch>
            <a:fillRect/>
          </a:stretch>
        </p:blipFill>
        <p:spPr>
          <a:xfrm>
            <a:off x="0" y="4920739"/>
            <a:ext cx="1152237" cy="1276031"/>
          </a:xfrm>
          <a:prstGeom prst="rect">
            <a:avLst/>
          </a:prstGeom>
        </p:spPr>
      </p:pic>
      <p:sp>
        <p:nvSpPr>
          <p:cNvPr id="13" name="Object 12"/>
          <p:cNvSpPr/>
          <p:nvPr/>
        </p:nvSpPr>
        <p:spPr>
          <a:xfrm>
            <a:off x="1333167" y="5090137"/>
            <a:ext cx="2597811" cy="355871"/>
          </a:xfrm>
          <a:prstGeom prst="rect">
            <a:avLst/>
          </a:prstGeom>
          <a:noFill/>
        </p:spPr>
        <p:txBody>
          <a:bodyPr wrap="square" lIns="0" tIns="0" rIns="0" bIns="0" rtlCol="0" anchor="ctr"/>
          <a:lstStyle/>
          <a:p>
            <a:pPr algn="l">
              <a:lnSpc>
                <a:spcPts val="2804"/>
              </a:lnSpc>
              <a:buNone/>
            </a:pPr>
            <a:r>
              <a:rPr lang="en-US" sz="2400" b="1" kern="0" spc="-144" dirty="0">
                <a:solidFill>
                  <a:srgbClr val="333333"/>
                </a:solidFill>
                <a:latin typeface="Inter" pitchFamily="34" charset="0"/>
                <a:ea typeface="Inter" pitchFamily="34" charset="-122"/>
                <a:cs typeface="Inter" pitchFamily="34" charset="-120"/>
              </a:rPr>
              <a:t>Outliers Detected</a:t>
            </a:r>
            <a:endParaRPr lang="en-US" dirty="0"/>
          </a:p>
        </p:txBody>
      </p:sp>
      <p:sp>
        <p:nvSpPr>
          <p:cNvPr id="14" name="Object 13"/>
          <p:cNvSpPr/>
          <p:nvPr/>
        </p:nvSpPr>
        <p:spPr>
          <a:xfrm>
            <a:off x="11798525" y="6496211"/>
            <a:ext cx="199975" cy="237693"/>
          </a:xfrm>
          <a:prstGeom prst="rect">
            <a:avLst/>
          </a:prstGeom>
          <a:noFill/>
        </p:spPr>
        <p:txBody>
          <a:bodyPr/>
          <a:lstStyle/>
          <a:p>
            <a:endParaRPr lang="en-GB"/>
          </a:p>
        </p:txBody>
      </p:sp>
      <p:pic>
        <p:nvPicPr>
          <p:cNvPr id="15" name="Object 14"/>
          <p:cNvPicPr>
            <a:picLocks noChangeAspect="1"/>
          </p:cNvPicPr>
          <p:nvPr/>
        </p:nvPicPr>
        <p:blipFill>
          <a:blip r:embed="rId19"/>
          <a:stretch>
            <a:fillRect/>
          </a:stretch>
        </p:blipFill>
        <p:spPr>
          <a:xfrm>
            <a:off x="0" y="0"/>
            <a:ext cx="12188952" cy="6856286"/>
          </a:xfrm>
          <a:prstGeom prst="rect">
            <a:avLst/>
          </a:prstGeom>
        </p:spPr>
      </p:pic>
      <p:sp>
        <p:nvSpPr>
          <p:cNvPr id="16" name="Object 15"/>
          <p:cNvSpPr/>
          <p:nvPr/>
        </p:nvSpPr>
        <p:spPr>
          <a:xfrm>
            <a:off x="0" y="374246"/>
            <a:ext cx="12188915" cy="556069"/>
          </a:xfrm>
          <a:prstGeom prst="rect">
            <a:avLst/>
          </a:prstGeom>
          <a:noFill/>
        </p:spPr>
        <p:txBody>
          <a:bodyPr wrap="square" lIns="0" tIns="0" rIns="0" bIns="0" rtlCol="0" anchor="t"/>
          <a:lstStyle/>
          <a:p>
            <a:pPr algn="ctr">
              <a:lnSpc>
                <a:spcPts val="4380"/>
              </a:lnSpc>
              <a:buNone/>
            </a:pPr>
            <a:r>
              <a:rPr lang="en-US" sz="3750" b="1" kern="0" spc="-225" dirty="0">
                <a:solidFill>
                  <a:srgbClr val="FFFFFF"/>
                </a:solidFill>
                <a:latin typeface="Inter" pitchFamily="34" charset="0"/>
                <a:ea typeface="Inter" pitchFamily="34" charset="-122"/>
                <a:cs typeface="Inter" pitchFamily="34" charset="-120"/>
              </a:rPr>
              <a:t>Control Charts (SPC)</a:t>
            </a:r>
            <a:endParaRPr lang="en-US" dirty="0"/>
          </a:p>
        </p:txBody>
      </p:sp>
      <p:sp>
        <p:nvSpPr>
          <p:cNvPr id="25" name="Slide Number Placeholder 24"/>
          <p:cNvSpPr>
            <a:spLocks noGrp="1"/>
          </p:cNvSpPr>
          <p:nvPr>
            <p:ph type="sldNum" sz="quarter" idx="12"/>
          </p:nvPr>
        </p:nvSpPr>
        <p:spPr>
          <a:xfrm>
            <a:off x="11826240" y="6515100"/>
            <a:ext cx="800000" cy="300000"/>
          </a:xfrm>
          <a:prstGeom prst="rect">
            <a:avLst/>
          </a:prstGeom>
          <a:extLst>
            <a:ext uri="{C572A759-6A51-4108-AA02-DFA0A04FC94B}">
              <ma14:wrappingTextBoxFlag xmlns:ma14="http://schemas.microsoft.com/office/mac/drawingml/2011/main" xmlns="" val="0"/>
            </a:ext>
          </a:extLst>
        </p:spPr>
        <p:txBody>
          <a:bodyPr/>
          <a:lstStyle>
            <a:lvl1pPr>
              <a:defRPr sz="1100"/>
            </a:lvl1pPr>
          </a:lstStyle>
          <a:p>
            <a:fld id="{F7021451-1387-4CA6-816F-3879F97B5CBC}" type="slidenum">
              <a:rPr lang="en-US" smtClean="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12" name="Picture 11" descr="A graph of a number of people&#10;&#10;AI-generated content may be incorrect.">
            <a:extLst>
              <a:ext uri="{FF2B5EF4-FFF2-40B4-BE49-F238E27FC236}">
                <a16:creationId xmlns:a16="http://schemas.microsoft.com/office/drawing/2014/main" id="{70FBE3F3-925C-44FF-D228-254F414CCCF4}"/>
              </a:ext>
            </a:extLst>
          </p:cNvPr>
          <p:cNvPicPr>
            <a:picLocks noChangeAspect="1"/>
          </p:cNvPicPr>
          <p:nvPr/>
        </p:nvPicPr>
        <p:blipFill>
          <a:blip r:embed="rId2"/>
          <a:stretch>
            <a:fillRect/>
          </a:stretch>
        </p:blipFill>
        <p:spPr>
          <a:xfrm>
            <a:off x="97248" y="1055461"/>
            <a:ext cx="4007238" cy="2925283"/>
          </a:xfrm>
          <a:prstGeom prst="rect">
            <a:avLst/>
          </a:prstGeom>
        </p:spPr>
      </p:pic>
      <p:pic>
        <p:nvPicPr>
          <p:cNvPr id="11" name="Picture 10" descr="A screenshot of a graph&#10;&#10;AI-generated content may be incorrect.">
            <a:extLst>
              <a:ext uri="{FF2B5EF4-FFF2-40B4-BE49-F238E27FC236}">
                <a16:creationId xmlns:a16="http://schemas.microsoft.com/office/drawing/2014/main" id="{E55126AC-3633-E9DA-55B8-08ABBA0A301B}"/>
              </a:ext>
            </a:extLst>
          </p:cNvPr>
          <p:cNvPicPr>
            <a:picLocks noChangeAspect="1"/>
          </p:cNvPicPr>
          <p:nvPr/>
        </p:nvPicPr>
        <p:blipFill>
          <a:blip r:embed="rId3"/>
          <a:stretch>
            <a:fillRect/>
          </a:stretch>
        </p:blipFill>
        <p:spPr>
          <a:xfrm>
            <a:off x="4041919" y="1055461"/>
            <a:ext cx="3859896" cy="2769474"/>
          </a:xfrm>
          <a:prstGeom prst="rect">
            <a:avLst/>
          </a:prstGeom>
        </p:spPr>
      </p:pic>
      <p:pic>
        <p:nvPicPr>
          <p:cNvPr id="10" name="Picture 9" descr="A screenshot of a graph&#10;&#10;AI-generated content may be incorrect.">
            <a:extLst>
              <a:ext uri="{FF2B5EF4-FFF2-40B4-BE49-F238E27FC236}">
                <a16:creationId xmlns:a16="http://schemas.microsoft.com/office/drawing/2014/main" id="{DEA4D460-2FF0-3FD7-5C3E-79F7CFFE37AB}"/>
              </a:ext>
            </a:extLst>
          </p:cNvPr>
          <p:cNvPicPr>
            <a:picLocks noChangeAspect="1"/>
          </p:cNvPicPr>
          <p:nvPr/>
        </p:nvPicPr>
        <p:blipFill>
          <a:blip r:embed="rId3"/>
          <a:stretch>
            <a:fillRect/>
          </a:stretch>
        </p:blipFill>
        <p:spPr>
          <a:xfrm>
            <a:off x="7801426" y="1055461"/>
            <a:ext cx="3859897" cy="2769474"/>
          </a:xfrm>
          <a:prstGeom prst="rect">
            <a:avLst/>
          </a:prstGeom>
        </p:spPr>
      </p:pic>
      <p:sp>
        <p:nvSpPr>
          <p:cNvPr id="15" name="TextBox 14">
            <a:extLst>
              <a:ext uri="{FF2B5EF4-FFF2-40B4-BE49-F238E27FC236}">
                <a16:creationId xmlns:a16="http://schemas.microsoft.com/office/drawing/2014/main" id="{7CAC9EF2-C0E6-2196-2168-AB86735DBBCC}"/>
              </a:ext>
            </a:extLst>
          </p:cNvPr>
          <p:cNvSpPr txBox="1"/>
          <p:nvPr/>
        </p:nvSpPr>
        <p:spPr>
          <a:xfrm>
            <a:off x="380774" y="4263655"/>
            <a:ext cx="3299334" cy="1384995"/>
          </a:xfrm>
          <a:prstGeom prst="rect">
            <a:avLst/>
          </a:prstGeom>
          <a:noFill/>
        </p:spPr>
        <p:txBody>
          <a:bodyPr wrap="square" rtlCol="0">
            <a:spAutoFit/>
          </a:bodyPr>
          <a:lstStyle/>
          <a:p>
            <a:r>
              <a:rPr lang="en-US" sz="1200" b="1" dirty="0"/>
              <a:t>10.2 Day‑of‑Week IMR (units/day)</a:t>
            </a:r>
            <a:endParaRPr lang="en-GB" sz="1200" b="1" dirty="0"/>
          </a:p>
          <a:p>
            <a:r>
              <a:rPr lang="en-US" sz="1200" dirty="0"/>
              <a:t>I‑chart limits: CL = 19,837; UCL = 27,692; LCL = 11,981. All weekdays lie within limits. Friday is highest (~24k), Saturday lowest (~16k), with Sunday rebounding (~22k). MR‑chart limits: MR‑CL = 2,954; MR‑UCL = 9,658. Day‑to‑day swings are within control</a:t>
            </a:r>
            <a:endParaRPr lang="en-GB" sz="1200" dirty="0"/>
          </a:p>
        </p:txBody>
      </p:sp>
      <p:sp>
        <p:nvSpPr>
          <p:cNvPr id="16" name="TextBox 15">
            <a:extLst>
              <a:ext uri="{FF2B5EF4-FFF2-40B4-BE49-F238E27FC236}">
                <a16:creationId xmlns:a16="http://schemas.microsoft.com/office/drawing/2014/main" id="{FCC47534-BEFA-64E0-D3D4-1B37A78F025B}"/>
              </a:ext>
            </a:extLst>
          </p:cNvPr>
          <p:cNvSpPr txBox="1"/>
          <p:nvPr/>
        </p:nvSpPr>
        <p:spPr>
          <a:xfrm>
            <a:off x="4306960" y="4263656"/>
            <a:ext cx="3329815" cy="1538883"/>
          </a:xfrm>
          <a:prstGeom prst="rect">
            <a:avLst/>
          </a:prstGeom>
          <a:noFill/>
        </p:spPr>
        <p:txBody>
          <a:bodyPr wrap="square" rtlCol="0">
            <a:spAutoFit/>
          </a:bodyPr>
          <a:lstStyle/>
          <a:p>
            <a:r>
              <a:rPr lang="en-US" sz="1200" b="1" dirty="0"/>
              <a:t>10.3 Weekly Totals IMR (units/week)</a:t>
            </a:r>
            <a:endParaRPr lang="en-GB" sz="1200" b="1" dirty="0"/>
          </a:p>
          <a:p>
            <a:r>
              <a:rPr lang="en-US" sz="1200" dirty="0"/>
              <a:t>I‑chart limits: CL = 135,785; UCL = 192,333; LCL = 79,236. Most weeks inside limits; week 1 dips near/below LCL; peaks around weeks 10–12 ride near UCL. MR‑chart limits: MR‑CL = 21,262; MR‑UCL = 69,464. Volatility spikes are visible but in control overall.</a:t>
            </a:r>
            <a:endParaRPr lang="en-GB" sz="1200" dirty="0"/>
          </a:p>
          <a:p>
            <a:endParaRPr lang="en-GB" sz="1050" dirty="0"/>
          </a:p>
        </p:txBody>
      </p:sp>
      <p:sp>
        <p:nvSpPr>
          <p:cNvPr id="18" name="TextBox 17">
            <a:extLst>
              <a:ext uri="{FF2B5EF4-FFF2-40B4-BE49-F238E27FC236}">
                <a16:creationId xmlns:a16="http://schemas.microsoft.com/office/drawing/2014/main" id="{622E4927-D11A-5BD4-EED2-6F187D8D2D98}"/>
              </a:ext>
            </a:extLst>
          </p:cNvPr>
          <p:cNvSpPr txBox="1"/>
          <p:nvPr/>
        </p:nvSpPr>
        <p:spPr>
          <a:xfrm>
            <a:off x="8263627" y="4263656"/>
            <a:ext cx="3517120" cy="1384995"/>
          </a:xfrm>
          <a:prstGeom prst="rect">
            <a:avLst/>
          </a:prstGeom>
          <a:noFill/>
        </p:spPr>
        <p:txBody>
          <a:bodyPr wrap="square" rtlCol="0">
            <a:spAutoFit/>
          </a:bodyPr>
          <a:lstStyle/>
          <a:p>
            <a:r>
              <a:rPr lang="en-US" sz="1200" b="1" dirty="0"/>
              <a:t>10.4 Monthly Totals IMR (units/month)</a:t>
            </a:r>
            <a:endParaRPr lang="en-GB" sz="1200" b="1" dirty="0"/>
          </a:p>
          <a:p>
            <a:r>
              <a:rPr lang="en-US" sz="1200" dirty="0"/>
              <a:t>I‑chart limits: CL = 601,333; UCL = 776,398; LCL = 426,268. All months inside limits (March near UCL; July lower side). MR‑chart limits: MR‑CL = 65,824; MR‑UCL = 215,848. Month‑to‑month changes well‑contained.</a:t>
            </a:r>
            <a:endParaRPr lang="en-GB" sz="1200" dirty="0"/>
          </a:p>
          <a:p>
            <a:endParaRPr lang="en-GB" sz="1200" dirty="0"/>
          </a:p>
        </p:txBody>
      </p:sp>
    </p:spTree>
    <p:extLst>
      <p:ext uri="{BB962C8B-B14F-4D97-AF65-F5344CB8AC3E}">
        <p14:creationId xmlns:p14="http://schemas.microsoft.com/office/powerpoint/2010/main" val="186295250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a:effectLst/>
      </p:bgPr>
    </p:bg>
    <p:spTree>
      <p:nvGrpSpPr>
        <p:cNvPr id="1" name=""/>
        <p:cNvGrpSpPr/>
        <p:nvPr/>
      </p:nvGrpSpPr>
      <p:grpSpPr>
        <a:xfrm>
          <a:off x="0" y="0"/>
          <a:ext cx="0" cy="0"/>
          <a:chOff x="0" y="0"/>
          <a:chExt cx="0" cy="0"/>
        </a:xfrm>
      </p:grpSpPr>
      <p:sp>
        <p:nvSpPr>
          <p:cNvPr id="2" name="Object 1"/>
          <p:cNvSpPr/>
          <p:nvPr/>
        </p:nvSpPr>
        <p:spPr>
          <a:xfrm>
            <a:off x="987972" y="1590277"/>
            <a:ext cx="1428393" cy="1428393"/>
          </a:xfrm>
          <a:prstGeom prst="ellipse">
            <a:avLst/>
          </a:prstGeom>
          <a:solidFill>
            <a:srgbClr val="22AAEE"/>
          </a:solidFill>
        </p:spPr>
        <p:txBody>
          <a:bodyPr/>
          <a:lstStyle/>
          <a:p>
            <a:endParaRPr lang="en-GB"/>
          </a:p>
        </p:txBody>
      </p:sp>
      <p:pic>
        <p:nvPicPr>
          <p:cNvPr id="3" name="Object 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76043" y="2011457"/>
            <a:ext cx="457086" cy="599925"/>
          </a:xfrm>
          <a:prstGeom prst="rect">
            <a:avLst/>
          </a:prstGeom>
        </p:spPr>
      </p:pic>
      <p:sp>
        <p:nvSpPr>
          <p:cNvPr id="4" name="Object 3"/>
          <p:cNvSpPr/>
          <p:nvPr/>
        </p:nvSpPr>
        <p:spPr>
          <a:xfrm>
            <a:off x="371862" y="3112632"/>
            <a:ext cx="2660538" cy="533862"/>
          </a:xfrm>
          <a:prstGeom prst="rect">
            <a:avLst/>
          </a:prstGeom>
          <a:noFill/>
        </p:spPr>
        <p:txBody>
          <a:bodyPr wrap="square" lIns="0" tIns="0" rIns="0" bIns="0" rtlCol="0" anchor="t"/>
          <a:lstStyle/>
          <a:p>
            <a:pPr algn="ctr">
              <a:lnSpc>
                <a:spcPts val="2102"/>
              </a:lnSpc>
              <a:buNone/>
            </a:pPr>
            <a:r>
              <a:rPr lang="en-US" sz="1800" b="1" kern="0" spc="-108" dirty="0">
                <a:solidFill>
                  <a:srgbClr val="333333"/>
                </a:solidFill>
                <a:latin typeface="Inter" pitchFamily="34" charset="0"/>
                <a:ea typeface="Inter" pitchFamily="34" charset="-122"/>
                <a:cs typeface="Inter" pitchFamily="34" charset="-120"/>
              </a:rPr>
              <a:t>K-Means Clustering Approach</a:t>
            </a:r>
            <a:endParaRPr lang="en-US" dirty="0"/>
          </a:p>
        </p:txBody>
      </p:sp>
      <p:sp>
        <p:nvSpPr>
          <p:cNvPr id="5" name="Object 4"/>
          <p:cNvSpPr/>
          <p:nvPr/>
        </p:nvSpPr>
        <p:spPr>
          <a:xfrm>
            <a:off x="371862" y="3724051"/>
            <a:ext cx="2660538" cy="1584846"/>
          </a:xfrm>
          <a:prstGeom prst="rect">
            <a:avLst/>
          </a:prstGeom>
          <a:noFill/>
        </p:spPr>
        <p:txBody>
          <a:bodyPr wrap="square" lIns="0" tIns="0" rIns="0" bIns="0" rtlCol="0" anchor="t"/>
          <a:lstStyle/>
          <a:p>
            <a:pPr algn="ctr">
              <a:lnSpc>
                <a:spcPts val="2081"/>
              </a:lnSpc>
              <a:spcBef>
                <a:spcPts val="599"/>
              </a:spcBef>
              <a:buNone/>
            </a:pPr>
            <a:r>
              <a:rPr lang="en-US" sz="1500" kern="0" spc="-30" dirty="0">
                <a:solidFill>
                  <a:srgbClr val="000000">
                    <a:alpha val="56000"/>
                  </a:srgbClr>
                </a:solidFill>
                <a:latin typeface="Inter" pitchFamily="34" charset="0"/>
                <a:ea typeface="Inter" pitchFamily="34" charset="-122"/>
                <a:cs typeface="Inter" pitchFamily="34" charset="-120"/>
              </a:rPr>
              <a:t>Used K-Means algorithm to segment products and stores into 3 distinct clusters: Fast, Medium, and Slow based on average weekly non-promotional sales</a:t>
            </a:r>
            <a:endParaRPr lang="en-US" dirty="0"/>
          </a:p>
        </p:txBody>
      </p:sp>
      <p:sp>
        <p:nvSpPr>
          <p:cNvPr id="6" name="Object 5"/>
          <p:cNvSpPr/>
          <p:nvPr/>
        </p:nvSpPr>
        <p:spPr>
          <a:xfrm>
            <a:off x="3916177" y="1590277"/>
            <a:ext cx="1428393" cy="1428393"/>
          </a:xfrm>
          <a:prstGeom prst="ellipse">
            <a:avLst/>
          </a:prstGeom>
          <a:solidFill>
            <a:srgbClr val="FFD9AD"/>
          </a:solidFill>
        </p:spPr>
        <p:txBody>
          <a:bodyPr/>
          <a:lstStyle/>
          <a:p>
            <a:endParaRPr lang="en-GB"/>
          </a:p>
        </p:txBody>
      </p:sp>
      <p:pic>
        <p:nvPicPr>
          <p:cNvPr id="7" name="Object 6"/>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228492" y="1936141"/>
            <a:ext cx="809423" cy="723719"/>
          </a:xfrm>
          <a:prstGeom prst="rect">
            <a:avLst/>
          </a:prstGeom>
        </p:spPr>
      </p:pic>
      <p:sp>
        <p:nvSpPr>
          <p:cNvPr id="8" name="Object 7"/>
          <p:cNvSpPr/>
          <p:nvPr/>
        </p:nvSpPr>
        <p:spPr>
          <a:xfrm>
            <a:off x="3300067" y="3112632"/>
            <a:ext cx="2660538" cy="266931"/>
          </a:xfrm>
          <a:prstGeom prst="rect">
            <a:avLst/>
          </a:prstGeom>
          <a:noFill/>
        </p:spPr>
        <p:txBody>
          <a:bodyPr wrap="square" lIns="0" tIns="0" rIns="0" bIns="0" rtlCol="0" anchor="t"/>
          <a:lstStyle/>
          <a:p>
            <a:pPr algn="ctr">
              <a:lnSpc>
                <a:spcPts val="2102"/>
              </a:lnSpc>
              <a:buNone/>
            </a:pPr>
            <a:r>
              <a:rPr lang="en-US" sz="1800" b="1" kern="0" spc="-108" dirty="0">
                <a:solidFill>
                  <a:srgbClr val="333333"/>
                </a:solidFill>
                <a:latin typeface="Inter" pitchFamily="34" charset="0"/>
                <a:ea typeface="Inter" pitchFamily="34" charset="-122"/>
                <a:cs typeface="Inter" pitchFamily="34" charset="-120"/>
              </a:rPr>
              <a:t>Clustering Criteria</a:t>
            </a:r>
            <a:endParaRPr lang="en-US" dirty="0"/>
          </a:p>
        </p:txBody>
      </p:sp>
      <p:sp>
        <p:nvSpPr>
          <p:cNvPr id="9" name="Object 8"/>
          <p:cNvSpPr/>
          <p:nvPr/>
        </p:nvSpPr>
        <p:spPr>
          <a:xfrm>
            <a:off x="3300067" y="3457120"/>
            <a:ext cx="2660538" cy="1320705"/>
          </a:xfrm>
          <a:prstGeom prst="rect">
            <a:avLst/>
          </a:prstGeom>
          <a:noFill/>
        </p:spPr>
        <p:txBody>
          <a:bodyPr wrap="square" lIns="0" tIns="0" rIns="0" bIns="0" rtlCol="0" anchor="t"/>
          <a:lstStyle/>
          <a:p>
            <a:pPr algn="ctr">
              <a:lnSpc>
                <a:spcPts val="2081"/>
              </a:lnSpc>
              <a:spcBef>
                <a:spcPts val="599"/>
              </a:spcBef>
              <a:buNone/>
            </a:pPr>
            <a:r>
              <a:rPr lang="en-US" sz="1500" kern="0" spc="-30" dirty="0">
                <a:solidFill>
                  <a:srgbClr val="000000">
                    <a:alpha val="56000"/>
                  </a:srgbClr>
                </a:solidFill>
                <a:latin typeface="Inter" pitchFamily="34" charset="0"/>
                <a:ea typeface="Inter" pitchFamily="34" charset="-122"/>
                <a:cs typeface="Inter" pitchFamily="34" charset="-120"/>
              </a:rPr>
              <a:t>Categorized products and stores into Fast, Medium, and Slow groups based on their average weekly non-promotional sales volumes</a:t>
            </a:r>
            <a:endParaRPr lang="en-US" dirty="0"/>
          </a:p>
        </p:txBody>
      </p:sp>
      <p:sp>
        <p:nvSpPr>
          <p:cNvPr id="10" name="Object 9"/>
          <p:cNvSpPr/>
          <p:nvPr/>
        </p:nvSpPr>
        <p:spPr>
          <a:xfrm>
            <a:off x="6844382" y="1590277"/>
            <a:ext cx="1428393" cy="1428393"/>
          </a:xfrm>
          <a:prstGeom prst="ellipse">
            <a:avLst/>
          </a:prstGeom>
          <a:solidFill>
            <a:srgbClr val="FEC088"/>
          </a:solidFill>
        </p:spPr>
        <p:txBody>
          <a:bodyPr/>
          <a:lstStyle/>
          <a:p>
            <a:endParaRPr lang="en-GB"/>
          </a:p>
        </p:txBody>
      </p:sp>
      <p:pic>
        <p:nvPicPr>
          <p:cNvPr id="11" name="Object 10"/>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296098" y="1911033"/>
            <a:ext cx="571357" cy="761810"/>
          </a:xfrm>
          <a:prstGeom prst="rect">
            <a:avLst/>
          </a:prstGeom>
        </p:spPr>
      </p:pic>
      <p:sp>
        <p:nvSpPr>
          <p:cNvPr id="12" name="Object 11"/>
          <p:cNvSpPr/>
          <p:nvPr/>
        </p:nvSpPr>
        <p:spPr>
          <a:xfrm>
            <a:off x="6217796" y="3112632"/>
            <a:ext cx="2681529" cy="533862"/>
          </a:xfrm>
          <a:prstGeom prst="rect">
            <a:avLst/>
          </a:prstGeom>
          <a:noFill/>
        </p:spPr>
        <p:txBody>
          <a:bodyPr wrap="square" lIns="0" tIns="0" rIns="0" bIns="0" rtlCol="0" anchor="t"/>
          <a:lstStyle/>
          <a:p>
            <a:pPr algn="ctr">
              <a:lnSpc>
                <a:spcPts val="2102"/>
              </a:lnSpc>
              <a:buNone/>
            </a:pPr>
            <a:r>
              <a:rPr lang="en-US" sz="1800" b="1" kern="0" spc="-108" dirty="0">
                <a:solidFill>
                  <a:srgbClr val="333333"/>
                </a:solidFill>
                <a:latin typeface="Inter" pitchFamily="34" charset="0"/>
                <a:ea typeface="Inter" pitchFamily="34" charset="-122"/>
                <a:cs typeface="Inter" pitchFamily="34" charset="-120"/>
              </a:rPr>
              <a:t>Product Clustering Results</a:t>
            </a:r>
            <a:endParaRPr lang="en-US" dirty="0"/>
          </a:p>
        </p:txBody>
      </p:sp>
      <p:sp>
        <p:nvSpPr>
          <p:cNvPr id="13" name="Object 12"/>
          <p:cNvSpPr/>
          <p:nvPr/>
        </p:nvSpPr>
        <p:spPr>
          <a:xfrm>
            <a:off x="6217796" y="3724051"/>
            <a:ext cx="2681529" cy="1056564"/>
          </a:xfrm>
          <a:prstGeom prst="rect">
            <a:avLst/>
          </a:prstGeom>
          <a:noFill/>
        </p:spPr>
        <p:txBody>
          <a:bodyPr wrap="square" lIns="0" tIns="0" rIns="0" bIns="0" rtlCol="0" anchor="t"/>
          <a:lstStyle/>
          <a:p>
            <a:pPr algn="ctr">
              <a:lnSpc>
                <a:spcPts val="2081"/>
              </a:lnSpc>
              <a:spcBef>
                <a:spcPts val="599"/>
              </a:spcBef>
              <a:buNone/>
            </a:pPr>
            <a:r>
              <a:rPr lang="en-US" sz="1500" kern="0" spc="-30" dirty="0">
                <a:solidFill>
                  <a:srgbClr val="000000">
                    <a:alpha val="56000"/>
                  </a:srgbClr>
                </a:solidFill>
                <a:latin typeface="Inter" pitchFamily="34" charset="0"/>
                <a:ea typeface="Inter" pitchFamily="34" charset="-122"/>
                <a:cs typeface="Inter" pitchFamily="34" charset="-120"/>
              </a:rPr>
              <a:t>316 out of 317 products were clustered, with 271 classified as Slow, 39 as Medium, and 6 as Fast movers</a:t>
            </a:r>
            <a:endParaRPr lang="en-US" dirty="0"/>
          </a:p>
        </p:txBody>
      </p:sp>
      <p:sp>
        <p:nvSpPr>
          <p:cNvPr id="14" name="Object 13"/>
          <p:cNvSpPr/>
          <p:nvPr/>
        </p:nvSpPr>
        <p:spPr>
          <a:xfrm>
            <a:off x="9772587" y="1590277"/>
            <a:ext cx="1428393" cy="1428393"/>
          </a:xfrm>
          <a:prstGeom prst="ellipse">
            <a:avLst/>
          </a:prstGeom>
          <a:solidFill>
            <a:srgbClr val="FD864D"/>
          </a:solidFill>
        </p:spPr>
        <p:txBody>
          <a:bodyPr/>
          <a:lstStyle/>
          <a:p>
            <a:endParaRPr lang="en-GB"/>
          </a:p>
        </p:txBody>
      </p:sp>
      <p:pic>
        <p:nvPicPr>
          <p:cNvPr id="15" name="Object 14"/>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126756" y="1961255"/>
            <a:ext cx="704674" cy="685629"/>
          </a:xfrm>
          <a:prstGeom prst="rect">
            <a:avLst/>
          </a:prstGeom>
        </p:spPr>
      </p:pic>
      <p:sp>
        <p:nvSpPr>
          <p:cNvPr id="16" name="Object 15"/>
          <p:cNvSpPr/>
          <p:nvPr/>
        </p:nvSpPr>
        <p:spPr>
          <a:xfrm>
            <a:off x="9135764" y="3112632"/>
            <a:ext cx="2697241" cy="266931"/>
          </a:xfrm>
          <a:prstGeom prst="rect">
            <a:avLst/>
          </a:prstGeom>
          <a:noFill/>
        </p:spPr>
        <p:txBody>
          <a:bodyPr wrap="square" lIns="0" tIns="0" rIns="0" bIns="0" rtlCol="0" anchor="t"/>
          <a:lstStyle/>
          <a:p>
            <a:pPr algn="ctr">
              <a:lnSpc>
                <a:spcPts val="2102"/>
              </a:lnSpc>
              <a:buNone/>
            </a:pPr>
            <a:r>
              <a:rPr lang="en-US" sz="1800" b="1" kern="0" spc="-108" dirty="0">
                <a:solidFill>
                  <a:srgbClr val="333333"/>
                </a:solidFill>
                <a:latin typeface="Inter" pitchFamily="34" charset="0"/>
                <a:ea typeface="Inter" pitchFamily="34" charset="-122"/>
                <a:cs typeface="Inter" pitchFamily="34" charset="-120"/>
              </a:rPr>
              <a:t>Store Clustering Results</a:t>
            </a:r>
            <a:endParaRPr lang="en-US" dirty="0"/>
          </a:p>
        </p:txBody>
      </p:sp>
      <p:sp>
        <p:nvSpPr>
          <p:cNvPr id="17" name="Object 16"/>
          <p:cNvSpPr/>
          <p:nvPr/>
        </p:nvSpPr>
        <p:spPr>
          <a:xfrm>
            <a:off x="9135764" y="3457120"/>
            <a:ext cx="2697241" cy="1056564"/>
          </a:xfrm>
          <a:prstGeom prst="rect">
            <a:avLst/>
          </a:prstGeom>
          <a:noFill/>
        </p:spPr>
        <p:txBody>
          <a:bodyPr wrap="square" lIns="0" tIns="0" rIns="0" bIns="0" rtlCol="0" anchor="t"/>
          <a:lstStyle/>
          <a:p>
            <a:pPr algn="ctr">
              <a:lnSpc>
                <a:spcPts val="2081"/>
              </a:lnSpc>
              <a:spcBef>
                <a:spcPts val="599"/>
              </a:spcBef>
              <a:buNone/>
            </a:pPr>
            <a:r>
              <a:rPr lang="en-US" sz="1500" kern="0" spc="-30" dirty="0">
                <a:solidFill>
                  <a:srgbClr val="000000">
                    <a:alpha val="56000"/>
                  </a:srgbClr>
                </a:solidFill>
                <a:latin typeface="Inter" pitchFamily="34" charset="0"/>
                <a:ea typeface="Inter" pitchFamily="34" charset="-122"/>
                <a:cs typeface="Inter" pitchFamily="34" charset="-120"/>
              </a:rPr>
              <a:t>All 340 stores were clustered, with 182 classified as Slow, 123 as Medium, and 35 as Fast performers</a:t>
            </a:r>
            <a:endParaRPr lang="en-US" dirty="0"/>
          </a:p>
        </p:txBody>
      </p:sp>
      <p:sp>
        <p:nvSpPr>
          <p:cNvPr id="18" name="Object 17"/>
          <p:cNvSpPr/>
          <p:nvPr/>
        </p:nvSpPr>
        <p:spPr>
          <a:xfrm>
            <a:off x="0" y="5713571"/>
            <a:ext cx="12188952" cy="1142714"/>
          </a:xfrm>
          <a:prstGeom prst="rect">
            <a:avLst/>
          </a:prstGeom>
          <a:solidFill>
            <a:srgbClr val="FFD9AD"/>
          </a:solidFill>
        </p:spPr>
        <p:txBody>
          <a:bodyPr/>
          <a:lstStyle/>
          <a:p>
            <a:endParaRPr lang="en-GB"/>
          </a:p>
        </p:txBody>
      </p:sp>
      <p:sp>
        <p:nvSpPr>
          <p:cNvPr id="19" name="Object 18"/>
          <p:cNvSpPr/>
          <p:nvPr/>
        </p:nvSpPr>
        <p:spPr>
          <a:xfrm>
            <a:off x="-66658" y="6051736"/>
            <a:ext cx="12322269" cy="467129"/>
          </a:xfrm>
          <a:prstGeom prst="rect">
            <a:avLst/>
          </a:prstGeom>
          <a:noFill/>
        </p:spPr>
        <p:txBody>
          <a:bodyPr wrap="square" lIns="0" tIns="0" rIns="0" bIns="0" rtlCol="0" anchor="ctr"/>
          <a:lstStyle/>
          <a:p>
            <a:pPr algn="ctr">
              <a:lnSpc>
                <a:spcPts val="1840"/>
              </a:lnSpc>
              <a:buNone/>
            </a:pPr>
            <a:r>
              <a:rPr lang="en-US" sz="1575" b="1" kern="0" spc="-94" dirty="0">
                <a:solidFill>
                  <a:srgbClr val="333333"/>
                </a:solidFill>
                <a:latin typeface="Inter" pitchFamily="34" charset="0"/>
                <a:ea typeface="Inter" pitchFamily="34" charset="-122"/>
                <a:cs typeface="Inter" pitchFamily="34" charset="-120"/>
              </a:rPr>
              <a:t>The K-Means clustering approach allowed us to identify distinct segments of products and stores based on their non-promotional sales performance. This segmentation will enable more targeted promotional strategies and resource allocation to optimize campaign effectiveness.</a:t>
            </a:r>
            <a:endParaRPr lang="en-US" dirty="0"/>
          </a:p>
        </p:txBody>
      </p:sp>
      <p:pic>
        <p:nvPicPr>
          <p:cNvPr id="20" name="Object 19"/>
          <p:cNvPicPr>
            <a:picLocks noChangeAspect="1"/>
          </p:cNvPicPr>
          <p:nvPr/>
        </p:nvPicPr>
        <p:blipFill>
          <a:blip r:embed="rId11"/>
          <a:stretch>
            <a:fillRect/>
          </a:stretch>
        </p:blipFill>
        <p:spPr>
          <a:xfrm>
            <a:off x="0" y="0"/>
            <a:ext cx="12188952" cy="6856286"/>
          </a:xfrm>
          <a:prstGeom prst="rect">
            <a:avLst/>
          </a:prstGeom>
        </p:spPr>
      </p:pic>
      <p:sp>
        <p:nvSpPr>
          <p:cNvPr id="21" name="Object 20"/>
          <p:cNvSpPr/>
          <p:nvPr/>
        </p:nvSpPr>
        <p:spPr>
          <a:xfrm>
            <a:off x="0" y="374246"/>
            <a:ext cx="12188915" cy="556069"/>
          </a:xfrm>
          <a:prstGeom prst="rect">
            <a:avLst/>
          </a:prstGeom>
          <a:noFill/>
        </p:spPr>
        <p:txBody>
          <a:bodyPr wrap="square" lIns="0" tIns="0" rIns="0" bIns="0" rtlCol="0" anchor="t"/>
          <a:lstStyle/>
          <a:p>
            <a:pPr algn="ctr">
              <a:lnSpc>
                <a:spcPts val="4380"/>
              </a:lnSpc>
              <a:buNone/>
            </a:pPr>
            <a:r>
              <a:rPr lang="en-US" sz="3750" b="1" kern="0" spc="-225" dirty="0">
                <a:solidFill>
                  <a:srgbClr val="333333"/>
                </a:solidFill>
                <a:latin typeface="Inter" pitchFamily="34" charset="0"/>
                <a:ea typeface="Inter" pitchFamily="34" charset="-122"/>
                <a:cs typeface="Inter" pitchFamily="34" charset="-120"/>
              </a:rPr>
              <a:t>Clustering Methodology</a:t>
            </a:r>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Object 3"/>
          <p:cNvSpPr/>
          <p:nvPr/>
        </p:nvSpPr>
        <p:spPr>
          <a:xfrm>
            <a:off x="1051560" y="586822"/>
            <a:ext cx="3657600" cy="1645920"/>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3200" b="1" spc="-225">
                <a:latin typeface="+mj-lt"/>
                <a:ea typeface="+mj-ea"/>
                <a:cs typeface="+mj-cs"/>
              </a:rPr>
              <a:t>Store Clusters</a:t>
            </a:r>
            <a:endParaRPr lang="en-US" sz="3200">
              <a:latin typeface="+mj-lt"/>
              <a:ea typeface="+mj-ea"/>
              <a:cs typeface="+mj-cs"/>
            </a:endParaRPr>
          </a:p>
        </p:txBody>
      </p:sp>
      <p:sp>
        <p:nvSpPr>
          <p:cNvPr id="5" name="Object 4"/>
          <p:cNvSpPr/>
          <p:nvPr/>
        </p:nvSpPr>
        <p:spPr>
          <a:xfrm>
            <a:off x="5250106" y="586822"/>
            <a:ext cx="6106742" cy="1645920"/>
          </a:xfrm>
          <a:prstGeom prst="rect">
            <a:avLst/>
          </a:prstGeom>
        </p:spPr>
        <p:txBody>
          <a:bodyPr vert="horz" lIns="91440" tIns="45720" rIns="91440" bIns="45720" rtlCol="0" anchor="ctr">
            <a:normAutofit/>
          </a:bodyPr>
          <a:lstStyle/>
          <a:p>
            <a:pPr indent="-228600">
              <a:lnSpc>
                <a:spcPct val="90000"/>
              </a:lnSpc>
              <a:spcBef>
                <a:spcPts val="811"/>
              </a:spcBef>
              <a:buFont typeface="Arial" panose="020B0604020202020204" pitchFamily="34" charset="0"/>
              <a:buChar char="•"/>
            </a:pPr>
            <a:r>
              <a:rPr lang="en-US" spc="-36"/>
              <a:t>The store performance analysis reveals that the majority of stores (182 out of 340) are classified as Slow, with the smallest group being the Fast stores (35). This uneven distribution highlights the significant differences in sales productivity across the retail network.</a:t>
            </a:r>
            <a:endParaRPr lang="en-US"/>
          </a:p>
        </p:txBody>
      </p:sp>
      <p:pic>
        <p:nvPicPr>
          <p:cNvPr id="8" name="Picture 7" descr="A pie chart with numbers and a few different colored circles&#10;&#10;AI-generated content may be incorrect.">
            <a:extLst>
              <a:ext uri="{FF2B5EF4-FFF2-40B4-BE49-F238E27FC236}">
                <a16:creationId xmlns:a16="http://schemas.microsoft.com/office/drawing/2014/main" id="{B1196109-8C72-612A-7470-2377D4D1E39A}"/>
              </a:ext>
            </a:extLst>
          </p:cNvPr>
          <p:cNvPicPr>
            <a:picLocks noChangeAspect="1"/>
          </p:cNvPicPr>
          <p:nvPr/>
        </p:nvPicPr>
        <p:blipFill>
          <a:blip r:embed="rId3"/>
          <a:srcRect l="23835" t="1" r="19788" b="-12470"/>
          <a:stretch>
            <a:fillRect/>
          </a:stretch>
        </p:blipFill>
        <p:spPr>
          <a:xfrm>
            <a:off x="835152" y="2174225"/>
            <a:ext cx="3545882" cy="3483864"/>
          </a:xfrm>
          <a:prstGeom prst="rect">
            <a:avLst/>
          </a:prstGeom>
        </p:spPr>
      </p:pic>
      <p:graphicFrame>
        <p:nvGraphicFramePr>
          <p:cNvPr id="10" name="Table 9">
            <a:extLst>
              <a:ext uri="{FF2B5EF4-FFF2-40B4-BE49-F238E27FC236}">
                <a16:creationId xmlns:a16="http://schemas.microsoft.com/office/drawing/2014/main" id="{3288F70D-8C6B-F9E2-60E0-0E081445771B}"/>
              </a:ext>
            </a:extLst>
          </p:cNvPr>
          <p:cNvGraphicFramePr>
            <a:graphicFrameLocks noGrp="1"/>
          </p:cNvGraphicFramePr>
          <p:nvPr>
            <p:extLst>
              <p:ext uri="{D42A27DB-BD31-4B8C-83A1-F6EECF244321}">
                <p14:modId xmlns:p14="http://schemas.microsoft.com/office/powerpoint/2010/main" val="1729618078"/>
              </p:ext>
            </p:extLst>
          </p:nvPr>
        </p:nvGraphicFramePr>
        <p:xfrm>
          <a:off x="5663204" y="2489107"/>
          <a:ext cx="5523084" cy="2645099"/>
        </p:xfrm>
        <a:graphic>
          <a:graphicData uri="http://schemas.openxmlformats.org/drawingml/2006/table">
            <a:tbl>
              <a:tblPr firstRow="1" firstCol="1" bandRow="1"/>
              <a:tblGrid>
                <a:gridCol w="1294199">
                  <a:extLst>
                    <a:ext uri="{9D8B030D-6E8A-4147-A177-3AD203B41FA5}">
                      <a16:colId xmlns:a16="http://schemas.microsoft.com/office/drawing/2014/main" val="3103940520"/>
                    </a:ext>
                  </a:extLst>
                </a:gridCol>
                <a:gridCol w="1462726">
                  <a:extLst>
                    <a:ext uri="{9D8B030D-6E8A-4147-A177-3AD203B41FA5}">
                      <a16:colId xmlns:a16="http://schemas.microsoft.com/office/drawing/2014/main" val="394177373"/>
                    </a:ext>
                  </a:extLst>
                </a:gridCol>
                <a:gridCol w="1432715">
                  <a:extLst>
                    <a:ext uri="{9D8B030D-6E8A-4147-A177-3AD203B41FA5}">
                      <a16:colId xmlns:a16="http://schemas.microsoft.com/office/drawing/2014/main" val="3432384719"/>
                    </a:ext>
                  </a:extLst>
                </a:gridCol>
                <a:gridCol w="1333444">
                  <a:extLst>
                    <a:ext uri="{9D8B030D-6E8A-4147-A177-3AD203B41FA5}">
                      <a16:colId xmlns:a16="http://schemas.microsoft.com/office/drawing/2014/main" val="4098285626"/>
                    </a:ext>
                  </a:extLst>
                </a:gridCol>
              </a:tblGrid>
              <a:tr h="908109">
                <a:tc>
                  <a:txBody>
                    <a:bodyPr/>
                    <a:lstStyle/>
                    <a:p>
                      <a:pPr algn="l" fontAlgn="t">
                        <a:lnSpc>
                          <a:spcPct val="115000"/>
                        </a:lnSpc>
                        <a:spcAft>
                          <a:spcPts val="600"/>
                        </a:spcAft>
                        <a:buNone/>
                      </a:pPr>
                      <a:r>
                        <a:rPr lang="en-US" sz="1600" b="0" i="0" u="none" strike="noStrike">
                          <a:effectLst/>
                          <a:latin typeface="Aptos" panose="020B0004020202020204" pitchFamily="34" charset="0"/>
                          <a:ea typeface="Times New Roman" panose="02020603050405020304" pitchFamily="18" charset="0"/>
                          <a:cs typeface="Times New Roman" panose="02020603050405020304" pitchFamily="18" charset="0"/>
                        </a:rPr>
                        <a:t>StoreCode</a:t>
                      </a:r>
                      <a:endParaRPr lang="en-US" sz="2600" b="0" i="0" u="none" strike="noStrike">
                        <a:effectLst/>
                        <a:latin typeface="Arial" panose="020B0604020202020204" pitchFamily="34" charset="0"/>
                      </a:endParaRPr>
                    </a:p>
                  </a:txBody>
                  <a:tcPr marL="99731" marR="99731" marT="1385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15000"/>
                        </a:lnSpc>
                        <a:spcAft>
                          <a:spcPts val="600"/>
                        </a:spcAft>
                        <a:buNone/>
                      </a:pPr>
                      <a:r>
                        <a:rPr lang="en-US" sz="1600" b="0" i="0" u="none" strike="noStrike">
                          <a:effectLst/>
                          <a:latin typeface="Aptos" panose="020B0004020202020204" pitchFamily="34" charset="0"/>
                          <a:ea typeface="Times New Roman" panose="02020603050405020304" pitchFamily="18" charset="0"/>
                          <a:cs typeface="Times New Roman" panose="02020603050405020304" pitchFamily="18" charset="0"/>
                        </a:rPr>
                        <a:t>Total Non-Promo Sales</a:t>
                      </a:r>
                      <a:endParaRPr lang="en-US" sz="2600" b="0" i="0" u="none" strike="noStrike">
                        <a:effectLst/>
                        <a:latin typeface="Arial" panose="020B0604020202020204" pitchFamily="34" charset="0"/>
                      </a:endParaRPr>
                    </a:p>
                  </a:txBody>
                  <a:tcPr marL="99731" marR="99731" marT="1385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15000"/>
                        </a:lnSpc>
                        <a:spcAft>
                          <a:spcPts val="600"/>
                        </a:spcAft>
                        <a:buNone/>
                      </a:pPr>
                      <a:r>
                        <a:rPr lang="en-US" sz="1600" b="0" i="0" u="none" strike="noStrike">
                          <a:effectLst/>
                          <a:latin typeface="Aptos" panose="020B0004020202020204" pitchFamily="34" charset="0"/>
                          <a:ea typeface="Times New Roman" panose="02020603050405020304" pitchFamily="18" charset="0"/>
                          <a:cs typeface="Times New Roman" panose="02020603050405020304" pitchFamily="18" charset="0"/>
                        </a:rPr>
                        <a:t>Product–Weeks (Non-Promo)</a:t>
                      </a:r>
                      <a:endParaRPr lang="en-US" sz="2600" b="0" i="0" u="none" strike="noStrike">
                        <a:effectLst/>
                        <a:latin typeface="Arial" panose="020B0604020202020204" pitchFamily="34" charset="0"/>
                      </a:endParaRPr>
                    </a:p>
                  </a:txBody>
                  <a:tcPr marL="99731" marR="99731" marT="1385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15000"/>
                        </a:lnSpc>
                        <a:spcAft>
                          <a:spcPts val="600"/>
                        </a:spcAft>
                        <a:buNone/>
                      </a:pPr>
                      <a:r>
                        <a:rPr lang="en-US" sz="1600" b="0" i="0" u="none" strike="noStrike">
                          <a:effectLst/>
                          <a:latin typeface="Aptos" panose="020B0004020202020204" pitchFamily="34" charset="0"/>
                          <a:ea typeface="Times New Roman" panose="02020603050405020304" pitchFamily="18" charset="0"/>
                          <a:cs typeface="Times New Roman" panose="02020603050405020304" pitchFamily="18" charset="0"/>
                        </a:rPr>
                        <a:t>Avg Weekly Sales per Product</a:t>
                      </a:r>
                      <a:endParaRPr lang="en-US" sz="2600" b="0" i="0" u="none" strike="noStrike">
                        <a:effectLst/>
                        <a:latin typeface="Arial" panose="020B0604020202020204" pitchFamily="34" charset="0"/>
                      </a:endParaRPr>
                    </a:p>
                  </a:txBody>
                  <a:tcPr marL="99731" marR="99731" marT="1385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94985436"/>
                  </a:ext>
                </a:extLst>
              </a:tr>
              <a:tr h="347398">
                <a:tc>
                  <a:txBody>
                    <a:bodyPr/>
                    <a:lstStyle/>
                    <a:p>
                      <a:pPr algn="l" fontAlgn="t">
                        <a:lnSpc>
                          <a:spcPct val="115000"/>
                        </a:lnSpc>
                        <a:spcAft>
                          <a:spcPts val="600"/>
                        </a:spcAft>
                        <a:buNone/>
                      </a:pPr>
                      <a:r>
                        <a:rPr lang="en-US" sz="1600" b="0" i="0" u="none" strike="noStrike">
                          <a:effectLst/>
                          <a:latin typeface="Aptos" panose="020B0004020202020204" pitchFamily="34" charset="0"/>
                          <a:ea typeface="Times New Roman" panose="02020603050405020304" pitchFamily="18" charset="0"/>
                          <a:cs typeface="Times New Roman" panose="02020603050405020304" pitchFamily="18" charset="0"/>
                        </a:rPr>
                        <a:t>1</a:t>
                      </a:r>
                      <a:endParaRPr lang="en-US" sz="2600" b="0" i="0" u="none" strike="noStrike">
                        <a:effectLst/>
                        <a:latin typeface="Arial" panose="020B0604020202020204" pitchFamily="34" charset="0"/>
                      </a:endParaRPr>
                    </a:p>
                  </a:txBody>
                  <a:tcPr marL="99731" marR="99731" marT="1385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15000"/>
                        </a:lnSpc>
                        <a:spcAft>
                          <a:spcPts val="600"/>
                        </a:spcAft>
                        <a:buNone/>
                      </a:pPr>
                      <a:r>
                        <a:rPr lang="en-US" sz="1600" b="0" i="0" u="none" strike="noStrike">
                          <a:effectLst/>
                          <a:latin typeface="Aptos" panose="020B0004020202020204" pitchFamily="34" charset="0"/>
                          <a:ea typeface="Times New Roman" panose="02020603050405020304" pitchFamily="18" charset="0"/>
                          <a:cs typeface="Times New Roman" panose="02020603050405020304" pitchFamily="18" charset="0"/>
                        </a:rPr>
                        <a:t>10,409</a:t>
                      </a:r>
                      <a:endParaRPr lang="en-US" sz="2600" b="0" i="0" u="none" strike="noStrike">
                        <a:effectLst/>
                        <a:latin typeface="Arial" panose="020B0604020202020204" pitchFamily="34" charset="0"/>
                      </a:endParaRPr>
                    </a:p>
                  </a:txBody>
                  <a:tcPr marL="99731" marR="99731" marT="1385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15000"/>
                        </a:lnSpc>
                        <a:spcAft>
                          <a:spcPts val="600"/>
                        </a:spcAft>
                        <a:buNone/>
                      </a:pPr>
                      <a:r>
                        <a:rPr lang="en-US" sz="1600" b="0" i="0" u="none" strike="noStrike">
                          <a:effectLst/>
                          <a:latin typeface="Aptos" panose="020B0004020202020204" pitchFamily="34" charset="0"/>
                          <a:ea typeface="Times New Roman" panose="02020603050405020304" pitchFamily="18" charset="0"/>
                          <a:cs typeface="Times New Roman" panose="02020603050405020304" pitchFamily="18" charset="0"/>
                        </a:rPr>
                        <a:t>3,007</a:t>
                      </a:r>
                      <a:endParaRPr lang="en-US" sz="2600" b="0" i="0" u="none" strike="noStrike">
                        <a:effectLst/>
                        <a:latin typeface="Arial" panose="020B0604020202020204" pitchFamily="34" charset="0"/>
                      </a:endParaRPr>
                    </a:p>
                  </a:txBody>
                  <a:tcPr marL="99731" marR="99731" marT="1385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15000"/>
                        </a:lnSpc>
                        <a:spcAft>
                          <a:spcPts val="600"/>
                        </a:spcAft>
                        <a:buNone/>
                      </a:pPr>
                      <a:r>
                        <a:rPr lang="en-US" sz="1600" b="0" i="0" u="none" strike="noStrike">
                          <a:effectLst/>
                          <a:latin typeface="Aptos" panose="020B0004020202020204" pitchFamily="34" charset="0"/>
                          <a:ea typeface="Times New Roman" panose="02020603050405020304" pitchFamily="18" charset="0"/>
                          <a:cs typeface="Times New Roman" panose="02020603050405020304" pitchFamily="18" charset="0"/>
                        </a:rPr>
                        <a:t>3.46</a:t>
                      </a:r>
                      <a:endParaRPr lang="en-US" sz="2600" b="0" i="0" u="none" strike="noStrike">
                        <a:effectLst/>
                        <a:latin typeface="Arial" panose="020B0604020202020204" pitchFamily="34" charset="0"/>
                      </a:endParaRPr>
                    </a:p>
                  </a:txBody>
                  <a:tcPr marL="99731" marR="99731" marT="1385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85062579"/>
                  </a:ext>
                </a:extLst>
              </a:tr>
              <a:tr h="347398">
                <a:tc>
                  <a:txBody>
                    <a:bodyPr/>
                    <a:lstStyle/>
                    <a:p>
                      <a:pPr algn="l" fontAlgn="t">
                        <a:lnSpc>
                          <a:spcPct val="115000"/>
                        </a:lnSpc>
                        <a:spcAft>
                          <a:spcPts val="600"/>
                        </a:spcAft>
                        <a:buNone/>
                      </a:pPr>
                      <a:r>
                        <a:rPr lang="en-US" sz="1600" b="0" i="0" u="none" strike="noStrike">
                          <a:effectLst/>
                          <a:latin typeface="Aptos" panose="020B0004020202020204" pitchFamily="34" charset="0"/>
                          <a:ea typeface="Times New Roman" panose="02020603050405020304" pitchFamily="18" charset="0"/>
                          <a:cs typeface="Times New Roman" panose="02020603050405020304" pitchFamily="18" charset="0"/>
                        </a:rPr>
                        <a:t>2</a:t>
                      </a:r>
                      <a:endParaRPr lang="en-US" sz="2600" b="0" i="0" u="none" strike="noStrike">
                        <a:effectLst/>
                        <a:latin typeface="Arial" panose="020B0604020202020204" pitchFamily="34" charset="0"/>
                      </a:endParaRPr>
                    </a:p>
                  </a:txBody>
                  <a:tcPr marL="99731" marR="99731" marT="1385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15000"/>
                        </a:lnSpc>
                        <a:spcAft>
                          <a:spcPts val="600"/>
                        </a:spcAft>
                        <a:buNone/>
                      </a:pPr>
                      <a:r>
                        <a:rPr lang="en-US" sz="1600" b="0" i="0" u="none" strike="noStrike">
                          <a:effectLst/>
                          <a:latin typeface="Aptos" panose="020B0004020202020204" pitchFamily="34" charset="0"/>
                          <a:ea typeface="Times New Roman" panose="02020603050405020304" pitchFamily="18" charset="0"/>
                          <a:cs typeface="Times New Roman" panose="02020603050405020304" pitchFamily="18" charset="0"/>
                        </a:rPr>
                        <a:t>33,959</a:t>
                      </a:r>
                      <a:endParaRPr lang="en-US" sz="2600" b="0" i="0" u="none" strike="noStrike">
                        <a:effectLst/>
                        <a:latin typeface="Arial" panose="020B0604020202020204" pitchFamily="34" charset="0"/>
                      </a:endParaRPr>
                    </a:p>
                  </a:txBody>
                  <a:tcPr marL="99731" marR="99731" marT="1385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15000"/>
                        </a:lnSpc>
                        <a:spcAft>
                          <a:spcPts val="600"/>
                        </a:spcAft>
                        <a:buNone/>
                      </a:pPr>
                      <a:r>
                        <a:rPr lang="en-US" sz="1600" b="0" i="0" u="none" strike="noStrike">
                          <a:effectLst/>
                          <a:latin typeface="Aptos" panose="020B0004020202020204" pitchFamily="34" charset="0"/>
                          <a:ea typeface="Times New Roman" panose="02020603050405020304" pitchFamily="18" charset="0"/>
                          <a:cs typeface="Times New Roman" panose="02020603050405020304" pitchFamily="18" charset="0"/>
                        </a:rPr>
                        <a:t>4,261</a:t>
                      </a:r>
                      <a:endParaRPr lang="en-US" sz="2600" b="0" i="0" u="none" strike="noStrike">
                        <a:effectLst/>
                        <a:latin typeface="Arial" panose="020B0604020202020204" pitchFamily="34" charset="0"/>
                      </a:endParaRPr>
                    </a:p>
                  </a:txBody>
                  <a:tcPr marL="99731" marR="99731" marT="1385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15000"/>
                        </a:lnSpc>
                        <a:spcAft>
                          <a:spcPts val="600"/>
                        </a:spcAft>
                        <a:buNone/>
                      </a:pPr>
                      <a:r>
                        <a:rPr lang="en-US" sz="1600" b="0" i="0" u="none" strike="noStrike">
                          <a:effectLst/>
                          <a:latin typeface="Aptos" panose="020B0004020202020204" pitchFamily="34" charset="0"/>
                          <a:ea typeface="Times New Roman" panose="02020603050405020304" pitchFamily="18" charset="0"/>
                          <a:cs typeface="Times New Roman" panose="02020603050405020304" pitchFamily="18" charset="0"/>
                        </a:rPr>
                        <a:t>7.97</a:t>
                      </a:r>
                      <a:endParaRPr lang="en-US" sz="2600" b="0" i="0" u="none" strike="noStrike">
                        <a:effectLst/>
                        <a:latin typeface="Arial" panose="020B0604020202020204" pitchFamily="34" charset="0"/>
                      </a:endParaRPr>
                    </a:p>
                  </a:txBody>
                  <a:tcPr marL="99731" marR="99731" marT="1385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174259126"/>
                  </a:ext>
                </a:extLst>
              </a:tr>
              <a:tr h="347398">
                <a:tc>
                  <a:txBody>
                    <a:bodyPr/>
                    <a:lstStyle/>
                    <a:p>
                      <a:pPr algn="l" fontAlgn="t">
                        <a:lnSpc>
                          <a:spcPct val="115000"/>
                        </a:lnSpc>
                        <a:spcAft>
                          <a:spcPts val="600"/>
                        </a:spcAft>
                        <a:buNone/>
                      </a:pPr>
                      <a:r>
                        <a:rPr lang="en-US" sz="1600" b="0" i="0" u="none" strike="noStrike">
                          <a:effectLst/>
                          <a:latin typeface="Aptos" panose="020B0004020202020204" pitchFamily="34" charset="0"/>
                          <a:ea typeface="Times New Roman" panose="02020603050405020304" pitchFamily="18" charset="0"/>
                          <a:cs typeface="Times New Roman" panose="02020603050405020304" pitchFamily="18" charset="0"/>
                        </a:rPr>
                        <a:t>3</a:t>
                      </a:r>
                      <a:endParaRPr lang="en-US" sz="2600" b="0" i="0" u="none" strike="noStrike">
                        <a:effectLst/>
                        <a:latin typeface="Arial" panose="020B0604020202020204" pitchFamily="34" charset="0"/>
                      </a:endParaRPr>
                    </a:p>
                  </a:txBody>
                  <a:tcPr marL="99731" marR="99731" marT="1385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15000"/>
                        </a:lnSpc>
                        <a:spcAft>
                          <a:spcPts val="600"/>
                        </a:spcAft>
                        <a:buNone/>
                      </a:pPr>
                      <a:r>
                        <a:rPr lang="en-US" sz="1600" b="0" i="0" u="none" strike="noStrike">
                          <a:effectLst/>
                          <a:latin typeface="Aptos" panose="020B0004020202020204" pitchFamily="34" charset="0"/>
                          <a:ea typeface="Times New Roman" panose="02020603050405020304" pitchFamily="18" charset="0"/>
                          <a:cs typeface="Times New Roman" panose="02020603050405020304" pitchFamily="18" charset="0"/>
                        </a:rPr>
                        <a:t>6,847</a:t>
                      </a:r>
                      <a:endParaRPr lang="en-US" sz="2600" b="0" i="0" u="none" strike="noStrike">
                        <a:effectLst/>
                        <a:latin typeface="Arial" panose="020B0604020202020204" pitchFamily="34" charset="0"/>
                      </a:endParaRPr>
                    </a:p>
                  </a:txBody>
                  <a:tcPr marL="99731" marR="99731" marT="1385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15000"/>
                        </a:lnSpc>
                        <a:spcAft>
                          <a:spcPts val="600"/>
                        </a:spcAft>
                        <a:buNone/>
                      </a:pPr>
                      <a:r>
                        <a:rPr lang="en-US" sz="1600" b="0" i="0" u="none" strike="noStrike">
                          <a:effectLst/>
                          <a:latin typeface="Aptos" panose="020B0004020202020204" pitchFamily="34" charset="0"/>
                          <a:ea typeface="Times New Roman" panose="02020603050405020304" pitchFamily="18" charset="0"/>
                          <a:cs typeface="Times New Roman" panose="02020603050405020304" pitchFamily="18" charset="0"/>
                        </a:rPr>
                        <a:t>2,275</a:t>
                      </a:r>
                      <a:endParaRPr lang="en-US" sz="2600" b="0" i="0" u="none" strike="noStrike">
                        <a:effectLst/>
                        <a:latin typeface="Arial" panose="020B0604020202020204" pitchFamily="34" charset="0"/>
                      </a:endParaRPr>
                    </a:p>
                  </a:txBody>
                  <a:tcPr marL="99731" marR="99731" marT="1385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15000"/>
                        </a:lnSpc>
                        <a:spcAft>
                          <a:spcPts val="600"/>
                        </a:spcAft>
                        <a:buNone/>
                      </a:pPr>
                      <a:r>
                        <a:rPr lang="en-US" sz="1600" b="0" i="0" u="none" strike="noStrike">
                          <a:effectLst/>
                          <a:latin typeface="Aptos" panose="020B0004020202020204" pitchFamily="34" charset="0"/>
                          <a:ea typeface="Times New Roman" panose="02020603050405020304" pitchFamily="18" charset="0"/>
                          <a:cs typeface="Times New Roman" panose="02020603050405020304" pitchFamily="18" charset="0"/>
                        </a:rPr>
                        <a:t>3.01</a:t>
                      </a:r>
                      <a:endParaRPr lang="en-US" sz="2600" b="0" i="0" u="none" strike="noStrike">
                        <a:effectLst/>
                        <a:latin typeface="Arial" panose="020B0604020202020204" pitchFamily="34" charset="0"/>
                      </a:endParaRPr>
                    </a:p>
                  </a:txBody>
                  <a:tcPr marL="99731" marR="99731" marT="1385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4868380"/>
                  </a:ext>
                </a:extLst>
              </a:tr>
              <a:tr h="347398">
                <a:tc>
                  <a:txBody>
                    <a:bodyPr/>
                    <a:lstStyle/>
                    <a:p>
                      <a:pPr algn="l" fontAlgn="t">
                        <a:lnSpc>
                          <a:spcPct val="115000"/>
                        </a:lnSpc>
                        <a:spcAft>
                          <a:spcPts val="600"/>
                        </a:spcAft>
                        <a:buNone/>
                      </a:pPr>
                      <a:r>
                        <a:rPr lang="en-US" sz="1600" b="0" i="0" u="none" strike="noStrike">
                          <a:effectLst/>
                          <a:latin typeface="Aptos" panose="020B0004020202020204" pitchFamily="34" charset="0"/>
                          <a:ea typeface="Times New Roman" panose="02020603050405020304" pitchFamily="18" charset="0"/>
                          <a:cs typeface="Times New Roman" panose="02020603050405020304" pitchFamily="18" charset="0"/>
                        </a:rPr>
                        <a:t>4</a:t>
                      </a:r>
                      <a:endParaRPr lang="en-US" sz="2600" b="0" i="0" u="none" strike="noStrike">
                        <a:effectLst/>
                        <a:latin typeface="Arial" panose="020B0604020202020204" pitchFamily="34" charset="0"/>
                      </a:endParaRPr>
                    </a:p>
                  </a:txBody>
                  <a:tcPr marL="99731" marR="99731" marT="1385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15000"/>
                        </a:lnSpc>
                        <a:spcAft>
                          <a:spcPts val="600"/>
                        </a:spcAft>
                        <a:buNone/>
                      </a:pPr>
                      <a:r>
                        <a:rPr lang="en-US" sz="1600" b="0" i="0" u="none" strike="noStrike">
                          <a:effectLst/>
                          <a:latin typeface="Aptos" panose="020B0004020202020204" pitchFamily="34" charset="0"/>
                          <a:ea typeface="Times New Roman" panose="02020603050405020304" pitchFamily="18" charset="0"/>
                          <a:cs typeface="Times New Roman" panose="02020603050405020304" pitchFamily="18" charset="0"/>
                        </a:rPr>
                        <a:t>10,552</a:t>
                      </a:r>
                      <a:endParaRPr lang="en-US" sz="2600" b="0" i="0" u="none" strike="noStrike">
                        <a:effectLst/>
                        <a:latin typeface="Arial" panose="020B0604020202020204" pitchFamily="34" charset="0"/>
                      </a:endParaRPr>
                    </a:p>
                  </a:txBody>
                  <a:tcPr marL="99731" marR="99731" marT="1385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15000"/>
                        </a:lnSpc>
                        <a:spcAft>
                          <a:spcPts val="600"/>
                        </a:spcAft>
                        <a:buNone/>
                      </a:pPr>
                      <a:r>
                        <a:rPr lang="en-US" sz="1600" b="0" i="0" u="none" strike="noStrike">
                          <a:effectLst/>
                          <a:latin typeface="Aptos" panose="020B0004020202020204" pitchFamily="34" charset="0"/>
                          <a:ea typeface="Times New Roman" panose="02020603050405020304" pitchFamily="18" charset="0"/>
                          <a:cs typeface="Times New Roman" panose="02020603050405020304" pitchFamily="18" charset="0"/>
                        </a:rPr>
                        <a:t>3,019</a:t>
                      </a:r>
                      <a:endParaRPr lang="en-US" sz="2600" b="0" i="0" u="none" strike="noStrike">
                        <a:effectLst/>
                        <a:latin typeface="Arial" panose="020B0604020202020204" pitchFamily="34" charset="0"/>
                      </a:endParaRPr>
                    </a:p>
                  </a:txBody>
                  <a:tcPr marL="99731" marR="99731" marT="1385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15000"/>
                        </a:lnSpc>
                        <a:spcAft>
                          <a:spcPts val="600"/>
                        </a:spcAft>
                        <a:buNone/>
                      </a:pPr>
                      <a:r>
                        <a:rPr lang="en-US" sz="1600" b="0" i="0" u="none" strike="noStrike">
                          <a:effectLst/>
                          <a:latin typeface="Aptos" panose="020B0004020202020204" pitchFamily="34" charset="0"/>
                          <a:ea typeface="Times New Roman" panose="02020603050405020304" pitchFamily="18" charset="0"/>
                          <a:cs typeface="Times New Roman" panose="02020603050405020304" pitchFamily="18" charset="0"/>
                        </a:rPr>
                        <a:t>3.50</a:t>
                      </a:r>
                      <a:endParaRPr lang="en-US" sz="2600" b="0" i="0" u="none" strike="noStrike">
                        <a:effectLst/>
                        <a:latin typeface="Arial" panose="020B0604020202020204" pitchFamily="34" charset="0"/>
                      </a:endParaRPr>
                    </a:p>
                  </a:txBody>
                  <a:tcPr marL="99731" marR="99731" marT="1385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92159127"/>
                  </a:ext>
                </a:extLst>
              </a:tr>
              <a:tr h="347398">
                <a:tc>
                  <a:txBody>
                    <a:bodyPr/>
                    <a:lstStyle/>
                    <a:p>
                      <a:pPr algn="l" fontAlgn="t">
                        <a:lnSpc>
                          <a:spcPct val="115000"/>
                        </a:lnSpc>
                        <a:spcAft>
                          <a:spcPts val="600"/>
                        </a:spcAft>
                        <a:buNone/>
                      </a:pPr>
                      <a:r>
                        <a:rPr lang="en-US" sz="1600" b="0" i="0" u="none" strike="noStrike" dirty="0">
                          <a:effectLst/>
                          <a:latin typeface="Aptos" panose="020B0004020202020204" pitchFamily="34" charset="0"/>
                          <a:ea typeface="Times New Roman" panose="02020603050405020304" pitchFamily="18" charset="0"/>
                          <a:cs typeface="Times New Roman" panose="02020603050405020304" pitchFamily="18" charset="0"/>
                        </a:rPr>
                        <a:t>5</a:t>
                      </a:r>
                      <a:endParaRPr lang="en-US" sz="2600" b="0" i="0" u="none" strike="noStrike" dirty="0">
                        <a:effectLst/>
                        <a:latin typeface="Arial" panose="020B0604020202020204" pitchFamily="34" charset="0"/>
                      </a:endParaRPr>
                    </a:p>
                  </a:txBody>
                  <a:tcPr marL="99731" marR="99731" marT="1385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15000"/>
                        </a:lnSpc>
                        <a:spcAft>
                          <a:spcPts val="600"/>
                        </a:spcAft>
                        <a:buNone/>
                      </a:pPr>
                      <a:r>
                        <a:rPr lang="en-US" sz="1600" b="0" i="0" u="none" strike="noStrike">
                          <a:effectLst/>
                          <a:latin typeface="Aptos" panose="020B0004020202020204" pitchFamily="34" charset="0"/>
                          <a:ea typeface="Times New Roman" panose="02020603050405020304" pitchFamily="18" charset="0"/>
                          <a:cs typeface="Times New Roman" panose="02020603050405020304" pitchFamily="18" charset="0"/>
                        </a:rPr>
                        <a:t>8,551</a:t>
                      </a:r>
                      <a:endParaRPr lang="en-US" sz="2600" b="0" i="0" u="none" strike="noStrike">
                        <a:effectLst/>
                        <a:latin typeface="Arial" panose="020B0604020202020204" pitchFamily="34" charset="0"/>
                      </a:endParaRPr>
                    </a:p>
                  </a:txBody>
                  <a:tcPr marL="99731" marR="99731" marT="1385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15000"/>
                        </a:lnSpc>
                        <a:spcAft>
                          <a:spcPts val="600"/>
                        </a:spcAft>
                        <a:buNone/>
                      </a:pPr>
                      <a:r>
                        <a:rPr lang="en-US" sz="1600" b="0" i="0" u="none" strike="noStrike" dirty="0">
                          <a:effectLst/>
                          <a:latin typeface="Aptos" panose="020B0004020202020204" pitchFamily="34" charset="0"/>
                          <a:ea typeface="Times New Roman" panose="02020603050405020304" pitchFamily="18" charset="0"/>
                          <a:cs typeface="Times New Roman" panose="02020603050405020304" pitchFamily="18" charset="0"/>
                        </a:rPr>
                        <a:t>2,711</a:t>
                      </a:r>
                      <a:endParaRPr lang="en-US" sz="2600" b="0" i="0" u="none" strike="noStrike" dirty="0">
                        <a:effectLst/>
                        <a:latin typeface="Arial" panose="020B0604020202020204" pitchFamily="34" charset="0"/>
                      </a:endParaRPr>
                    </a:p>
                  </a:txBody>
                  <a:tcPr marL="99731" marR="99731" marT="1385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15000"/>
                        </a:lnSpc>
                        <a:spcAft>
                          <a:spcPts val="600"/>
                        </a:spcAft>
                        <a:buNone/>
                      </a:pPr>
                      <a:r>
                        <a:rPr lang="en-US" sz="1600" b="0" i="0" u="none" strike="noStrike" dirty="0">
                          <a:effectLst/>
                          <a:latin typeface="Aptos" panose="020B0004020202020204" pitchFamily="34" charset="0"/>
                          <a:ea typeface="Times New Roman" panose="02020603050405020304" pitchFamily="18" charset="0"/>
                          <a:cs typeface="Times New Roman" panose="02020603050405020304" pitchFamily="18" charset="0"/>
                        </a:rPr>
                        <a:t>3.15</a:t>
                      </a:r>
                      <a:endParaRPr lang="en-US" sz="2600" b="0" i="0" u="none" strike="noStrike" dirty="0">
                        <a:effectLst/>
                        <a:latin typeface="Arial" panose="020B0604020202020204" pitchFamily="34" charset="0"/>
                      </a:endParaRPr>
                    </a:p>
                  </a:txBody>
                  <a:tcPr marL="99731" marR="99731" marT="13852"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10256077"/>
                  </a:ext>
                </a:extLst>
              </a:tr>
            </a:tbl>
          </a:graphicData>
        </a:graphic>
      </p:graphicFrame>
      <p:sp>
        <p:nvSpPr>
          <p:cNvPr id="12" name="TextBox 11">
            <a:extLst>
              <a:ext uri="{FF2B5EF4-FFF2-40B4-BE49-F238E27FC236}">
                <a16:creationId xmlns:a16="http://schemas.microsoft.com/office/drawing/2014/main" id="{48CD19AE-5C93-69D2-88D3-9AB43A29F3D2}"/>
              </a:ext>
            </a:extLst>
          </p:cNvPr>
          <p:cNvSpPr txBox="1"/>
          <p:nvPr/>
        </p:nvSpPr>
        <p:spPr>
          <a:xfrm rot="10800000" flipV="1">
            <a:off x="64441" y="5818393"/>
            <a:ext cx="6702456" cy="861390"/>
          </a:xfrm>
          <a:prstGeom prst="rect">
            <a:avLst/>
          </a:prstGeom>
          <a:noFill/>
        </p:spPr>
        <p:txBody>
          <a:bodyPr wrap="square">
            <a:spAutoFit/>
          </a:bodyPr>
          <a:lstStyle/>
          <a:p>
            <a:pPr>
              <a:lnSpc>
                <a:spcPct val="115000"/>
              </a:lnSpc>
              <a:spcAft>
                <a:spcPts val="600"/>
              </a:spcAft>
              <a:buNone/>
            </a:pPr>
            <a:r>
              <a:rPr lang="en-US" sz="1100" dirty="0">
                <a:effectLst/>
                <a:latin typeface="Aptos" panose="020B0004020202020204" pitchFamily="34" charset="0"/>
                <a:ea typeface="Times New Roman" panose="02020603050405020304" pitchFamily="18" charset="0"/>
                <a:cs typeface="Times New Roman" panose="02020603050405020304" pitchFamily="18" charset="0"/>
              </a:rPr>
              <a:t>Cluster centers (original units: avg weekly sales per product, non‑promo): Slow ≈ 2.627; Medium ≈ 3.936; Fast ≈ 6.491.</a:t>
            </a:r>
            <a:br>
              <a:rPr lang="en-US" sz="1100" dirty="0">
                <a:effectLst/>
                <a:latin typeface="Aptos" panose="020B0004020202020204" pitchFamily="34" charset="0"/>
                <a:ea typeface="Times New Roman" panose="02020603050405020304" pitchFamily="18" charset="0"/>
                <a:cs typeface="Times New Roman" panose="02020603050405020304" pitchFamily="18" charset="0"/>
              </a:rPr>
            </a:br>
            <a:r>
              <a:rPr lang="en-US" sz="1100" dirty="0">
                <a:effectLst/>
                <a:latin typeface="Aptos" panose="020B0004020202020204" pitchFamily="34" charset="0"/>
                <a:ea typeface="Times New Roman" panose="02020603050405020304" pitchFamily="18" charset="0"/>
                <a:cs typeface="Times New Roman" panose="02020603050405020304" pitchFamily="18" charset="0"/>
              </a:rPr>
              <a:t>Suggested cutoffs (original units): Slow &lt; ~3.281; Medium ~3.281-5.213; Fast ≥ ~5.213.</a:t>
            </a:r>
            <a:br>
              <a:rPr lang="en-US" sz="1100" dirty="0">
                <a:effectLst/>
                <a:latin typeface="Aptos" panose="020B0004020202020204" pitchFamily="34" charset="0"/>
                <a:ea typeface="Times New Roman" panose="02020603050405020304" pitchFamily="18" charset="0"/>
                <a:cs typeface="Times New Roman" panose="02020603050405020304" pitchFamily="18" charset="0"/>
              </a:rPr>
            </a:br>
            <a:r>
              <a:rPr lang="en-US" sz="1100" dirty="0">
                <a:effectLst/>
                <a:latin typeface="Aptos" panose="020B0004020202020204" pitchFamily="34" charset="0"/>
                <a:ea typeface="Times New Roman" panose="02020603050405020304" pitchFamily="18" charset="0"/>
                <a:cs typeface="Times New Roman" panose="02020603050405020304" pitchFamily="18" charset="0"/>
              </a:rPr>
              <a:t>Composition: Slow 182; Medium 123; Fast 35.</a:t>
            </a:r>
            <a:endParaRPr lang="en-GB" sz="1100" dirty="0">
              <a:effectLst/>
              <a:latin typeface="Aptos" panose="020B0004020202020204" pitchFamily="34"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Object 3"/>
          <p:cNvSpPr/>
          <p:nvPr/>
        </p:nvSpPr>
        <p:spPr>
          <a:xfrm>
            <a:off x="838197" y="4451009"/>
            <a:ext cx="5171299" cy="1659925"/>
          </a:xfrm>
          <a:prstGeom prst="rect">
            <a:avLst/>
          </a:prstGeom>
        </p:spPr>
        <p:txBody>
          <a:bodyPr vert="horz" lIns="91440" tIns="45720" rIns="91440" bIns="45720" rtlCol="0" anchor="ctr">
            <a:normAutofit/>
          </a:bodyPr>
          <a:lstStyle/>
          <a:p>
            <a:pPr>
              <a:lnSpc>
                <a:spcPct val="90000"/>
              </a:lnSpc>
              <a:spcBef>
                <a:spcPct val="0"/>
              </a:spcBef>
              <a:spcAft>
                <a:spcPts val="600"/>
              </a:spcAft>
            </a:pPr>
            <a:r>
              <a:rPr lang="en-US" sz="4000" b="1" spc="-225">
                <a:latin typeface="+mj-lt"/>
                <a:ea typeface="+mj-ea"/>
                <a:cs typeface="+mj-cs"/>
              </a:rPr>
              <a:t>Product Clusters</a:t>
            </a:r>
            <a:endParaRPr lang="en-US" sz="4000">
              <a:latin typeface="+mj-lt"/>
              <a:ea typeface="+mj-ea"/>
              <a:cs typeface="+mj-cs"/>
            </a:endParaRPr>
          </a:p>
        </p:txBody>
      </p:sp>
      <p:pic>
        <p:nvPicPr>
          <p:cNvPr id="7" name="Picture 6" descr="A blue circle with orange and green text&#10;&#10;AI-generated content may be incorrect.">
            <a:extLst>
              <a:ext uri="{FF2B5EF4-FFF2-40B4-BE49-F238E27FC236}">
                <a16:creationId xmlns:a16="http://schemas.microsoft.com/office/drawing/2014/main" id="{53CE1CD0-78DE-8F51-3DED-8FB9E6339ACF}"/>
              </a:ext>
            </a:extLst>
          </p:cNvPr>
          <p:cNvPicPr>
            <a:picLocks noChangeAspect="1"/>
          </p:cNvPicPr>
          <p:nvPr/>
        </p:nvPicPr>
        <p:blipFill>
          <a:blip r:embed="rId3"/>
          <a:stretch>
            <a:fillRect/>
          </a:stretch>
        </p:blipFill>
        <p:spPr>
          <a:xfrm>
            <a:off x="838198" y="1039840"/>
            <a:ext cx="5171299" cy="2546864"/>
          </a:xfrm>
          <a:prstGeom prst="rect">
            <a:avLst/>
          </a:prstGeom>
        </p:spPr>
      </p:pic>
      <p:sp>
        <p:nvSpPr>
          <p:cNvPr id="5" name="Object 4"/>
          <p:cNvSpPr/>
          <p:nvPr/>
        </p:nvSpPr>
        <p:spPr>
          <a:xfrm>
            <a:off x="6182500" y="4460789"/>
            <a:ext cx="5130957" cy="1659925"/>
          </a:xfrm>
          <a:prstGeom prst="rect">
            <a:avLst/>
          </a:prstGeom>
        </p:spPr>
        <p:txBody>
          <a:bodyPr vert="horz" lIns="91440" tIns="45720" rIns="91440" bIns="45720" rtlCol="0" anchor="ctr">
            <a:normAutofit/>
          </a:bodyPr>
          <a:lstStyle/>
          <a:p>
            <a:pPr indent="-228600">
              <a:lnSpc>
                <a:spcPct val="90000"/>
              </a:lnSpc>
              <a:spcBef>
                <a:spcPts val="811"/>
              </a:spcBef>
              <a:buFont typeface="Arial" panose="020B0604020202020204" pitchFamily="34" charset="0"/>
              <a:buChar char="•"/>
            </a:pPr>
            <a:r>
              <a:rPr lang="en-US" sz="1900" spc="-36"/>
              <a:t>The product portfolio analysis reveals a highly skewed distribution of sales, with a small subset of products driving the majority of revenue. The majority of products, 271 out of 316 (86%), are classified as Slow movers, indicating that they generate low sales volumes.</a:t>
            </a:r>
            <a:endParaRPr lang="en-US" sz="1900"/>
          </a:p>
        </p:txBody>
      </p:sp>
      <p:graphicFrame>
        <p:nvGraphicFramePr>
          <p:cNvPr id="8" name="Table 7">
            <a:extLst>
              <a:ext uri="{FF2B5EF4-FFF2-40B4-BE49-F238E27FC236}">
                <a16:creationId xmlns:a16="http://schemas.microsoft.com/office/drawing/2014/main" id="{3E345F88-AC90-8A8A-8312-8A5C25D91B49}"/>
              </a:ext>
            </a:extLst>
          </p:cNvPr>
          <p:cNvGraphicFramePr>
            <a:graphicFrameLocks noGrp="1"/>
          </p:cNvGraphicFramePr>
          <p:nvPr>
            <p:extLst>
              <p:ext uri="{D42A27DB-BD31-4B8C-83A1-F6EECF244321}">
                <p14:modId xmlns:p14="http://schemas.microsoft.com/office/powerpoint/2010/main" val="863794511"/>
              </p:ext>
            </p:extLst>
          </p:nvPr>
        </p:nvGraphicFramePr>
        <p:xfrm>
          <a:off x="6182500" y="890795"/>
          <a:ext cx="5171301" cy="2844958"/>
        </p:xfrm>
        <a:graphic>
          <a:graphicData uri="http://schemas.openxmlformats.org/drawingml/2006/table">
            <a:tbl>
              <a:tblPr firstRow="1" firstCol="1" bandRow="1"/>
              <a:tblGrid>
                <a:gridCol w="1480850">
                  <a:extLst>
                    <a:ext uri="{9D8B030D-6E8A-4147-A177-3AD203B41FA5}">
                      <a16:colId xmlns:a16="http://schemas.microsoft.com/office/drawing/2014/main" val="2941593158"/>
                    </a:ext>
                  </a:extLst>
                </a:gridCol>
                <a:gridCol w="1422478">
                  <a:extLst>
                    <a:ext uri="{9D8B030D-6E8A-4147-A177-3AD203B41FA5}">
                      <a16:colId xmlns:a16="http://schemas.microsoft.com/office/drawing/2014/main" val="123852474"/>
                    </a:ext>
                  </a:extLst>
                </a:gridCol>
                <a:gridCol w="971219">
                  <a:extLst>
                    <a:ext uri="{9D8B030D-6E8A-4147-A177-3AD203B41FA5}">
                      <a16:colId xmlns:a16="http://schemas.microsoft.com/office/drawing/2014/main" val="1424896689"/>
                    </a:ext>
                  </a:extLst>
                </a:gridCol>
                <a:gridCol w="1296754">
                  <a:extLst>
                    <a:ext uri="{9D8B030D-6E8A-4147-A177-3AD203B41FA5}">
                      <a16:colId xmlns:a16="http://schemas.microsoft.com/office/drawing/2014/main" val="2906047820"/>
                    </a:ext>
                  </a:extLst>
                </a:gridCol>
              </a:tblGrid>
              <a:tr h="1155763">
                <a:tc>
                  <a:txBody>
                    <a:bodyPr/>
                    <a:lstStyle/>
                    <a:p>
                      <a:pPr algn="l" fontAlgn="t">
                        <a:lnSpc>
                          <a:spcPct val="115000"/>
                        </a:lnSpc>
                        <a:spcAft>
                          <a:spcPts val="600"/>
                        </a:spcAft>
                        <a:buNone/>
                      </a:pPr>
                      <a:r>
                        <a:rPr lang="en-US" sz="1600" b="0" i="0" u="none" strike="noStrike">
                          <a:effectLst/>
                          <a:latin typeface="Aptos" panose="020B0004020202020204" pitchFamily="34" charset="0"/>
                          <a:ea typeface="Times New Roman" panose="02020603050405020304" pitchFamily="18" charset="0"/>
                          <a:cs typeface="Times New Roman" panose="02020603050405020304" pitchFamily="18" charset="0"/>
                        </a:rPr>
                        <a:t>ProductCode</a:t>
                      </a:r>
                      <a:endParaRPr lang="en-US" sz="2500" b="0" i="0" u="none" strike="noStrike">
                        <a:effectLst/>
                        <a:latin typeface="Arial" panose="020B0604020202020204" pitchFamily="34" charset="0"/>
                      </a:endParaRPr>
                    </a:p>
                  </a:txBody>
                  <a:tcPr marL="96987" marR="96987" marT="134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15000"/>
                        </a:lnSpc>
                        <a:spcAft>
                          <a:spcPts val="600"/>
                        </a:spcAft>
                        <a:buNone/>
                      </a:pPr>
                      <a:r>
                        <a:rPr lang="en-US" sz="1600" b="0" i="0" u="none" strike="noStrike">
                          <a:effectLst/>
                          <a:latin typeface="Aptos" panose="020B0004020202020204" pitchFamily="34" charset="0"/>
                          <a:ea typeface="Times New Roman" panose="02020603050405020304" pitchFamily="18" charset="0"/>
                          <a:cs typeface="Times New Roman" panose="02020603050405020304" pitchFamily="18" charset="0"/>
                        </a:rPr>
                        <a:t>Total Non-Promo Sales</a:t>
                      </a:r>
                      <a:endParaRPr lang="en-US" sz="2500" b="0" i="0" u="none" strike="noStrike">
                        <a:effectLst/>
                        <a:latin typeface="Arial" panose="020B0604020202020204" pitchFamily="34" charset="0"/>
                      </a:endParaRPr>
                    </a:p>
                  </a:txBody>
                  <a:tcPr marL="96987" marR="96987" marT="134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15000"/>
                        </a:lnSpc>
                        <a:spcAft>
                          <a:spcPts val="600"/>
                        </a:spcAft>
                        <a:buNone/>
                      </a:pPr>
                      <a:r>
                        <a:rPr lang="en-US" sz="1600" b="0" i="0" u="none" strike="noStrike">
                          <a:effectLst/>
                          <a:latin typeface="Aptos" panose="020B0004020202020204" pitchFamily="34" charset="0"/>
                          <a:ea typeface="Times New Roman" panose="02020603050405020304" pitchFamily="18" charset="0"/>
                          <a:cs typeface="Times New Roman" panose="02020603050405020304" pitchFamily="18" charset="0"/>
                        </a:rPr>
                        <a:t>Store–Weeks (Non-Promo)</a:t>
                      </a:r>
                      <a:endParaRPr lang="en-US" sz="2500" b="0" i="0" u="none" strike="noStrike">
                        <a:effectLst/>
                        <a:latin typeface="Arial" panose="020B0604020202020204" pitchFamily="34" charset="0"/>
                      </a:endParaRPr>
                    </a:p>
                  </a:txBody>
                  <a:tcPr marL="96987" marR="96987" marT="134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15000"/>
                        </a:lnSpc>
                        <a:spcAft>
                          <a:spcPts val="600"/>
                        </a:spcAft>
                        <a:buNone/>
                      </a:pPr>
                      <a:r>
                        <a:rPr lang="en-US" sz="1600" b="0" i="0" u="none" strike="noStrike">
                          <a:effectLst/>
                          <a:latin typeface="Aptos" panose="020B0004020202020204" pitchFamily="34" charset="0"/>
                          <a:ea typeface="Times New Roman" panose="02020603050405020304" pitchFamily="18" charset="0"/>
                          <a:cs typeface="Times New Roman" panose="02020603050405020304" pitchFamily="18" charset="0"/>
                        </a:rPr>
                        <a:t>Avg Weekly Sales per Store</a:t>
                      </a:r>
                      <a:endParaRPr lang="en-US" sz="2500" b="0" i="0" u="none" strike="noStrike">
                        <a:effectLst/>
                        <a:latin typeface="Arial" panose="020B0604020202020204" pitchFamily="34" charset="0"/>
                      </a:endParaRPr>
                    </a:p>
                  </a:txBody>
                  <a:tcPr marL="96987" marR="96987" marT="134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38065063"/>
                  </a:ext>
                </a:extLst>
              </a:tr>
              <a:tr h="337839">
                <a:tc>
                  <a:txBody>
                    <a:bodyPr/>
                    <a:lstStyle/>
                    <a:p>
                      <a:pPr algn="l" fontAlgn="t">
                        <a:lnSpc>
                          <a:spcPct val="115000"/>
                        </a:lnSpc>
                        <a:spcAft>
                          <a:spcPts val="600"/>
                        </a:spcAft>
                        <a:buNone/>
                      </a:pPr>
                      <a:r>
                        <a:rPr lang="en-US" sz="1600" b="0" i="0" u="none" strike="noStrike">
                          <a:effectLst/>
                          <a:latin typeface="Aptos" panose="020B0004020202020204" pitchFamily="34" charset="0"/>
                          <a:ea typeface="Times New Roman" panose="02020603050405020304" pitchFamily="18" charset="0"/>
                          <a:cs typeface="Times New Roman" panose="02020603050405020304" pitchFamily="18" charset="0"/>
                        </a:rPr>
                        <a:t>1</a:t>
                      </a:r>
                      <a:endParaRPr lang="en-US" sz="2500" b="0" i="0" u="none" strike="noStrike">
                        <a:effectLst/>
                        <a:latin typeface="Arial" panose="020B0604020202020204" pitchFamily="34" charset="0"/>
                      </a:endParaRPr>
                    </a:p>
                  </a:txBody>
                  <a:tcPr marL="96987" marR="96987" marT="134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15000"/>
                        </a:lnSpc>
                        <a:spcAft>
                          <a:spcPts val="600"/>
                        </a:spcAft>
                        <a:buNone/>
                      </a:pPr>
                      <a:r>
                        <a:rPr lang="en-US" sz="1600" b="0" i="0" u="none" strike="noStrike">
                          <a:effectLst/>
                          <a:latin typeface="Aptos" panose="020B0004020202020204" pitchFamily="34" charset="0"/>
                          <a:ea typeface="Times New Roman" panose="02020603050405020304" pitchFamily="18" charset="0"/>
                          <a:cs typeface="Times New Roman" panose="02020603050405020304" pitchFamily="18" charset="0"/>
                        </a:rPr>
                        <a:t>9,447</a:t>
                      </a:r>
                      <a:endParaRPr lang="en-US" sz="2500" b="0" i="0" u="none" strike="noStrike">
                        <a:effectLst/>
                        <a:latin typeface="Arial" panose="020B0604020202020204" pitchFamily="34" charset="0"/>
                      </a:endParaRPr>
                    </a:p>
                  </a:txBody>
                  <a:tcPr marL="96987" marR="96987" marT="134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15000"/>
                        </a:lnSpc>
                        <a:spcAft>
                          <a:spcPts val="600"/>
                        </a:spcAft>
                        <a:buNone/>
                      </a:pPr>
                      <a:r>
                        <a:rPr lang="en-US" sz="1600" b="0" i="0" u="none" strike="noStrike">
                          <a:effectLst/>
                          <a:latin typeface="Aptos" panose="020B0004020202020204" pitchFamily="34" charset="0"/>
                          <a:ea typeface="Times New Roman" panose="02020603050405020304" pitchFamily="18" charset="0"/>
                          <a:cs typeface="Times New Roman" panose="02020603050405020304" pitchFamily="18" charset="0"/>
                        </a:rPr>
                        <a:t>2,662</a:t>
                      </a:r>
                      <a:endParaRPr lang="en-US" sz="2500" b="0" i="0" u="none" strike="noStrike">
                        <a:effectLst/>
                        <a:latin typeface="Arial" panose="020B0604020202020204" pitchFamily="34" charset="0"/>
                      </a:endParaRPr>
                    </a:p>
                  </a:txBody>
                  <a:tcPr marL="96987" marR="96987" marT="134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15000"/>
                        </a:lnSpc>
                        <a:spcAft>
                          <a:spcPts val="600"/>
                        </a:spcAft>
                        <a:buNone/>
                      </a:pPr>
                      <a:r>
                        <a:rPr lang="en-US" sz="1600" b="0" i="0" u="none" strike="noStrike">
                          <a:effectLst/>
                          <a:latin typeface="Aptos" panose="020B0004020202020204" pitchFamily="34" charset="0"/>
                          <a:ea typeface="Times New Roman" panose="02020603050405020304" pitchFamily="18" charset="0"/>
                          <a:cs typeface="Times New Roman" panose="02020603050405020304" pitchFamily="18" charset="0"/>
                        </a:rPr>
                        <a:t>3.55</a:t>
                      </a:r>
                      <a:endParaRPr lang="en-US" sz="2500" b="0" i="0" u="none" strike="noStrike">
                        <a:effectLst/>
                        <a:latin typeface="Arial" panose="020B0604020202020204" pitchFamily="34" charset="0"/>
                      </a:endParaRPr>
                    </a:p>
                  </a:txBody>
                  <a:tcPr marL="96987" marR="96987" marT="134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633797335"/>
                  </a:ext>
                </a:extLst>
              </a:tr>
              <a:tr h="337839">
                <a:tc>
                  <a:txBody>
                    <a:bodyPr/>
                    <a:lstStyle/>
                    <a:p>
                      <a:pPr algn="l" fontAlgn="t">
                        <a:lnSpc>
                          <a:spcPct val="115000"/>
                        </a:lnSpc>
                        <a:spcAft>
                          <a:spcPts val="600"/>
                        </a:spcAft>
                        <a:buNone/>
                      </a:pPr>
                      <a:r>
                        <a:rPr lang="en-US" sz="1600" b="0" i="0" u="none" strike="noStrike">
                          <a:effectLst/>
                          <a:latin typeface="Aptos" panose="020B0004020202020204" pitchFamily="34" charset="0"/>
                          <a:ea typeface="Times New Roman" panose="02020603050405020304" pitchFamily="18" charset="0"/>
                          <a:cs typeface="Times New Roman" panose="02020603050405020304" pitchFamily="18" charset="0"/>
                        </a:rPr>
                        <a:t>2</a:t>
                      </a:r>
                      <a:endParaRPr lang="en-US" sz="2500" b="0" i="0" u="none" strike="noStrike">
                        <a:effectLst/>
                        <a:latin typeface="Arial" panose="020B0604020202020204" pitchFamily="34" charset="0"/>
                      </a:endParaRPr>
                    </a:p>
                  </a:txBody>
                  <a:tcPr marL="96987" marR="96987" marT="134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15000"/>
                        </a:lnSpc>
                        <a:spcAft>
                          <a:spcPts val="600"/>
                        </a:spcAft>
                        <a:buNone/>
                      </a:pPr>
                      <a:r>
                        <a:rPr lang="en-US" sz="1600" b="0" i="0" u="none" strike="noStrike">
                          <a:effectLst/>
                          <a:latin typeface="Aptos" panose="020B0004020202020204" pitchFamily="34" charset="0"/>
                          <a:ea typeface="Times New Roman" panose="02020603050405020304" pitchFamily="18" charset="0"/>
                          <a:cs typeface="Times New Roman" panose="02020603050405020304" pitchFamily="18" charset="0"/>
                        </a:rPr>
                        <a:t>7,115</a:t>
                      </a:r>
                      <a:endParaRPr lang="en-US" sz="2500" b="0" i="0" u="none" strike="noStrike">
                        <a:effectLst/>
                        <a:latin typeface="Arial" panose="020B0604020202020204" pitchFamily="34" charset="0"/>
                      </a:endParaRPr>
                    </a:p>
                  </a:txBody>
                  <a:tcPr marL="96987" marR="96987" marT="134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15000"/>
                        </a:lnSpc>
                        <a:spcAft>
                          <a:spcPts val="600"/>
                        </a:spcAft>
                        <a:buNone/>
                      </a:pPr>
                      <a:r>
                        <a:rPr lang="en-US" sz="1600" b="0" i="0" u="none" strike="noStrike">
                          <a:effectLst/>
                          <a:latin typeface="Aptos" panose="020B0004020202020204" pitchFamily="34" charset="0"/>
                          <a:ea typeface="Times New Roman" panose="02020603050405020304" pitchFamily="18" charset="0"/>
                          <a:cs typeface="Times New Roman" panose="02020603050405020304" pitchFamily="18" charset="0"/>
                        </a:rPr>
                        <a:t>2,358</a:t>
                      </a:r>
                      <a:endParaRPr lang="en-US" sz="2500" b="0" i="0" u="none" strike="noStrike">
                        <a:effectLst/>
                        <a:latin typeface="Arial" panose="020B0604020202020204" pitchFamily="34" charset="0"/>
                      </a:endParaRPr>
                    </a:p>
                  </a:txBody>
                  <a:tcPr marL="96987" marR="96987" marT="134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15000"/>
                        </a:lnSpc>
                        <a:spcAft>
                          <a:spcPts val="600"/>
                        </a:spcAft>
                        <a:buNone/>
                      </a:pPr>
                      <a:r>
                        <a:rPr lang="en-US" sz="1600" b="0" i="0" u="none" strike="noStrike">
                          <a:effectLst/>
                          <a:latin typeface="Aptos" panose="020B0004020202020204" pitchFamily="34" charset="0"/>
                          <a:ea typeface="Times New Roman" panose="02020603050405020304" pitchFamily="18" charset="0"/>
                          <a:cs typeface="Times New Roman" panose="02020603050405020304" pitchFamily="18" charset="0"/>
                        </a:rPr>
                        <a:t>3.02</a:t>
                      </a:r>
                      <a:endParaRPr lang="en-US" sz="2500" b="0" i="0" u="none" strike="noStrike">
                        <a:effectLst/>
                        <a:latin typeface="Arial" panose="020B0604020202020204" pitchFamily="34" charset="0"/>
                      </a:endParaRPr>
                    </a:p>
                  </a:txBody>
                  <a:tcPr marL="96987" marR="96987" marT="134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348474202"/>
                  </a:ext>
                </a:extLst>
              </a:tr>
              <a:tr h="337839">
                <a:tc>
                  <a:txBody>
                    <a:bodyPr/>
                    <a:lstStyle/>
                    <a:p>
                      <a:pPr algn="l" fontAlgn="t">
                        <a:lnSpc>
                          <a:spcPct val="115000"/>
                        </a:lnSpc>
                        <a:spcAft>
                          <a:spcPts val="600"/>
                        </a:spcAft>
                        <a:buNone/>
                      </a:pPr>
                      <a:r>
                        <a:rPr lang="en-US" sz="1600" b="0" i="0" u="none" strike="noStrike">
                          <a:effectLst/>
                          <a:latin typeface="Aptos" panose="020B0004020202020204" pitchFamily="34" charset="0"/>
                          <a:ea typeface="Times New Roman" panose="02020603050405020304" pitchFamily="18" charset="0"/>
                          <a:cs typeface="Times New Roman" panose="02020603050405020304" pitchFamily="18" charset="0"/>
                        </a:rPr>
                        <a:t>3</a:t>
                      </a:r>
                      <a:endParaRPr lang="en-US" sz="2500" b="0" i="0" u="none" strike="noStrike">
                        <a:effectLst/>
                        <a:latin typeface="Arial" panose="020B0604020202020204" pitchFamily="34" charset="0"/>
                      </a:endParaRPr>
                    </a:p>
                  </a:txBody>
                  <a:tcPr marL="96987" marR="96987" marT="134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15000"/>
                        </a:lnSpc>
                        <a:spcAft>
                          <a:spcPts val="600"/>
                        </a:spcAft>
                        <a:buNone/>
                      </a:pPr>
                      <a:r>
                        <a:rPr lang="en-US" sz="1600" b="0" i="0" u="none" strike="noStrike">
                          <a:effectLst/>
                          <a:latin typeface="Aptos" panose="020B0004020202020204" pitchFamily="34" charset="0"/>
                          <a:ea typeface="Times New Roman" panose="02020603050405020304" pitchFamily="18" charset="0"/>
                          <a:cs typeface="Times New Roman" panose="02020603050405020304" pitchFamily="18" charset="0"/>
                        </a:rPr>
                        <a:t>5,181</a:t>
                      </a:r>
                      <a:endParaRPr lang="en-US" sz="2500" b="0" i="0" u="none" strike="noStrike">
                        <a:effectLst/>
                        <a:latin typeface="Arial" panose="020B0604020202020204" pitchFamily="34" charset="0"/>
                      </a:endParaRPr>
                    </a:p>
                  </a:txBody>
                  <a:tcPr marL="96987" marR="96987" marT="134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15000"/>
                        </a:lnSpc>
                        <a:spcAft>
                          <a:spcPts val="600"/>
                        </a:spcAft>
                        <a:buNone/>
                      </a:pPr>
                      <a:r>
                        <a:rPr lang="en-US" sz="1600" b="0" i="0" u="none" strike="noStrike">
                          <a:effectLst/>
                          <a:latin typeface="Aptos" panose="020B0004020202020204" pitchFamily="34" charset="0"/>
                          <a:ea typeface="Times New Roman" panose="02020603050405020304" pitchFamily="18" charset="0"/>
                          <a:cs typeface="Times New Roman" panose="02020603050405020304" pitchFamily="18" charset="0"/>
                        </a:rPr>
                        <a:t>2,183</a:t>
                      </a:r>
                      <a:endParaRPr lang="en-US" sz="2500" b="0" i="0" u="none" strike="noStrike">
                        <a:effectLst/>
                        <a:latin typeface="Arial" panose="020B0604020202020204" pitchFamily="34" charset="0"/>
                      </a:endParaRPr>
                    </a:p>
                  </a:txBody>
                  <a:tcPr marL="96987" marR="96987" marT="134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15000"/>
                        </a:lnSpc>
                        <a:spcAft>
                          <a:spcPts val="600"/>
                        </a:spcAft>
                        <a:buNone/>
                      </a:pPr>
                      <a:r>
                        <a:rPr lang="en-US" sz="1600" b="0" i="0" u="none" strike="noStrike">
                          <a:effectLst/>
                          <a:latin typeface="Aptos" panose="020B0004020202020204" pitchFamily="34" charset="0"/>
                          <a:ea typeface="Times New Roman" panose="02020603050405020304" pitchFamily="18" charset="0"/>
                          <a:cs typeface="Times New Roman" panose="02020603050405020304" pitchFamily="18" charset="0"/>
                        </a:rPr>
                        <a:t>2.37</a:t>
                      </a:r>
                      <a:endParaRPr lang="en-US" sz="2500" b="0" i="0" u="none" strike="noStrike">
                        <a:effectLst/>
                        <a:latin typeface="Arial" panose="020B0604020202020204" pitchFamily="34" charset="0"/>
                      </a:endParaRPr>
                    </a:p>
                  </a:txBody>
                  <a:tcPr marL="96987" marR="96987" marT="134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713686088"/>
                  </a:ext>
                </a:extLst>
              </a:tr>
              <a:tr h="337839">
                <a:tc>
                  <a:txBody>
                    <a:bodyPr/>
                    <a:lstStyle/>
                    <a:p>
                      <a:pPr algn="l" fontAlgn="t">
                        <a:lnSpc>
                          <a:spcPct val="115000"/>
                        </a:lnSpc>
                        <a:spcAft>
                          <a:spcPts val="600"/>
                        </a:spcAft>
                        <a:buNone/>
                      </a:pPr>
                      <a:r>
                        <a:rPr lang="en-US" sz="1600" b="0" i="0" u="none" strike="noStrike">
                          <a:effectLst/>
                          <a:latin typeface="Aptos" panose="020B0004020202020204" pitchFamily="34" charset="0"/>
                          <a:ea typeface="Times New Roman" panose="02020603050405020304" pitchFamily="18" charset="0"/>
                          <a:cs typeface="Times New Roman" panose="02020603050405020304" pitchFamily="18" charset="0"/>
                        </a:rPr>
                        <a:t>4</a:t>
                      </a:r>
                      <a:endParaRPr lang="en-US" sz="2500" b="0" i="0" u="none" strike="noStrike">
                        <a:effectLst/>
                        <a:latin typeface="Arial" panose="020B0604020202020204" pitchFamily="34" charset="0"/>
                      </a:endParaRPr>
                    </a:p>
                  </a:txBody>
                  <a:tcPr marL="96987" marR="96987" marT="134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15000"/>
                        </a:lnSpc>
                        <a:spcAft>
                          <a:spcPts val="600"/>
                        </a:spcAft>
                        <a:buNone/>
                      </a:pPr>
                      <a:r>
                        <a:rPr lang="en-US" sz="1600" b="0" i="0" u="none" strike="noStrike">
                          <a:effectLst/>
                          <a:latin typeface="Aptos" panose="020B0004020202020204" pitchFamily="34" charset="0"/>
                          <a:ea typeface="Times New Roman" panose="02020603050405020304" pitchFamily="18" charset="0"/>
                          <a:cs typeface="Times New Roman" panose="02020603050405020304" pitchFamily="18" charset="0"/>
                        </a:rPr>
                        <a:t>6,335</a:t>
                      </a:r>
                      <a:endParaRPr lang="en-US" sz="2500" b="0" i="0" u="none" strike="noStrike">
                        <a:effectLst/>
                        <a:latin typeface="Arial" panose="020B0604020202020204" pitchFamily="34" charset="0"/>
                      </a:endParaRPr>
                    </a:p>
                  </a:txBody>
                  <a:tcPr marL="96987" marR="96987" marT="134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15000"/>
                        </a:lnSpc>
                        <a:spcAft>
                          <a:spcPts val="600"/>
                        </a:spcAft>
                        <a:buNone/>
                      </a:pPr>
                      <a:r>
                        <a:rPr lang="en-US" sz="1600" b="0" i="0" u="none" strike="noStrike">
                          <a:effectLst/>
                          <a:latin typeface="Aptos" panose="020B0004020202020204" pitchFamily="34" charset="0"/>
                          <a:ea typeface="Times New Roman" panose="02020603050405020304" pitchFamily="18" charset="0"/>
                          <a:cs typeface="Times New Roman" panose="02020603050405020304" pitchFamily="18" charset="0"/>
                        </a:rPr>
                        <a:t>2,184</a:t>
                      </a:r>
                      <a:endParaRPr lang="en-US" sz="2500" b="0" i="0" u="none" strike="noStrike">
                        <a:effectLst/>
                        <a:latin typeface="Arial" panose="020B0604020202020204" pitchFamily="34" charset="0"/>
                      </a:endParaRPr>
                    </a:p>
                  </a:txBody>
                  <a:tcPr marL="96987" marR="96987" marT="134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15000"/>
                        </a:lnSpc>
                        <a:spcAft>
                          <a:spcPts val="600"/>
                        </a:spcAft>
                        <a:buNone/>
                      </a:pPr>
                      <a:r>
                        <a:rPr lang="en-US" sz="1600" b="0" i="0" u="none" strike="noStrike">
                          <a:effectLst/>
                          <a:latin typeface="Aptos" panose="020B0004020202020204" pitchFamily="34" charset="0"/>
                          <a:ea typeface="Times New Roman" panose="02020603050405020304" pitchFamily="18" charset="0"/>
                          <a:cs typeface="Times New Roman" panose="02020603050405020304" pitchFamily="18" charset="0"/>
                        </a:rPr>
                        <a:t>2.90</a:t>
                      </a:r>
                      <a:endParaRPr lang="en-US" sz="2500" b="0" i="0" u="none" strike="noStrike">
                        <a:effectLst/>
                        <a:latin typeface="Arial" panose="020B0604020202020204" pitchFamily="34" charset="0"/>
                      </a:endParaRPr>
                    </a:p>
                  </a:txBody>
                  <a:tcPr marL="96987" marR="96987" marT="134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50119053"/>
                  </a:ext>
                </a:extLst>
              </a:tr>
              <a:tr h="337839">
                <a:tc>
                  <a:txBody>
                    <a:bodyPr/>
                    <a:lstStyle/>
                    <a:p>
                      <a:pPr algn="l" fontAlgn="t">
                        <a:lnSpc>
                          <a:spcPct val="115000"/>
                        </a:lnSpc>
                        <a:spcAft>
                          <a:spcPts val="600"/>
                        </a:spcAft>
                        <a:buNone/>
                      </a:pPr>
                      <a:r>
                        <a:rPr lang="en-US" sz="1600" b="0" i="0" u="none" strike="noStrike">
                          <a:effectLst/>
                          <a:latin typeface="Aptos" panose="020B0004020202020204" pitchFamily="34" charset="0"/>
                          <a:ea typeface="Times New Roman" panose="02020603050405020304" pitchFamily="18" charset="0"/>
                          <a:cs typeface="Times New Roman" panose="02020603050405020304" pitchFamily="18" charset="0"/>
                        </a:rPr>
                        <a:t>5</a:t>
                      </a:r>
                      <a:endParaRPr lang="en-US" sz="2500" b="0" i="0" u="none" strike="noStrike">
                        <a:effectLst/>
                        <a:latin typeface="Arial" panose="020B0604020202020204" pitchFamily="34" charset="0"/>
                      </a:endParaRPr>
                    </a:p>
                  </a:txBody>
                  <a:tcPr marL="96987" marR="96987" marT="134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15000"/>
                        </a:lnSpc>
                        <a:spcAft>
                          <a:spcPts val="600"/>
                        </a:spcAft>
                        <a:buNone/>
                      </a:pPr>
                      <a:r>
                        <a:rPr lang="en-US" sz="1600" b="0" i="0" u="none" strike="noStrike">
                          <a:effectLst/>
                          <a:latin typeface="Aptos" panose="020B0004020202020204" pitchFamily="34" charset="0"/>
                          <a:ea typeface="Times New Roman" panose="02020603050405020304" pitchFamily="18" charset="0"/>
                          <a:cs typeface="Times New Roman" panose="02020603050405020304" pitchFamily="18" charset="0"/>
                        </a:rPr>
                        <a:t>7,633</a:t>
                      </a:r>
                      <a:endParaRPr lang="en-US" sz="2500" b="0" i="0" u="none" strike="noStrike">
                        <a:effectLst/>
                        <a:latin typeface="Arial" panose="020B0604020202020204" pitchFamily="34" charset="0"/>
                      </a:endParaRPr>
                    </a:p>
                  </a:txBody>
                  <a:tcPr marL="96987" marR="96987" marT="134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15000"/>
                        </a:lnSpc>
                        <a:spcAft>
                          <a:spcPts val="600"/>
                        </a:spcAft>
                        <a:buNone/>
                      </a:pPr>
                      <a:r>
                        <a:rPr lang="en-US" sz="1600" b="0" i="0" u="none" strike="noStrike">
                          <a:effectLst/>
                          <a:latin typeface="Aptos" panose="020B0004020202020204" pitchFamily="34" charset="0"/>
                          <a:ea typeface="Times New Roman" panose="02020603050405020304" pitchFamily="18" charset="0"/>
                          <a:cs typeface="Times New Roman" panose="02020603050405020304" pitchFamily="18" charset="0"/>
                        </a:rPr>
                        <a:t>2,721</a:t>
                      </a:r>
                      <a:endParaRPr lang="en-US" sz="2500" b="0" i="0" u="none" strike="noStrike">
                        <a:effectLst/>
                        <a:latin typeface="Arial" panose="020B0604020202020204" pitchFamily="34" charset="0"/>
                      </a:endParaRPr>
                    </a:p>
                  </a:txBody>
                  <a:tcPr marL="96987" marR="96987" marT="134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gn="l" fontAlgn="t">
                        <a:lnSpc>
                          <a:spcPct val="115000"/>
                        </a:lnSpc>
                        <a:spcAft>
                          <a:spcPts val="600"/>
                        </a:spcAft>
                        <a:buNone/>
                      </a:pPr>
                      <a:r>
                        <a:rPr lang="en-US" sz="1600" b="0" i="0" u="none" strike="noStrike" dirty="0">
                          <a:effectLst/>
                          <a:latin typeface="Aptos" panose="020B0004020202020204" pitchFamily="34" charset="0"/>
                          <a:ea typeface="Times New Roman" panose="02020603050405020304" pitchFamily="18" charset="0"/>
                          <a:cs typeface="Times New Roman" panose="02020603050405020304" pitchFamily="18" charset="0"/>
                        </a:rPr>
                        <a:t>2.81</a:t>
                      </a:r>
                      <a:endParaRPr lang="en-US" sz="2500" b="0" i="0" u="none" strike="noStrike" dirty="0">
                        <a:effectLst/>
                        <a:latin typeface="Arial" panose="020B0604020202020204" pitchFamily="34" charset="0"/>
                      </a:endParaRPr>
                    </a:p>
                  </a:txBody>
                  <a:tcPr marL="96987" marR="96987" marT="1347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541839949"/>
                  </a:ext>
                </a:extLst>
              </a:tr>
            </a:tbl>
          </a:graphicData>
        </a:graphic>
      </p:graphicFrame>
      <p:sp>
        <p:nvSpPr>
          <p:cNvPr id="10" name="TextBox 9">
            <a:extLst>
              <a:ext uri="{FF2B5EF4-FFF2-40B4-BE49-F238E27FC236}">
                <a16:creationId xmlns:a16="http://schemas.microsoft.com/office/drawing/2014/main" id="{0F2DCE0D-CDAE-030B-C990-020D99C3915C}"/>
              </a:ext>
            </a:extLst>
          </p:cNvPr>
          <p:cNvSpPr txBox="1"/>
          <p:nvPr/>
        </p:nvSpPr>
        <p:spPr>
          <a:xfrm>
            <a:off x="650449" y="3586703"/>
            <a:ext cx="4506013" cy="1056058"/>
          </a:xfrm>
          <a:prstGeom prst="rect">
            <a:avLst/>
          </a:prstGeom>
          <a:noFill/>
        </p:spPr>
        <p:txBody>
          <a:bodyPr wrap="square">
            <a:spAutoFit/>
          </a:bodyPr>
          <a:lstStyle/>
          <a:p>
            <a:pPr>
              <a:lnSpc>
                <a:spcPct val="115000"/>
              </a:lnSpc>
              <a:spcAft>
                <a:spcPts val="600"/>
              </a:spcAft>
              <a:buNone/>
            </a:pPr>
            <a:r>
              <a:rPr lang="en-US" sz="1100" dirty="0">
                <a:effectLst/>
                <a:latin typeface="Aptos" panose="020B0004020202020204" pitchFamily="34" charset="0"/>
                <a:ea typeface="Times New Roman" panose="02020603050405020304" pitchFamily="18" charset="0"/>
                <a:cs typeface="Times New Roman" panose="02020603050405020304" pitchFamily="18" charset="0"/>
              </a:rPr>
              <a:t>Cluster centers (original units: avg weekly sales per store, non‑promo): Slow ≈ 1.4; Medium ≈ 6.35; Fast ≈ 21.02.</a:t>
            </a:r>
            <a:br>
              <a:rPr lang="en-US" sz="1100" dirty="0">
                <a:effectLst/>
                <a:latin typeface="Aptos" panose="020B0004020202020204" pitchFamily="34" charset="0"/>
                <a:ea typeface="Times New Roman" panose="02020603050405020304" pitchFamily="18" charset="0"/>
                <a:cs typeface="Times New Roman" panose="02020603050405020304" pitchFamily="18" charset="0"/>
              </a:rPr>
            </a:br>
            <a:r>
              <a:rPr lang="en-US" sz="1100" dirty="0">
                <a:effectLst/>
                <a:latin typeface="Aptos" panose="020B0004020202020204" pitchFamily="34" charset="0"/>
                <a:ea typeface="Times New Roman" panose="02020603050405020304" pitchFamily="18" charset="0"/>
                <a:cs typeface="Times New Roman" panose="02020603050405020304" pitchFamily="18" charset="0"/>
              </a:rPr>
              <a:t>Suggested cutoffs (original units): Slow &lt; ~3.875; Medium ~3.875-13.684; Fast ≥ ~13.684.</a:t>
            </a:r>
            <a:br>
              <a:rPr lang="en-US" sz="1100" dirty="0">
                <a:effectLst/>
                <a:latin typeface="Aptos" panose="020B0004020202020204" pitchFamily="34" charset="0"/>
                <a:ea typeface="Times New Roman" panose="02020603050405020304" pitchFamily="18" charset="0"/>
                <a:cs typeface="Times New Roman" panose="02020603050405020304" pitchFamily="18" charset="0"/>
              </a:rPr>
            </a:br>
            <a:r>
              <a:rPr lang="en-US" sz="1100" dirty="0">
                <a:effectLst/>
                <a:latin typeface="Aptos" panose="020B0004020202020204" pitchFamily="34" charset="0"/>
                <a:ea typeface="Times New Roman" panose="02020603050405020304" pitchFamily="18" charset="0"/>
                <a:cs typeface="Times New Roman" panose="02020603050405020304" pitchFamily="18" charset="0"/>
              </a:rPr>
              <a:t>Composition: Slow 271; Medium 39; Fast 6.</a:t>
            </a:r>
            <a:endParaRPr lang="en-GB" sz="1100" dirty="0">
              <a:effectLst/>
              <a:latin typeface="Aptos" panose="020B0004020202020204" pitchFamily="34"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9">
    <p:bg>
      <p:bgPr>
        <a:solidFill>
          <a:srgbClr val="222222"/>
        </a:solidFill>
        <a:effectLst/>
      </p:bgPr>
    </p:bg>
    <p:spTree>
      <p:nvGrpSpPr>
        <p:cNvPr id="1" name=""/>
        <p:cNvGrpSpPr/>
        <p:nvPr/>
      </p:nvGrpSpPr>
      <p:grpSpPr>
        <a:xfrm>
          <a:off x="0" y="0"/>
          <a:ext cx="0" cy="0"/>
          <a:chOff x="0" y="0"/>
          <a:chExt cx="0" cy="0"/>
        </a:xfrm>
      </p:grpSpPr>
      <p:sp>
        <p:nvSpPr>
          <p:cNvPr id="2" name="Object 1"/>
          <p:cNvSpPr/>
          <p:nvPr/>
        </p:nvSpPr>
        <p:spPr>
          <a:xfrm>
            <a:off x="0" y="374246"/>
            <a:ext cx="12188915" cy="556069"/>
          </a:xfrm>
          <a:prstGeom prst="rect">
            <a:avLst/>
          </a:prstGeom>
          <a:noFill/>
        </p:spPr>
        <p:txBody>
          <a:bodyPr wrap="square" lIns="0" tIns="0" rIns="0" bIns="0" rtlCol="0" anchor="t"/>
          <a:lstStyle/>
          <a:p>
            <a:pPr algn="ctr">
              <a:lnSpc>
                <a:spcPts val="4380"/>
              </a:lnSpc>
              <a:buNone/>
            </a:pPr>
            <a:r>
              <a:rPr lang="en-US" sz="3750" b="1" kern="0" spc="-225" dirty="0">
                <a:solidFill>
                  <a:srgbClr val="FFFFFF"/>
                </a:solidFill>
                <a:latin typeface="Inter" pitchFamily="34" charset="0"/>
                <a:ea typeface="Inter" pitchFamily="34" charset="-122"/>
                <a:cs typeface="Inter" pitchFamily="34" charset="-120"/>
              </a:rPr>
              <a:t>Promo vs Non-Promo Behavior</a:t>
            </a:r>
            <a:endParaRPr lang="en-US" dirty="0"/>
          </a:p>
        </p:txBody>
      </p:sp>
      <p:sp>
        <p:nvSpPr>
          <p:cNvPr id="3" name="Object 2"/>
          <p:cNvSpPr/>
          <p:nvPr/>
        </p:nvSpPr>
        <p:spPr>
          <a:xfrm>
            <a:off x="1095101" y="1614084"/>
            <a:ext cx="714196" cy="714196"/>
          </a:xfrm>
          <a:prstGeom prst="ellipse">
            <a:avLst/>
          </a:prstGeom>
          <a:solidFill>
            <a:srgbClr val="22AAEE"/>
          </a:solidFill>
        </p:spPr>
        <p:txBody>
          <a:bodyPr/>
          <a:lstStyle/>
          <a:p>
            <a:endParaRPr lang="en-GB"/>
          </a:p>
        </p:txBody>
      </p:sp>
      <p:pic>
        <p:nvPicPr>
          <p:cNvPr id="4" name="Object 3"/>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30702" y="1812050"/>
            <a:ext cx="247588" cy="323769"/>
          </a:xfrm>
          <a:prstGeom prst="rect">
            <a:avLst/>
          </a:prstGeom>
        </p:spPr>
      </p:pic>
      <p:sp>
        <p:nvSpPr>
          <p:cNvPr id="5" name="Object 4"/>
          <p:cNvSpPr/>
          <p:nvPr/>
        </p:nvSpPr>
        <p:spPr>
          <a:xfrm>
            <a:off x="1999750" y="1565206"/>
            <a:ext cx="4242327" cy="533862"/>
          </a:xfrm>
          <a:prstGeom prst="rect">
            <a:avLst/>
          </a:prstGeom>
          <a:noFill/>
        </p:spPr>
        <p:txBody>
          <a:bodyPr wrap="square" lIns="0" tIns="0" rIns="0" bIns="0" rtlCol="0" anchor="t"/>
          <a:lstStyle/>
          <a:p>
            <a:pPr algn="l">
              <a:lnSpc>
                <a:spcPts val="2102"/>
              </a:lnSpc>
              <a:buNone/>
            </a:pPr>
            <a:r>
              <a:rPr lang="en-US" sz="1800" b="1" kern="0" spc="-108" dirty="0">
                <a:solidFill>
                  <a:srgbClr val="FFFFFF"/>
                </a:solidFill>
                <a:latin typeface="Inter" pitchFamily="34" charset="0"/>
                <a:ea typeface="Inter" pitchFamily="34" charset="-122"/>
                <a:cs typeface="Inter" pitchFamily="34" charset="-120"/>
              </a:rPr>
              <a:t>Slow products show highest promotional uplift</a:t>
            </a:r>
            <a:endParaRPr lang="en-US" dirty="0"/>
          </a:p>
        </p:txBody>
      </p:sp>
      <p:sp>
        <p:nvSpPr>
          <p:cNvPr id="6" name="Object 5"/>
          <p:cNvSpPr/>
          <p:nvPr/>
        </p:nvSpPr>
        <p:spPr>
          <a:xfrm>
            <a:off x="1999750" y="2176625"/>
            <a:ext cx="4242327" cy="792423"/>
          </a:xfrm>
          <a:prstGeom prst="rect">
            <a:avLst/>
          </a:prstGeom>
          <a:noFill/>
        </p:spPr>
        <p:txBody>
          <a:bodyPr wrap="square" lIns="0" tIns="0" rIns="0" bIns="0" rtlCol="0" anchor="t"/>
          <a:lstStyle/>
          <a:p>
            <a:pPr algn="l">
              <a:lnSpc>
                <a:spcPts val="2081"/>
              </a:lnSpc>
              <a:spcBef>
                <a:spcPts val="599"/>
              </a:spcBef>
              <a:buNone/>
            </a:pPr>
            <a:r>
              <a:rPr lang="en-US" sz="1500" kern="0" spc="-30" dirty="0">
                <a:solidFill>
                  <a:srgbClr val="FFFFFF">
                    <a:alpha val="80000"/>
                  </a:srgbClr>
                </a:solidFill>
                <a:latin typeface="Inter" pitchFamily="34" charset="0"/>
                <a:ea typeface="Inter" pitchFamily="34" charset="-122"/>
                <a:cs typeface="Inter" pitchFamily="34" charset="-120"/>
              </a:rPr>
              <a:t>Slow products benefit the most from promotions, with an average uplift of +10.2% during promo periods.</a:t>
            </a:r>
            <a:endParaRPr lang="en-US" dirty="0"/>
          </a:p>
        </p:txBody>
      </p:sp>
      <p:sp>
        <p:nvSpPr>
          <p:cNvPr id="7" name="Object 6"/>
          <p:cNvSpPr/>
          <p:nvPr/>
        </p:nvSpPr>
        <p:spPr>
          <a:xfrm>
            <a:off x="1095101" y="3385291"/>
            <a:ext cx="714196" cy="714196"/>
          </a:xfrm>
          <a:prstGeom prst="ellipse">
            <a:avLst/>
          </a:prstGeom>
          <a:solidFill>
            <a:srgbClr val="FFD9AD"/>
          </a:solidFill>
        </p:spPr>
        <p:txBody>
          <a:bodyPr/>
          <a:lstStyle/>
          <a:p>
            <a:endParaRPr lang="en-GB"/>
          </a:p>
        </p:txBody>
      </p:sp>
      <p:pic>
        <p:nvPicPr>
          <p:cNvPr id="8" name="Object 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330702" y="3583257"/>
            <a:ext cx="247588" cy="323769"/>
          </a:xfrm>
          <a:prstGeom prst="rect">
            <a:avLst/>
          </a:prstGeom>
        </p:spPr>
      </p:pic>
      <p:sp>
        <p:nvSpPr>
          <p:cNvPr id="9" name="Object 8"/>
          <p:cNvSpPr/>
          <p:nvPr/>
        </p:nvSpPr>
        <p:spPr>
          <a:xfrm>
            <a:off x="1999750" y="3336413"/>
            <a:ext cx="4242327" cy="533862"/>
          </a:xfrm>
          <a:prstGeom prst="rect">
            <a:avLst/>
          </a:prstGeom>
          <a:noFill/>
        </p:spPr>
        <p:txBody>
          <a:bodyPr wrap="square" lIns="0" tIns="0" rIns="0" bIns="0" rtlCol="0" anchor="t"/>
          <a:lstStyle/>
          <a:p>
            <a:pPr algn="l">
              <a:lnSpc>
                <a:spcPts val="2102"/>
              </a:lnSpc>
              <a:buNone/>
            </a:pPr>
            <a:r>
              <a:rPr lang="en-US" sz="1800" b="1" kern="0" spc="-108" dirty="0">
                <a:solidFill>
                  <a:srgbClr val="FFFFFF"/>
                </a:solidFill>
                <a:latin typeface="Inter" pitchFamily="34" charset="0"/>
                <a:ea typeface="Inter" pitchFamily="34" charset="-122"/>
                <a:cs typeface="Inter" pitchFamily="34" charset="-120"/>
              </a:rPr>
              <a:t>Fast products exhibit limited or negative uplift</a:t>
            </a:r>
            <a:endParaRPr lang="en-US" dirty="0"/>
          </a:p>
        </p:txBody>
      </p:sp>
      <p:sp>
        <p:nvSpPr>
          <p:cNvPr id="10" name="Object 9"/>
          <p:cNvSpPr/>
          <p:nvPr/>
        </p:nvSpPr>
        <p:spPr>
          <a:xfrm>
            <a:off x="1999750" y="3947832"/>
            <a:ext cx="4242327" cy="792423"/>
          </a:xfrm>
          <a:prstGeom prst="rect">
            <a:avLst/>
          </a:prstGeom>
          <a:noFill/>
        </p:spPr>
        <p:txBody>
          <a:bodyPr wrap="square" lIns="0" tIns="0" rIns="0" bIns="0" rtlCol="0" anchor="t"/>
          <a:lstStyle/>
          <a:p>
            <a:pPr algn="l">
              <a:lnSpc>
                <a:spcPts val="2081"/>
              </a:lnSpc>
              <a:spcBef>
                <a:spcPts val="599"/>
              </a:spcBef>
              <a:buNone/>
            </a:pPr>
            <a:r>
              <a:rPr lang="en-US" sz="1500" kern="0" spc="-30" dirty="0">
                <a:solidFill>
                  <a:srgbClr val="FFFFFF">
                    <a:alpha val="80000"/>
                  </a:srgbClr>
                </a:solidFill>
                <a:latin typeface="Inter" pitchFamily="34" charset="0"/>
                <a:ea typeface="Inter" pitchFamily="34" charset="-122"/>
                <a:cs typeface="Inter" pitchFamily="34" charset="-120"/>
              </a:rPr>
              <a:t>Fast-moving products have an average promotional uplift of -1.8%, indicating limited or even negative response to promotions.</a:t>
            </a:r>
            <a:endParaRPr lang="en-US" dirty="0"/>
          </a:p>
        </p:txBody>
      </p:sp>
      <p:sp>
        <p:nvSpPr>
          <p:cNvPr id="11" name="Object 10"/>
          <p:cNvSpPr/>
          <p:nvPr/>
        </p:nvSpPr>
        <p:spPr>
          <a:xfrm>
            <a:off x="6332541" y="1614084"/>
            <a:ext cx="714196" cy="714196"/>
          </a:xfrm>
          <a:prstGeom prst="ellipse">
            <a:avLst/>
          </a:prstGeom>
          <a:solidFill>
            <a:srgbClr val="FEC088"/>
          </a:solidFill>
        </p:spPr>
        <p:txBody>
          <a:bodyPr/>
          <a:lstStyle/>
          <a:p>
            <a:endParaRPr lang="en-GB"/>
          </a:p>
        </p:txBody>
      </p:sp>
      <p:pic>
        <p:nvPicPr>
          <p:cNvPr id="12" name="Object 11"/>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509613" y="1799497"/>
            <a:ext cx="352337" cy="342814"/>
          </a:xfrm>
          <a:prstGeom prst="rect">
            <a:avLst/>
          </a:prstGeom>
        </p:spPr>
      </p:pic>
      <p:sp>
        <p:nvSpPr>
          <p:cNvPr id="13" name="Object 12"/>
          <p:cNvSpPr/>
          <p:nvPr/>
        </p:nvSpPr>
        <p:spPr>
          <a:xfrm>
            <a:off x="7237190" y="1565206"/>
            <a:ext cx="4242327" cy="533862"/>
          </a:xfrm>
          <a:prstGeom prst="rect">
            <a:avLst/>
          </a:prstGeom>
          <a:noFill/>
        </p:spPr>
        <p:txBody>
          <a:bodyPr wrap="square" lIns="0" tIns="0" rIns="0" bIns="0" rtlCol="0" anchor="t"/>
          <a:lstStyle/>
          <a:p>
            <a:pPr algn="l">
              <a:lnSpc>
                <a:spcPts val="2102"/>
              </a:lnSpc>
              <a:buNone/>
            </a:pPr>
            <a:r>
              <a:rPr lang="en-US" sz="1800" b="1" kern="0" spc="-108" dirty="0">
                <a:solidFill>
                  <a:srgbClr val="FFFFFF"/>
                </a:solidFill>
                <a:latin typeface="Inter" pitchFamily="34" charset="0"/>
                <a:ea typeface="Inter" pitchFamily="34" charset="-122"/>
                <a:cs typeface="Inter" pitchFamily="34" charset="-120"/>
              </a:rPr>
              <a:t>Slow stores benefit the most from promotions</a:t>
            </a:r>
            <a:endParaRPr lang="en-US" dirty="0"/>
          </a:p>
        </p:txBody>
      </p:sp>
      <p:sp>
        <p:nvSpPr>
          <p:cNvPr id="14" name="Object 13"/>
          <p:cNvSpPr/>
          <p:nvPr/>
        </p:nvSpPr>
        <p:spPr>
          <a:xfrm>
            <a:off x="7237190" y="2176625"/>
            <a:ext cx="4242327" cy="1056564"/>
          </a:xfrm>
          <a:prstGeom prst="rect">
            <a:avLst/>
          </a:prstGeom>
          <a:noFill/>
        </p:spPr>
        <p:txBody>
          <a:bodyPr wrap="square" lIns="0" tIns="0" rIns="0" bIns="0" rtlCol="0" anchor="t"/>
          <a:lstStyle/>
          <a:p>
            <a:pPr algn="l">
              <a:lnSpc>
                <a:spcPts val="2081"/>
              </a:lnSpc>
              <a:spcBef>
                <a:spcPts val="599"/>
              </a:spcBef>
              <a:buNone/>
            </a:pPr>
            <a:r>
              <a:rPr lang="en-US" sz="1500" kern="0" spc="-30" dirty="0">
                <a:solidFill>
                  <a:srgbClr val="FFFFFF">
                    <a:alpha val="80000"/>
                  </a:srgbClr>
                </a:solidFill>
                <a:latin typeface="Inter" pitchFamily="34" charset="0"/>
                <a:ea typeface="Inter" pitchFamily="34" charset="-122"/>
                <a:cs typeface="Inter" pitchFamily="34" charset="-120"/>
              </a:rPr>
              <a:t>Slow stores see the highest relative promotional uplift at +10.6%, compared to +9.2% for Medium stores and +5.6% for Fast stores.</a:t>
            </a:r>
            <a:endParaRPr lang="en-US" dirty="0"/>
          </a:p>
        </p:txBody>
      </p:sp>
      <p:sp>
        <p:nvSpPr>
          <p:cNvPr id="15" name="Object 14"/>
          <p:cNvSpPr/>
          <p:nvPr/>
        </p:nvSpPr>
        <p:spPr>
          <a:xfrm>
            <a:off x="6332541" y="3651924"/>
            <a:ext cx="714196" cy="714196"/>
          </a:xfrm>
          <a:prstGeom prst="ellipse">
            <a:avLst/>
          </a:prstGeom>
          <a:solidFill>
            <a:srgbClr val="FD864D"/>
          </a:solidFill>
        </p:spPr>
        <p:txBody>
          <a:bodyPr/>
          <a:lstStyle/>
          <a:p>
            <a:endParaRPr lang="en-GB"/>
          </a:p>
        </p:txBody>
      </p:sp>
      <p:pic>
        <p:nvPicPr>
          <p:cNvPr id="16" name="Object 15"/>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547295" y="3887514"/>
            <a:ext cx="285679" cy="238065"/>
          </a:xfrm>
          <a:prstGeom prst="rect">
            <a:avLst/>
          </a:prstGeom>
        </p:spPr>
      </p:pic>
      <p:sp>
        <p:nvSpPr>
          <p:cNvPr id="17" name="Object 16"/>
          <p:cNvSpPr/>
          <p:nvPr/>
        </p:nvSpPr>
        <p:spPr>
          <a:xfrm>
            <a:off x="7237190" y="3603046"/>
            <a:ext cx="4242327" cy="533862"/>
          </a:xfrm>
          <a:prstGeom prst="rect">
            <a:avLst/>
          </a:prstGeom>
          <a:noFill/>
        </p:spPr>
        <p:txBody>
          <a:bodyPr wrap="square" lIns="0" tIns="0" rIns="0" bIns="0" rtlCol="0" anchor="t"/>
          <a:lstStyle/>
          <a:p>
            <a:pPr algn="l">
              <a:lnSpc>
                <a:spcPts val="2102"/>
              </a:lnSpc>
              <a:buNone/>
            </a:pPr>
            <a:r>
              <a:rPr lang="en-US" sz="1800" b="1" kern="0" spc="-108" dirty="0">
                <a:solidFill>
                  <a:srgbClr val="FFFFFF"/>
                </a:solidFill>
                <a:latin typeface="Inter" pitchFamily="34" charset="0"/>
                <a:ea typeface="Inter" pitchFamily="34" charset="-122"/>
                <a:cs typeface="Inter" pitchFamily="34" charset="-120"/>
              </a:rPr>
              <a:t>Promo effectiveness varies by store and product speed</a:t>
            </a:r>
            <a:endParaRPr lang="en-US" dirty="0"/>
          </a:p>
        </p:txBody>
      </p:sp>
      <p:sp>
        <p:nvSpPr>
          <p:cNvPr id="18" name="Object 17"/>
          <p:cNvSpPr/>
          <p:nvPr/>
        </p:nvSpPr>
        <p:spPr>
          <a:xfrm>
            <a:off x="7237190" y="4214466"/>
            <a:ext cx="4242327" cy="1056564"/>
          </a:xfrm>
          <a:prstGeom prst="rect">
            <a:avLst/>
          </a:prstGeom>
          <a:noFill/>
        </p:spPr>
        <p:txBody>
          <a:bodyPr wrap="square" lIns="0" tIns="0" rIns="0" bIns="0" rtlCol="0" anchor="t"/>
          <a:lstStyle/>
          <a:p>
            <a:pPr algn="l">
              <a:lnSpc>
                <a:spcPts val="2081"/>
              </a:lnSpc>
              <a:spcBef>
                <a:spcPts val="599"/>
              </a:spcBef>
              <a:buNone/>
            </a:pPr>
            <a:r>
              <a:rPr lang="en-US" sz="1500" kern="0" spc="-30" dirty="0">
                <a:solidFill>
                  <a:srgbClr val="FFFFFF">
                    <a:alpha val="80000"/>
                  </a:srgbClr>
                </a:solidFill>
                <a:latin typeface="Inter" pitchFamily="34" charset="0"/>
                <a:ea typeface="Inter" pitchFamily="34" charset="-122"/>
                <a:cs typeface="Inter" pitchFamily="34" charset="-120"/>
              </a:rPr>
              <a:t>The analysis reveals a clear pattern where promotional impact is most significant for slow-moving products and stores, but limited or negative for fast-moving segments.</a:t>
            </a:r>
            <a:endParaRPr lang="en-US" dirty="0"/>
          </a:p>
        </p:txBody>
      </p:sp>
      <p:sp>
        <p:nvSpPr>
          <p:cNvPr id="19" name="Object 18"/>
          <p:cNvSpPr/>
          <p:nvPr/>
        </p:nvSpPr>
        <p:spPr>
          <a:xfrm>
            <a:off x="0" y="5713571"/>
            <a:ext cx="12188952" cy="1142714"/>
          </a:xfrm>
          <a:prstGeom prst="rect">
            <a:avLst/>
          </a:prstGeom>
          <a:solidFill>
            <a:srgbClr val="22AAEE"/>
          </a:solidFill>
        </p:spPr>
        <p:txBody>
          <a:bodyPr/>
          <a:lstStyle/>
          <a:p>
            <a:endParaRPr lang="en-GB"/>
          </a:p>
        </p:txBody>
      </p:sp>
      <p:sp>
        <p:nvSpPr>
          <p:cNvPr id="20" name="Object 19"/>
          <p:cNvSpPr/>
          <p:nvPr/>
        </p:nvSpPr>
        <p:spPr>
          <a:xfrm>
            <a:off x="128555" y="5959523"/>
            <a:ext cx="11931804" cy="650477"/>
          </a:xfrm>
          <a:prstGeom prst="rect">
            <a:avLst/>
          </a:prstGeom>
          <a:noFill/>
        </p:spPr>
        <p:txBody>
          <a:bodyPr wrap="square" lIns="0" tIns="0" rIns="0" bIns="0" rtlCol="0" anchor="ctr"/>
          <a:lstStyle/>
          <a:p>
            <a:pPr algn="ctr">
              <a:lnSpc>
                <a:spcPts val="1709"/>
              </a:lnSpc>
              <a:buNone/>
            </a:pPr>
            <a:r>
              <a:rPr lang="en-US" sz="1463" b="1" kern="0" spc="-88" dirty="0">
                <a:solidFill>
                  <a:srgbClr val="333333"/>
                </a:solidFill>
                <a:latin typeface="Inter" pitchFamily="34" charset="0"/>
                <a:ea typeface="Inter" pitchFamily="34" charset="-122"/>
                <a:cs typeface="Inter" pitchFamily="34" charset="-120"/>
              </a:rPr>
              <a:t>The insights from the clustering analysis highlight the importance of tailoring promotional strategies based on the underlying speed and performance of stores and products. Slow-moving segments exhibit the highest responsiveness to promotions, suggesting targeted investment could yield the greatest returns, while fast-moving categories may require alternative approaches like assortment optimization and loyalty programs.</a:t>
            </a:r>
            <a:endParaRPr 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Object 1"/>
          <p:cNvSpPr/>
          <p:nvPr/>
        </p:nvSpPr>
        <p:spPr>
          <a:xfrm>
            <a:off x="5383046" y="60611"/>
            <a:ext cx="4270002" cy="1391118"/>
          </a:xfrm>
          <a:prstGeom prst="rect">
            <a:avLst/>
          </a:prstGeom>
        </p:spPr>
        <p:txBody>
          <a:bodyPr vert="horz" lIns="91440" tIns="45720" rIns="91440" bIns="45720" rtlCol="0" anchor="b">
            <a:normAutofit/>
          </a:bodyPr>
          <a:lstStyle/>
          <a:p>
            <a:pPr algn="ctr">
              <a:lnSpc>
                <a:spcPct val="90000"/>
              </a:lnSpc>
              <a:spcBef>
                <a:spcPct val="0"/>
              </a:spcBef>
              <a:spcAft>
                <a:spcPts val="600"/>
              </a:spcAft>
            </a:pPr>
            <a:endParaRPr lang="en-US" sz="4800" dirty="0">
              <a:solidFill>
                <a:srgbClr val="FFFFFF"/>
              </a:solidFill>
              <a:latin typeface="+mj-lt"/>
              <a:ea typeface="+mj-ea"/>
              <a:cs typeface="+mj-cs"/>
            </a:endParaRPr>
          </a:p>
        </p:txBody>
      </p:sp>
      <p:sp>
        <p:nvSpPr>
          <p:cNvPr id="3" name="Object 2"/>
          <p:cNvSpPr/>
          <p:nvPr/>
        </p:nvSpPr>
        <p:spPr>
          <a:xfrm>
            <a:off x="6096000" y="4148471"/>
            <a:ext cx="4948182" cy="1400607"/>
          </a:xfrm>
          <a:prstGeom prst="rect">
            <a:avLst/>
          </a:prstGeom>
        </p:spPr>
        <p:txBody>
          <a:bodyPr vert="horz" lIns="91440" tIns="45720" rIns="91440" bIns="45720" rtlCol="0">
            <a:normAutofit/>
          </a:bodyPr>
          <a:lstStyle/>
          <a:p>
            <a:pPr algn="ctr">
              <a:lnSpc>
                <a:spcPct val="90000"/>
              </a:lnSpc>
              <a:spcBef>
                <a:spcPts val="1000"/>
              </a:spcBef>
            </a:pPr>
            <a:r>
              <a:rPr lang="en-US" sz="2000" dirty="0">
                <a:solidFill>
                  <a:srgbClr val="FFFFFF"/>
                </a:solidFill>
              </a:rPr>
              <a:t>Store Results</a:t>
            </a:r>
          </a:p>
        </p:txBody>
      </p:sp>
      <p:pic>
        <p:nvPicPr>
          <p:cNvPr id="14" name="Picture 13" descr="A graph of sales&#10;&#10;AI-generated content may be incorrect.">
            <a:extLst>
              <a:ext uri="{FF2B5EF4-FFF2-40B4-BE49-F238E27FC236}">
                <a16:creationId xmlns:a16="http://schemas.microsoft.com/office/drawing/2014/main" id="{7B8A697C-D533-771A-6873-A794DDC4CF52}"/>
              </a:ext>
            </a:extLst>
          </p:cNvPr>
          <p:cNvPicPr>
            <a:picLocks noChangeAspect="1"/>
          </p:cNvPicPr>
          <p:nvPr/>
        </p:nvPicPr>
        <p:blipFill>
          <a:blip r:embed="rId3"/>
          <a:stretch>
            <a:fillRect/>
          </a:stretch>
        </p:blipFill>
        <p:spPr>
          <a:xfrm>
            <a:off x="1364440" y="629716"/>
            <a:ext cx="2987562" cy="1471374"/>
          </a:xfrm>
          <a:prstGeom prst="rect">
            <a:avLst/>
          </a:prstGeom>
        </p:spPr>
      </p:pic>
      <p:pic>
        <p:nvPicPr>
          <p:cNvPr id="15" name="Picture 14" descr="A graph of sales&#10;&#10;AI-generated content may be incorrect.">
            <a:extLst>
              <a:ext uri="{FF2B5EF4-FFF2-40B4-BE49-F238E27FC236}">
                <a16:creationId xmlns:a16="http://schemas.microsoft.com/office/drawing/2014/main" id="{0C962238-F67E-E133-DEA0-C561CA7D27B7}"/>
              </a:ext>
            </a:extLst>
          </p:cNvPr>
          <p:cNvPicPr>
            <a:picLocks noChangeAspect="1"/>
          </p:cNvPicPr>
          <p:nvPr/>
        </p:nvPicPr>
        <p:blipFill>
          <a:blip r:embed="rId3"/>
          <a:stretch>
            <a:fillRect/>
          </a:stretch>
        </p:blipFill>
        <p:spPr>
          <a:xfrm>
            <a:off x="1367707" y="2172126"/>
            <a:ext cx="3171381" cy="1561904"/>
          </a:xfrm>
          <a:prstGeom prst="rect">
            <a:avLst/>
          </a:prstGeom>
        </p:spPr>
      </p:pic>
      <p:pic>
        <p:nvPicPr>
          <p:cNvPr id="16" name="Picture 15" descr="A graph of products and a product cluster&#10;&#10;AI-generated content may be incorrect.">
            <a:extLst>
              <a:ext uri="{FF2B5EF4-FFF2-40B4-BE49-F238E27FC236}">
                <a16:creationId xmlns:a16="http://schemas.microsoft.com/office/drawing/2014/main" id="{35B41C82-D254-77C3-2CFC-986FA5B9ED1B}"/>
              </a:ext>
            </a:extLst>
          </p:cNvPr>
          <p:cNvPicPr>
            <a:picLocks noChangeAspect="1"/>
          </p:cNvPicPr>
          <p:nvPr/>
        </p:nvPicPr>
        <p:blipFill>
          <a:blip r:embed="rId4"/>
          <a:stretch>
            <a:fillRect/>
          </a:stretch>
        </p:blipFill>
        <p:spPr>
          <a:xfrm>
            <a:off x="1387350" y="3734030"/>
            <a:ext cx="3142464" cy="1547662"/>
          </a:xfrm>
          <a:prstGeom prst="rect">
            <a:avLst/>
          </a:prstGeom>
        </p:spPr>
      </p:pic>
      <p:pic>
        <p:nvPicPr>
          <p:cNvPr id="17" name="Picture 16" descr="A graph of products and a product cluster&#10;&#10;AI-generated content may be incorrect.">
            <a:extLst>
              <a:ext uri="{FF2B5EF4-FFF2-40B4-BE49-F238E27FC236}">
                <a16:creationId xmlns:a16="http://schemas.microsoft.com/office/drawing/2014/main" id="{792C89C5-CB72-943D-F653-689DDBA22D39}"/>
              </a:ext>
            </a:extLst>
          </p:cNvPr>
          <p:cNvPicPr>
            <a:picLocks noChangeAspect="1"/>
          </p:cNvPicPr>
          <p:nvPr/>
        </p:nvPicPr>
        <p:blipFill>
          <a:blip r:embed="rId4"/>
          <a:stretch>
            <a:fillRect/>
          </a:stretch>
        </p:blipFill>
        <p:spPr>
          <a:xfrm>
            <a:off x="1364440" y="5148526"/>
            <a:ext cx="3316682" cy="1633465"/>
          </a:xfrm>
          <a:prstGeom prst="rect">
            <a:avLst/>
          </a:prstGeom>
        </p:spPr>
      </p:pic>
      <p:sp>
        <p:nvSpPr>
          <p:cNvPr id="25" name="Slide Number Placeholder 24"/>
          <p:cNvSpPr>
            <a:spLocks noGrp="1"/>
          </p:cNvSpPr>
          <p:nvPr>
            <p:ph type="sldNum" sz="quarter" idx="12"/>
          </p:nvPr>
        </p:nvSpPr>
        <p:spPr>
          <a:prstGeom prst="rect">
            <a:avLst/>
          </a:prstGeom>
          <a:extLst>
            <a:ext uri="{C572A759-6A51-4108-AA02-DFA0A04FC94B}">
              <ma14:wrappingTextBoxFlag xmlns="" xmlns:ma14="http://schemas.microsoft.com/office/mac/drawingml/2011/main" val="0"/>
            </a:ext>
          </a:extLst>
        </p:spPr>
        <p:txBody>
          <a:bodyPr vert="horz" lIns="91440" tIns="45720" rIns="91440" bIns="45720" rtlCol="0" anchor="ctr">
            <a:normAutofit/>
          </a:bodyPr>
          <a:lstStyle>
            <a:lvl1pPr>
              <a:defRPr sz="1100"/>
            </a:lvl1pPr>
          </a:lstStyle>
          <a:p>
            <a:pPr algn="r">
              <a:spcAft>
                <a:spcPts val="600"/>
              </a:spcAft>
            </a:pPr>
            <a:fld id="{F7021451-1387-4CA6-816F-3879F97B5CBC}" type="slidenum">
              <a:rPr lang="en-US" sz="1200">
                <a:solidFill>
                  <a:schemeClr val="bg1"/>
                </a:solidFill>
              </a:rPr>
              <a:pPr algn="r">
                <a:spcAft>
                  <a:spcPts val="600"/>
                </a:spcAft>
              </a:pPr>
              <a:t>19</a:t>
            </a:fld>
            <a:endParaRPr lang="en-US" sz="1200">
              <a:solidFill>
                <a:schemeClr val="bg1"/>
              </a:solidFill>
            </a:endParaRPr>
          </a:p>
        </p:txBody>
      </p:sp>
      <p:sp>
        <p:nvSpPr>
          <p:cNvPr id="5" name="Object 4"/>
          <p:cNvSpPr/>
          <p:nvPr/>
        </p:nvSpPr>
        <p:spPr>
          <a:xfrm>
            <a:off x="1476006" y="5259009"/>
            <a:ext cx="3142464" cy="266931"/>
          </a:xfrm>
          <a:prstGeom prst="rect">
            <a:avLst/>
          </a:prstGeom>
          <a:noFill/>
        </p:spPr>
        <p:txBody>
          <a:bodyPr wrap="square" lIns="0" tIns="0" rIns="0" bIns="0" rtlCol="0" anchor="t"/>
          <a:lstStyle/>
          <a:p>
            <a:pPr algn="ctr">
              <a:lnSpc>
                <a:spcPts val="2102"/>
              </a:lnSpc>
              <a:buNone/>
            </a:pPr>
            <a:endParaRPr lang="en-US" dirty="0"/>
          </a:p>
        </p:txBody>
      </p:sp>
      <p:sp>
        <p:nvSpPr>
          <p:cNvPr id="13" name="Object 12"/>
          <p:cNvSpPr/>
          <p:nvPr/>
        </p:nvSpPr>
        <p:spPr>
          <a:xfrm>
            <a:off x="11760434" y="6496211"/>
            <a:ext cx="238028" cy="237693"/>
          </a:xfrm>
          <a:prstGeom prst="rect">
            <a:avLst/>
          </a:prstGeom>
          <a:noFill/>
        </p:spPr>
        <p:txBody>
          <a:bodyPr/>
          <a:lstStyle/>
          <a:p>
            <a:endParaRPr lang="en-GB"/>
          </a:p>
        </p:txBody>
      </p:sp>
      <p:graphicFrame>
        <p:nvGraphicFramePr>
          <p:cNvPr id="28" name="Table 27">
            <a:extLst>
              <a:ext uri="{FF2B5EF4-FFF2-40B4-BE49-F238E27FC236}">
                <a16:creationId xmlns:a16="http://schemas.microsoft.com/office/drawing/2014/main" id="{ADDAAF50-EF46-4B1B-F1A4-5002844C37A2}"/>
              </a:ext>
            </a:extLst>
          </p:cNvPr>
          <p:cNvGraphicFramePr>
            <a:graphicFrameLocks noGrp="1"/>
          </p:cNvGraphicFramePr>
          <p:nvPr>
            <p:extLst>
              <p:ext uri="{D42A27DB-BD31-4B8C-83A1-F6EECF244321}">
                <p14:modId xmlns:p14="http://schemas.microsoft.com/office/powerpoint/2010/main" val="3719861489"/>
              </p:ext>
            </p:extLst>
          </p:nvPr>
        </p:nvGraphicFramePr>
        <p:xfrm>
          <a:off x="5652364" y="666052"/>
          <a:ext cx="4656840" cy="1561904"/>
        </p:xfrm>
        <a:graphic>
          <a:graphicData uri="http://schemas.openxmlformats.org/drawingml/2006/table">
            <a:tbl>
              <a:tblPr firstRow="1" firstCol="1" bandRow="1"/>
              <a:tblGrid>
                <a:gridCol w="931368">
                  <a:extLst>
                    <a:ext uri="{9D8B030D-6E8A-4147-A177-3AD203B41FA5}">
                      <a16:colId xmlns:a16="http://schemas.microsoft.com/office/drawing/2014/main" val="3858324585"/>
                    </a:ext>
                  </a:extLst>
                </a:gridCol>
                <a:gridCol w="931368">
                  <a:extLst>
                    <a:ext uri="{9D8B030D-6E8A-4147-A177-3AD203B41FA5}">
                      <a16:colId xmlns:a16="http://schemas.microsoft.com/office/drawing/2014/main" val="855883746"/>
                    </a:ext>
                  </a:extLst>
                </a:gridCol>
                <a:gridCol w="931368">
                  <a:extLst>
                    <a:ext uri="{9D8B030D-6E8A-4147-A177-3AD203B41FA5}">
                      <a16:colId xmlns:a16="http://schemas.microsoft.com/office/drawing/2014/main" val="2404575227"/>
                    </a:ext>
                  </a:extLst>
                </a:gridCol>
                <a:gridCol w="931368">
                  <a:extLst>
                    <a:ext uri="{9D8B030D-6E8A-4147-A177-3AD203B41FA5}">
                      <a16:colId xmlns:a16="http://schemas.microsoft.com/office/drawing/2014/main" val="63713443"/>
                    </a:ext>
                  </a:extLst>
                </a:gridCol>
                <a:gridCol w="931368">
                  <a:extLst>
                    <a:ext uri="{9D8B030D-6E8A-4147-A177-3AD203B41FA5}">
                      <a16:colId xmlns:a16="http://schemas.microsoft.com/office/drawing/2014/main" val="2919874238"/>
                    </a:ext>
                  </a:extLst>
                </a:gridCol>
              </a:tblGrid>
              <a:tr h="628349">
                <a:tc>
                  <a:txBody>
                    <a:bodyPr/>
                    <a:lstStyle/>
                    <a:p>
                      <a:pPr>
                        <a:lnSpc>
                          <a:spcPct val="115000"/>
                        </a:lnSpc>
                        <a:spcAft>
                          <a:spcPts val="1000"/>
                        </a:spcAft>
                        <a:buNone/>
                      </a:pPr>
                      <a:r>
                        <a:rPr lang="en-US" sz="1100">
                          <a:effectLst/>
                          <a:latin typeface="Aptos" panose="020B0004020202020204" pitchFamily="34" charset="0"/>
                          <a:ea typeface="Times New Roman" panose="02020603050405020304" pitchFamily="18" charset="0"/>
                          <a:cs typeface="Times New Roman" panose="02020603050405020304" pitchFamily="18" charset="0"/>
                        </a:rPr>
                        <a:t>Cluster</a:t>
                      </a:r>
                      <a:endParaRPr lang="en-GB" sz="1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100">
                          <a:effectLst/>
                          <a:latin typeface="Aptos" panose="020B0004020202020204" pitchFamily="34" charset="0"/>
                          <a:ea typeface="Times New Roman" panose="02020603050405020304" pitchFamily="18" charset="0"/>
                          <a:cs typeface="Times New Roman" panose="02020603050405020304" pitchFamily="18" charset="0"/>
                        </a:rPr>
                        <a:t>Non‑Promo Avg</a:t>
                      </a:r>
                      <a:endParaRPr lang="en-GB" sz="1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100">
                          <a:effectLst/>
                          <a:latin typeface="Aptos" panose="020B0004020202020204" pitchFamily="34" charset="0"/>
                          <a:ea typeface="Times New Roman" panose="02020603050405020304" pitchFamily="18" charset="0"/>
                          <a:cs typeface="Times New Roman" panose="02020603050405020304" pitchFamily="18" charset="0"/>
                        </a:rPr>
                        <a:t>Promo Avg</a:t>
                      </a:r>
                      <a:endParaRPr lang="en-GB" sz="1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100">
                          <a:effectLst/>
                          <a:latin typeface="Aptos" panose="020B0004020202020204" pitchFamily="34" charset="0"/>
                          <a:ea typeface="Times New Roman" panose="02020603050405020304" pitchFamily="18" charset="0"/>
                          <a:cs typeface="Times New Roman" panose="02020603050405020304" pitchFamily="18" charset="0"/>
                        </a:rPr>
                        <a:t>Uplift Abs</a:t>
                      </a:r>
                      <a:endParaRPr lang="en-GB" sz="1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100">
                          <a:effectLst/>
                          <a:latin typeface="Aptos" panose="020B0004020202020204" pitchFamily="34" charset="0"/>
                          <a:ea typeface="Times New Roman" panose="02020603050405020304" pitchFamily="18" charset="0"/>
                          <a:cs typeface="Times New Roman" panose="02020603050405020304" pitchFamily="18" charset="0"/>
                        </a:rPr>
                        <a:t>Uplift %</a:t>
                      </a:r>
                      <a:endParaRPr lang="en-GB" sz="1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31054976"/>
                  </a:ext>
                </a:extLst>
              </a:tr>
              <a:tr h="311185">
                <a:tc>
                  <a:txBody>
                    <a:bodyPr/>
                    <a:lstStyle/>
                    <a:p>
                      <a:pPr>
                        <a:lnSpc>
                          <a:spcPct val="115000"/>
                        </a:lnSpc>
                        <a:spcAft>
                          <a:spcPts val="1000"/>
                        </a:spcAft>
                        <a:buNone/>
                      </a:pPr>
                      <a:r>
                        <a:rPr lang="en-US" sz="1100">
                          <a:effectLst/>
                          <a:latin typeface="Aptos" panose="020B0004020202020204" pitchFamily="34" charset="0"/>
                          <a:ea typeface="Times New Roman" panose="02020603050405020304" pitchFamily="18" charset="0"/>
                          <a:cs typeface="Times New Roman" panose="02020603050405020304" pitchFamily="18" charset="0"/>
                        </a:rPr>
                        <a:t>Slow</a:t>
                      </a:r>
                      <a:endParaRPr lang="en-GB" sz="1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100">
                          <a:effectLst/>
                          <a:latin typeface="Aptos" panose="020B0004020202020204" pitchFamily="34" charset="0"/>
                          <a:ea typeface="Times New Roman" panose="02020603050405020304" pitchFamily="18" charset="0"/>
                          <a:cs typeface="Times New Roman" panose="02020603050405020304" pitchFamily="18" charset="0"/>
                        </a:rPr>
                        <a:t>1.4</a:t>
                      </a:r>
                      <a:endParaRPr lang="en-GB" sz="1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100" dirty="0">
                          <a:effectLst/>
                          <a:latin typeface="Aptos" panose="020B0004020202020204" pitchFamily="34" charset="0"/>
                          <a:ea typeface="Times New Roman" panose="02020603050405020304" pitchFamily="18" charset="0"/>
                          <a:cs typeface="Times New Roman" panose="02020603050405020304" pitchFamily="18" charset="0"/>
                        </a:rPr>
                        <a:t>1.54</a:t>
                      </a:r>
                      <a:endParaRPr lang="en-GB" sz="11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100">
                          <a:effectLst/>
                          <a:latin typeface="Aptos" panose="020B0004020202020204" pitchFamily="34" charset="0"/>
                          <a:ea typeface="Times New Roman" panose="02020603050405020304" pitchFamily="18" charset="0"/>
                          <a:cs typeface="Times New Roman" panose="02020603050405020304" pitchFamily="18" charset="0"/>
                        </a:rPr>
                        <a:t>0.14</a:t>
                      </a:r>
                      <a:endParaRPr lang="en-GB" sz="1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100">
                          <a:effectLst/>
                          <a:latin typeface="Aptos" panose="020B0004020202020204" pitchFamily="34" charset="0"/>
                          <a:ea typeface="Times New Roman" panose="02020603050405020304" pitchFamily="18" charset="0"/>
                          <a:cs typeface="Times New Roman" panose="02020603050405020304" pitchFamily="18" charset="0"/>
                        </a:rPr>
                        <a:t>10.2</a:t>
                      </a:r>
                      <a:endParaRPr lang="en-GB" sz="1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58500591"/>
                  </a:ext>
                </a:extLst>
              </a:tr>
              <a:tr h="311185">
                <a:tc>
                  <a:txBody>
                    <a:bodyPr/>
                    <a:lstStyle/>
                    <a:p>
                      <a:pPr>
                        <a:lnSpc>
                          <a:spcPct val="115000"/>
                        </a:lnSpc>
                        <a:spcAft>
                          <a:spcPts val="1000"/>
                        </a:spcAft>
                        <a:buNone/>
                      </a:pPr>
                      <a:r>
                        <a:rPr lang="en-US" sz="1100">
                          <a:effectLst/>
                          <a:latin typeface="Aptos" panose="020B0004020202020204" pitchFamily="34" charset="0"/>
                          <a:ea typeface="Times New Roman" panose="02020603050405020304" pitchFamily="18" charset="0"/>
                          <a:cs typeface="Times New Roman" panose="02020603050405020304" pitchFamily="18" charset="0"/>
                        </a:rPr>
                        <a:t>Medium</a:t>
                      </a:r>
                      <a:endParaRPr lang="en-GB" sz="1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100">
                          <a:effectLst/>
                          <a:latin typeface="Aptos" panose="020B0004020202020204" pitchFamily="34" charset="0"/>
                          <a:ea typeface="Times New Roman" panose="02020603050405020304" pitchFamily="18" charset="0"/>
                          <a:cs typeface="Times New Roman" panose="02020603050405020304" pitchFamily="18" charset="0"/>
                        </a:rPr>
                        <a:t>6.35</a:t>
                      </a:r>
                      <a:endParaRPr lang="en-GB" sz="1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100">
                          <a:effectLst/>
                          <a:latin typeface="Aptos" panose="020B0004020202020204" pitchFamily="34" charset="0"/>
                          <a:ea typeface="Times New Roman" panose="02020603050405020304" pitchFamily="18" charset="0"/>
                          <a:cs typeface="Times New Roman" panose="02020603050405020304" pitchFamily="18" charset="0"/>
                        </a:rPr>
                        <a:t>6.74</a:t>
                      </a:r>
                      <a:endParaRPr lang="en-GB" sz="1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100">
                          <a:effectLst/>
                          <a:latin typeface="Aptos" panose="020B0004020202020204" pitchFamily="34" charset="0"/>
                          <a:ea typeface="Times New Roman" panose="02020603050405020304" pitchFamily="18" charset="0"/>
                          <a:cs typeface="Times New Roman" panose="02020603050405020304" pitchFamily="18" charset="0"/>
                        </a:rPr>
                        <a:t>0.39</a:t>
                      </a:r>
                      <a:endParaRPr lang="en-GB" sz="1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100">
                          <a:effectLst/>
                          <a:latin typeface="Aptos" panose="020B0004020202020204" pitchFamily="34" charset="0"/>
                          <a:ea typeface="Times New Roman" panose="02020603050405020304" pitchFamily="18" charset="0"/>
                          <a:cs typeface="Times New Roman" panose="02020603050405020304" pitchFamily="18" charset="0"/>
                        </a:rPr>
                        <a:t>6.1</a:t>
                      </a:r>
                      <a:endParaRPr lang="en-GB" sz="1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00545945"/>
                  </a:ext>
                </a:extLst>
              </a:tr>
              <a:tr h="311185">
                <a:tc>
                  <a:txBody>
                    <a:bodyPr/>
                    <a:lstStyle/>
                    <a:p>
                      <a:pPr>
                        <a:lnSpc>
                          <a:spcPct val="115000"/>
                        </a:lnSpc>
                        <a:spcAft>
                          <a:spcPts val="1000"/>
                        </a:spcAft>
                        <a:buNone/>
                      </a:pPr>
                      <a:r>
                        <a:rPr lang="en-US" sz="1100">
                          <a:effectLst/>
                          <a:latin typeface="Aptos" panose="020B0004020202020204" pitchFamily="34" charset="0"/>
                          <a:ea typeface="Times New Roman" panose="02020603050405020304" pitchFamily="18" charset="0"/>
                          <a:cs typeface="Times New Roman" panose="02020603050405020304" pitchFamily="18" charset="0"/>
                        </a:rPr>
                        <a:t>Fast</a:t>
                      </a:r>
                      <a:endParaRPr lang="en-GB" sz="1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100">
                          <a:effectLst/>
                          <a:latin typeface="Aptos" panose="020B0004020202020204" pitchFamily="34" charset="0"/>
                          <a:ea typeface="Times New Roman" panose="02020603050405020304" pitchFamily="18" charset="0"/>
                          <a:cs typeface="Times New Roman" panose="02020603050405020304" pitchFamily="18" charset="0"/>
                        </a:rPr>
                        <a:t>21.02</a:t>
                      </a:r>
                      <a:endParaRPr lang="en-GB" sz="1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100" dirty="0">
                          <a:effectLst/>
                          <a:latin typeface="Aptos" panose="020B0004020202020204" pitchFamily="34" charset="0"/>
                          <a:ea typeface="Times New Roman" panose="02020603050405020304" pitchFamily="18" charset="0"/>
                          <a:cs typeface="Times New Roman" panose="02020603050405020304" pitchFamily="18" charset="0"/>
                        </a:rPr>
                        <a:t>20.63</a:t>
                      </a:r>
                      <a:endParaRPr lang="en-GB" sz="11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100">
                          <a:effectLst/>
                          <a:latin typeface="Aptos" panose="020B0004020202020204" pitchFamily="34" charset="0"/>
                          <a:ea typeface="Times New Roman" panose="02020603050405020304" pitchFamily="18" charset="0"/>
                          <a:cs typeface="Times New Roman" panose="02020603050405020304" pitchFamily="18" charset="0"/>
                        </a:rPr>
                        <a:t>-0.39</a:t>
                      </a:r>
                      <a:endParaRPr lang="en-GB" sz="1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100" dirty="0">
                          <a:effectLst/>
                          <a:latin typeface="Aptos" panose="020B0004020202020204" pitchFamily="34" charset="0"/>
                          <a:ea typeface="Times New Roman" panose="02020603050405020304" pitchFamily="18" charset="0"/>
                          <a:cs typeface="Times New Roman" panose="02020603050405020304" pitchFamily="18" charset="0"/>
                        </a:rPr>
                        <a:t>-1.8</a:t>
                      </a:r>
                      <a:endParaRPr lang="en-GB" sz="11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11983817"/>
                  </a:ext>
                </a:extLst>
              </a:tr>
            </a:tbl>
          </a:graphicData>
        </a:graphic>
      </p:graphicFrame>
      <p:graphicFrame>
        <p:nvGraphicFramePr>
          <p:cNvPr id="35" name="Table 34">
            <a:extLst>
              <a:ext uri="{FF2B5EF4-FFF2-40B4-BE49-F238E27FC236}">
                <a16:creationId xmlns:a16="http://schemas.microsoft.com/office/drawing/2014/main" id="{822C37C6-016D-3A3C-C346-0C1A5BD55EC9}"/>
              </a:ext>
            </a:extLst>
          </p:cNvPr>
          <p:cNvGraphicFramePr>
            <a:graphicFrameLocks noGrp="1"/>
          </p:cNvGraphicFramePr>
          <p:nvPr>
            <p:extLst>
              <p:ext uri="{D42A27DB-BD31-4B8C-83A1-F6EECF244321}">
                <p14:modId xmlns:p14="http://schemas.microsoft.com/office/powerpoint/2010/main" val="1788558535"/>
              </p:ext>
            </p:extLst>
          </p:nvPr>
        </p:nvGraphicFramePr>
        <p:xfrm>
          <a:off x="5619078" y="4273852"/>
          <a:ext cx="5297867" cy="1749349"/>
        </p:xfrm>
        <a:graphic>
          <a:graphicData uri="http://schemas.openxmlformats.org/drawingml/2006/table">
            <a:tbl>
              <a:tblPr firstRow="1" firstCol="1" bandRow="1"/>
              <a:tblGrid>
                <a:gridCol w="959415">
                  <a:extLst>
                    <a:ext uri="{9D8B030D-6E8A-4147-A177-3AD203B41FA5}">
                      <a16:colId xmlns:a16="http://schemas.microsoft.com/office/drawing/2014/main" val="2247721005"/>
                    </a:ext>
                  </a:extLst>
                </a:gridCol>
                <a:gridCol w="1084613">
                  <a:extLst>
                    <a:ext uri="{9D8B030D-6E8A-4147-A177-3AD203B41FA5}">
                      <a16:colId xmlns:a16="http://schemas.microsoft.com/office/drawing/2014/main" val="2978390290"/>
                    </a:ext>
                  </a:extLst>
                </a:gridCol>
                <a:gridCol w="1084613">
                  <a:extLst>
                    <a:ext uri="{9D8B030D-6E8A-4147-A177-3AD203B41FA5}">
                      <a16:colId xmlns:a16="http://schemas.microsoft.com/office/drawing/2014/main" val="837014216"/>
                    </a:ext>
                  </a:extLst>
                </a:gridCol>
                <a:gridCol w="1084613">
                  <a:extLst>
                    <a:ext uri="{9D8B030D-6E8A-4147-A177-3AD203B41FA5}">
                      <a16:colId xmlns:a16="http://schemas.microsoft.com/office/drawing/2014/main" val="134334130"/>
                    </a:ext>
                  </a:extLst>
                </a:gridCol>
                <a:gridCol w="1084613">
                  <a:extLst>
                    <a:ext uri="{9D8B030D-6E8A-4147-A177-3AD203B41FA5}">
                      <a16:colId xmlns:a16="http://schemas.microsoft.com/office/drawing/2014/main" val="669064465"/>
                    </a:ext>
                  </a:extLst>
                </a:gridCol>
              </a:tblGrid>
              <a:tr h="557878">
                <a:tc>
                  <a:txBody>
                    <a:bodyPr/>
                    <a:lstStyle/>
                    <a:p>
                      <a:pPr>
                        <a:lnSpc>
                          <a:spcPct val="115000"/>
                        </a:lnSpc>
                        <a:spcAft>
                          <a:spcPts val="1000"/>
                        </a:spcAft>
                        <a:buNone/>
                      </a:pPr>
                      <a:r>
                        <a:rPr lang="en-US" sz="1100" dirty="0">
                          <a:effectLst/>
                          <a:latin typeface="Aptos" panose="020B0004020202020204" pitchFamily="34" charset="0"/>
                          <a:ea typeface="Times New Roman" panose="02020603050405020304" pitchFamily="18" charset="0"/>
                          <a:cs typeface="Times New Roman" panose="02020603050405020304" pitchFamily="18" charset="0"/>
                        </a:rPr>
                        <a:t>Cluster</a:t>
                      </a:r>
                      <a:endParaRPr lang="en-GB" sz="11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100">
                          <a:effectLst/>
                          <a:latin typeface="Aptos" panose="020B0004020202020204" pitchFamily="34" charset="0"/>
                          <a:ea typeface="Times New Roman" panose="02020603050405020304" pitchFamily="18" charset="0"/>
                          <a:cs typeface="Times New Roman" panose="02020603050405020304" pitchFamily="18" charset="0"/>
                        </a:rPr>
                        <a:t>Non‑Promo Avg</a:t>
                      </a:r>
                      <a:endParaRPr lang="en-GB" sz="1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100">
                          <a:effectLst/>
                          <a:latin typeface="Aptos" panose="020B0004020202020204" pitchFamily="34" charset="0"/>
                          <a:ea typeface="Times New Roman" panose="02020603050405020304" pitchFamily="18" charset="0"/>
                          <a:cs typeface="Times New Roman" panose="02020603050405020304" pitchFamily="18" charset="0"/>
                        </a:rPr>
                        <a:t>Promo Avg</a:t>
                      </a:r>
                      <a:endParaRPr lang="en-GB" sz="1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100">
                          <a:effectLst/>
                          <a:latin typeface="Aptos" panose="020B0004020202020204" pitchFamily="34" charset="0"/>
                          <a:ea typeface="Times New Roman" panose="02020603050405020304" pitchFamily="18" charset="0"/>
                          <a:cs typeface="Times New Roman" panose="02020603050405020304" pitchFamily="18" charset="0"/>
                        </a:rPr>
                        <a:t>Uplift Abs</a:t>
                      </a:r>
                      <a:endParaRPr lang="en-GB" sz="1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100">
                          <a:effectLst/>
                          <a:latin typeface="Aptos" panose="020B0004020202020204" pitchFamily="34" charset="0"/>
                          <a:ea typeface="Times New Roman" panose="02020603050405020304" pitchFamily="18" charset="0"/>
                          <a:cs typeface="Times New Roman" panose="02020603050405020304" pitchFamily="18" charset="0"/>
                        </a:rPr>
                        <a:t>Uplift %</a:t>
                      </a:r>
                      <a:endParaRPr lang="en-GB" sz="1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065084524"/>
                  </a:ext>
                </a:extLst>
              </a:tr>
              <a:tr h="397157">
                <a:tc>
                  <a:txBody>
                    <a:bodyPr/>
                    <a:lstStyle/>
                    <a:p>
                      <a:pPr>
                        <a:lnSpc>
                          <a:spcPct val="115000"/>
                        </a:lnSpc>
                        <a:spcAft>
                          <a:spcPts val="1000"/>
                        </a:spcAft>
                        <a:buNone/>
                      </a:pPr>
                      <a:r>
                        <a:rPr lang="en-US" sz="1100">
                          <a:effectLst/>
                          <a:latin typeface="Aptos" panose="020B0004020202020204" pitchFamily="34" charset="0"/>
                          <a:ea typeface="Times New Roman" panose="02020603050405020304" pitchFamily="18" charset="0"/>
                          <a:cs typeface="Times New Roman" panose="02020603050405020304" pitchFamily="18" charset="0"/>
                        </a:rPr>
                        <a:t>Slow</a:t>
                      </a:r>
                      <a:endParaRPr lang="en-GB" sz="1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100">
                          <a:effectLst/>
                          <a:latin typeface="Aptos" panose="020B0004020202020204" pitchFamily="34" charset="0"/>
                          <a:ea typeface="Times New Roman" panose="02020603050405020304" pitchFamily="18" charset="0"/>
                          <a:cs typeface="Times New Roman" panose="02020603050405020304" pitchFamily="18" charset="0"/>
                        </a:rPr>
                        <a:t>2.63</a:t>
                      </a:r>
                      <a:endParaRPr lang="en-GB" sz="1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100">
                          <a:effectLst/>
                          <a:latin typeface="Aptos" panose="020B0004020202020204" pitchFamily="34" charset="0"/>
                          <a:ea typeface="Times New Roman" panose="02020603050405020304" pitchFamily="18" charset="0"/>
                          <a:cs typeface="Times New Roman" panose="02020603050405020304" pitchFamily="18" charset="0"/>
                        </a:rPr>
                        <a:t>2.91</a:t>
                      </a:r>
                      <a:endParaRPr lang="en-GB" sz="1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100">
                          <a:effectLst/>
                          <a:latin typeface="Aptos" panose="020B0004020202020204" pitchFamily="34" charset="0"/>
                          <a:ea typeface="Times New Roman" panose="02020603050405020304" pitchFamily="18" charset="0"/>
                          <a:cs typeface="Times New Roman" panose="02020603050405020304" pitchFamily="18" charset="0"/>
                        </a:rPr>
                        <a:t>0.28</a:t>
                      </a:r>
                      <a:endParaRPr lang="en-GB" sz="1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100">
                          <a:effectLst/>
                          <a:latin typeface="Aptos" panose="020B0004020202020204" pitchFamily="34" charset="0"/>
                          <a:ea typeface="Times New Roman" panose="02020603050405020304" pitchFamily="18" charset="0"/>
                          <a:cs typeface="Times New Roman" panose="02020603050405020304" pitchFamily="18" charset="0"/>
                        </a:rPr>
                        <a:t>10.6</a:t>
                      </a:r>
                      <a:endParaRPr lang="en-GB" sz="1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772169657"/>
                  </a:ext>
                </a:extLst>
              </a:tr>
              <a:tr h="397157">
                <a:tc>
                  <a:txBody>
                    <a:bodyPr/>
                    <a:lstStyle/>
                    <a:p>
                      <a:pPr>
                        <a:lnSpc>
                          <a:spcPct val="115000"/>
                        </a:lnSpc>
                        <a:spcAft>
                          <a:spcPts val="1000"/>
                        </a:spcAft>
                        <a:buNone/>
                      </a:pPr>
                      <a:r>
                        <a:rPr lang="en-US" sz="1100">
                          <a:effectLst/>
                          <a:latin typeface="Aptos" panose="020B0004020202020204" pitchFamily="34" charset="0"/>
                          <a:ea typeface="Times New Roman" panose="02020603050405020304" pitchFamily="18" charset="0"/>
                          <a:cs typeface="Times New Roman" panose="02020603050405020304" pitchFamily="18" charset="0"/>
                        </a:rPr>
                        <a:t>Medium</a:t>
                      </a:r>
                      <a:endParaRPr lang="en-GB" sz="1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100">
                          <a:effectLst/>
                          <a:latin typeface="Aptos" panose="020B0004020202020204" pitchFamily="34" charset="0"/>
                          <a:ea typeface="Times New Roman" panose="02020603050405020304" pitchFamily="18" charset="0"/>
                          <a:cs typeface="Times New Roman" panose="02020603050405020304" pitchFamily="18" charset="0"/>
                        </a:rPr>
                        <a:t>3.94</a:t>
                      </a:r>
                      <a:endParaRPr lang="en-GB" sz="1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100">
                          <a:effectLst/>
                          <a:latin typeface="Aptos" panose="020B0004020202020204" pitchFamily="34" charset="0"/>
                          <a:ea typeface="Times New Roman" panose="02020603050405020304" pitchFamily="18" charset="0"/>
                          <a:cs typeface="Times New Roman" panose="02020603050405020304" pitchFamily="18" charset="0"/>
                        </a:rPr>
                        <a:t>4.3</a:t>
                      </a:r>
                      <a:endParaRPr lang="en-GB" sz="1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100">
                          <a:effectLst/>
                          <a:latin typeface="Aptos" panose="020B0004020202020204" pitchFamily="34" charset="0"/>
                          <a:ea typeface="Times New Roman" panose="02020603050405020304" pitchFamily="18" charset="0"/>
                          <a:cs typeface="Times New Roman" panose="02020603050405020304" pitchFamily="18" charset="0"/>
                        </a:rPr>
                        <a:t>0.36</a:t>
                      </a:r>
                      <a:endParaRPr lang="en-GB" sz="1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100">
                          <a:effectLst/>
                          <a:latin typeface="Aptos" panose="020B0004020202020204" pitchFamily="34" charset="0"/>
                          <a:ea typeface="Times New Roman" panose="02020603050405020304" pitchFamily="18" charset="0"/>
                          <a:cs typeface="Times New Roman" panose="02020603050405020304" pitchFamily="18" charset="0"/>
                        </a:rPr>
                        <a:t>9.2</a:t>
                      </a:r>
                      <a:endParaRPr lang="en-GB" sz="1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695807350"/>
                  </a:ext>
                </a:extLst>
              </a:tr>
              <a:tr h="397157">
                <a:tc>
                  <a:txBody>
                    <a:bodyPr/>
                    <a:lstStyle/>
                    <a:p>
                      <a:pPr>
                        <a:lnSpc>
                          <a:spcPct val="115000"/>
                        </a:lnSpc>
                        <a:spcAft>
                          <a:spcPts val="1000"/>
                        </a:spcAft>
                        <a:buNone/>
                      </a:pPr>
                      <a:r>
                        <a:rPr lang="en-US" sz="1100">
                          <a:effectLst/>
                          <a:latin typeface="Aptos" panose="020B0004020202020204" pitchFamily="34" charset="0"/>
                          <a:ea typeface="Times New Roman" panose="02020603050405020304" pitchFamily="18" charset="0"/>
                          <a:cs typeface="Times New Roman" panose="02020603050405020304" pitchFamily="18" charset="0"/>
                        </a:rPr>
                        <a:t>Fast</a:t>
                      </a:r>
                      <a:endParaRPr lang="en-GB" sz="1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100">
                          <a:effectLst/>
                          <a:latin typeface="Aptos" panose="020B0004020202020204" pitchFamily="34" charset="0"/>
                          <a:ea typeface="Times New Roman" panose="02020603050405020304" pitchFamily="18" charset="0"/>
                          <a:cs typeface="Times New Roman" panose="02020603050405020304" pitchFamily="18" charset="0"/>
                        </a:rPr>
                        <a:t>6.49</a:t>
                      </a:r>
                      <a:endParaRPr lang="en-GB" sz="1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100" dirty="0">
                          <a:effectLst/>
                          <a:latin typeface="Aptos" panose="020B0004020202020204" pitchFamily="34" charset="0"/>
                          <a:ea typeface="Times New Roman" panose="02020603050405020304" pitchFamily="18" charset="0"/>
                          <a:cs typeface="Times New Roman" panose="02020603050405020304" pitchFamily="18" charset="0"/>
                        </a:rPr>
                        <a:t>6.86</a:t>
                      </a:r>
                      <a:endParaRPr lang="en-GB" sz="11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100">
                          <a:effectLst/>
                          <a:latin typeface="Aptos" panose="020B0004020202020204" pitchFamily="34" charset="0"/>
                          <a:ea typeface="Times New Roman" panose="02020603050405020304" pitchFamily="18" charset="0"/>
                          <a:cs typeface="Times New Roman" panose="02020603050405020304" pitchFamily="18" charset="0"/>
                        </a:rPr>
                        <a:t>0.37</a:t>
                      </a:r>
                      <a:endParaRPr lang="en-GB" sz="1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15000"/>
                        </a:lnSpc>
                        <a:spcAft>
                          <a:spcPts val="1000"/>
                        </a:spcAft>
                        <a:buNone/>
                      </a:pPr>
                      <a:r>
                        <a:rPr lang="en-US" sz="1100" dirty="0">
                          <a:effectLst/>
                          <a:latin typeface="Aptos" panose="020B0004020202020204" pitchFamily="34" charset="0"/>
                          <a:ea typeface="Times New Roman" panose="02020603050405020304" pitchFamily="18" charset="0"/>
                          <a:cs typeface="Times New Roman" panose="02020603050405020304" pitchFamily="18" charset="0"/>
                        </a:rPr>
                        <a:t>5.6</a:t>
                      </a:r>
                      <a:endParaRPr lang="en-GB" sz="11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076025159"/>
                  </a:ext>
                </a:extLst>
              </a:tr>
            </a:tbl>
          </a:graphicData>
        </a:graphic>
      </p:graphicFrame>
      <p:sp>
        <p:nvSpPr>
          <p:cNvPr id="36" name="Object 2">
            <a:extLst>
              <a:ext uri="{FF2B5EF4-FFF2-40B4-BE49-F238E27FC236}">
                <a16:creationId xmlns:a16="http://schemas.microsoft.com/office/drawing/2014/main" id="{C4C2001C-8024-C226-4CE6-96035301D55C}"/>
              </a:ext>
            </a:extLst>
          </p:cNvPr>
          <p:cNvSpPr/>
          <p:nvPr/>
        </p:nvSpPr>
        <p:spPr>
          <a:xfrm>
            <a:off x="6039202" y="-86240"/>
            <a:ext cx="4948182" cy="1225664"/>
          </a:xfrm>
          <a:prstGeom prst="rect">
            <a:avLst/>
          </a:prstGeom>
        </p:spPr>
        <p:txBody>
          <a:bodyPr vert="horz" lIns="91440" tIns="45720" rIns="91440" bIns="45720" rtlCol="0">
            <a:normAutofit/>
          </a:bodyPr>
          <a:lstStyle/>
          <a:p>
            <a:pPr algn="ctr">
              <a:lnSpc>
                <a:spcPct val="90000"/>
              </a:lnSpc>
              <a:spcBef>
                <a:spcPts val="1000"/>
              </a:spcBef>
            </a:pPr>
            <a:r>
              <a:rPr lang="en-US" sz="2000" spc="-37" dirty="0">
                <a:solidFill>
                  <a:srgbClr val="FFFFFF"/>
                </a:solidFill>
              </a:rPr>
              <a:t>Product Results</a:t>
            </a:r>
            <a:endParaRPr lang="en-US" sz="2000" dirty="0">
              <a:solidFill>
                <a:srgbClr val="FFFFFF"/>
              </a:solidFill>
            </a:endParaRPr>
          </a:p>
        </p:txBody>
      </p:sp>
      <p:sp>
        <p:nvSpPr>
          <p:cNvPr id="38" name="TextBox 37">
            <a:extLst>
              <a:ext uri="{FF2B5EF4-FFF2-40B4-BE49-F238E27FC236}">
                <a16:creationId xmlns:a16="http://schemas.microsoft.com/office/drawing/2014/main" id="{8FC352AF-EC31-0515-5CB3-0412504760BC}"/>
              </a:ext>
            </a:extLst>
          </p:cNvPr>
          <p:cNvSpPr txBox="1"/>
          <p:nvPr/>
        </p:nvSpPr>
        <p:spPr>
          <a:xfrm>
            <a:off x="5942703" y="2259001"/>
            <a:ext cx="6657614" cy="2031325"/>
          </a:xfrm>
          <a:prstGeom prst="rect">
            <a:avLst/>
          </a:prstGeom>
          <a:noFill/>
        </p:spPr>
        <p:txBody>
          <a:bodyPr wrap="square">
            <a:spAutoFit/>
          </a:bodyPr>
          <a:lstStyle/>
          <a:p>
            <a:pPr>
              <a:buFont typeface="Arial" panose="020B0604020202020204" pitchFamily="34" charset="0"/>
              <a:buChar char="•"/>
            </a:pPr>
            <a:r>
              <a:rPr lang="en-GB" sz="900" b="1" dirty="0">
                <a:solidFill>
                  <a:schemeClr val="bg1"/>
                </a:solidFill>
              </a:rPr>
              <a:t>Elasticity &amp; Baseline</a:t>
            </a:r>
            <a:br>
              <a:rPr lang="en-GB" sz="900" dirty="0">
                <a:solidFill>
                  <a:schemeClr val="bg1"/>
                </a:solidFill>
              </a:rPr>
            </a:br>
            <a:r>
              <a:rPr lang="en-GB" sz="900" dirty="0">
                <a:solidFill>
                  <a:schemeClr val="bg1"/>
                </a:solidFill>
              </a:rPr>
              <a:t>• </a:t>
            </a:r>
            <a:r>
              <a:rPr lang="en-GB" sz="900" dirty="0"/>
              <a:t>Slow movers = highest promo responsiveness</a:t>
            </a:r>
            <a:br>
              <a:rPr lang="en-GB" sz="900" dirty="0"/>
            </a:br>
            <a:r>
              <a:rPr lang="en-GB" sz="900" dirty="0"/>
              <a:t>• Fast movers = limited or negative effects</a:t>
            </a:r>
          </a:p>
          <a:p>
            <a:pPr>
              <a:buFont typeface="Arial" panose="020B0604020202020204" pitchFamily="34" charset="0"/>
              <a:buChar char="•"/>
            </a:pPr>
            <a:r>
              <a:rPr lang="en-GB" sz="900" b="1" dirty="0"/>
              <a:t>Promotions Boost Weak Segments</a:t>
            </a:r>
            <a:br>
              <a:rPr lang="en-GB" sz="900" dirty="0"/>
            </a:br>
            <a:r>
              <a:rPr lang="en-GB" sz="900" dirty="0"/>
              <a:t>• Low-sales products attract attention &amp; demand</a:t>
            </a:r>
            <a:br>
              <a:rPr lang="en-GB" sz="900" dirty="0"/>
            </a:br>
            <a:r>
              <a:rPr lang="en-GB" sz="900" dirty="0"/>
              <a:t>• Low-throughput stores gain footfall &amp; awareness</a:t>
            </a:r>
          </a:p>
          <a:p>
            <a:pPr>
              <a:buFont typeface="Arial" panose="020B0604020202020204" pitchFamily="34" charset="0"/>
              <a:buChar char="•"/>
            </a:pPr>
            <a:r>
              <a:rPr lang="en-GB" sz="900" b="1" dirty="0"/>
              <a:t>Diminishing Returns</a:t>
            </a:r>
            <a:br>
              <a:rPr lang="en-GB" sz="900" dirty="0"/>
            </a:br>
            <a:r>
              <a:rPr lang="en-GB" sz="900" dirty="0"/>
              <a:t>• Fast products/stores = low marginal gains</a:t>
            </a:r>
            <a:br>
              <a:rPr lang="en-GB" sz="900" dirty="0"/>
            </a:br>
            <a:r>
              <a:rPr lang="en-GB" sz="900" dirty="0"/>
              <a:t>• Risk of substitution &amp; saturation</a:t>
            </a:r>
            <a:r>
              <a:rPr lang="en-US" sz="900" b="1" kern="0" spc="-225" dirty="0">
                <a:latin typeface="Inter" pitchFamily="34" charset="0"/>
                <a:ea typeface="Inter" pitchFamily="34" charset="-122"/>
                <a:cs typeface="Inter" pitchFamily="34" charset="-120"/>
              </a:rPr>
              <a:t>P</a:t>
            </a:r>
            <a:endParaRPr lang="en-US" sz="900" dirty="0"/>
          </a:p>
          <a:p>
            <a:pPr>
              <a:buFont typeface="Arial" panose="020B0604020202020204" pitchFamily="34" charset="0"/>
              <a:buChar char="•"/>
            </a:pPr>
            <a:endParaRPr lang="en-GB" sz="900" dirty="0"/>
          </a:p>
          <a:p>
            <a:pPr>
              <a:buFont typeface="Arial" panose="020B0604020202020204" pitchFamily="34" charset="0"/>
              <a:buChar char="•"/>
            </a:pPr>
            <a:r>
              <a:rPr lang="en-GB" sz="900" b="1" dirty="0"/>
              <a:t>Managerial Implications</a:t>
            </a:r>
            <a:br>
              <a:rPr lang="en-GB" sz="900" dirty="0"/>
            </a:br>
            <a:r>
              <a:rPr lang="en-GB" sz="900" dirty="0"/>
              <a:t>• Focus promos on slow products/stores (higher ROI)</a:t>
            </a:r>
            <a:br>
              <a:rPr lang="en-GB" sz="900" dirty="0"/>
            </a:br>
            <a:r>
              <a:rPr lang="en-GB" sz="900" dirty="0"/>
              <a:t>• Fast segments → use loyalty, cross-selling, innovation</a:t>
            </a:r>
            <a:br>
              <a:rPr lang="en-GB" sz="900" dirty="0"/>
            </a:br>
            <a:r>
              <a:rPr lang="en-GB" sz="900" dirty="0"/>
              <a:t>• Apply </a:t>
            </a:r>
            <a:r>
              <a:rPr lang="en-GB" sz="900" b="1" dirty="0"/>
              <a:t>differentiated promo strategy</a:t>
            </a:r>
            <a:r>
              <a:rPr lang="en-GB" sz="900" dirty="0"/>
              <a:t> (not one-size-fits-all)</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1">
    <p:bg>
      <p:bgPr>
        <a:solidFill>
          <a:srgbClr val="000000"/>
        </a:solidFill>
        <a:effectLst/>
      </p:bgPr>
    </p:bg>
    <p:spTree>
      <p:nvGrpSpPr>
        <p:cNvPr id="1" name=""/>
        <p:cNvGrpSpPr/>
        <p:nvPr/>
      </p:nvGrpSpPr>
      <p:grpSpPr>
        <a:xfrm>
          <a:off x="0" y="0"/>
          <a:ext cx="0" cy="0"/>
          <a:chOff x="0" y="0"/>
          <a:chExt cx="0" cy="0"/>
        </a:xfrm>
      </p:grpSpPr>
      <p:sp>
        <p:nvSpPr>
          <p:cNvPr id="2" name="Object 1"/>
          <p:cNvSpPr/>
          <p:nvPr/>
        </p:nvSpPr>
        <p:spPr>
          <a:xfrm>
            <a:off x="952262" y="1692050"/>
            <a:ext cx="5446897" cy="4197689"/>
          </a:xfrm>
          <a:prstGeom prst="rect">
            <a:avLst/>
          </a:prstGeom>
          <a:noFill/>
        </p:spPr>
        <p:txBody>
          <a:bodyPr wrap="square" lIns="0" tIns="0" rIns="0" bIns="0" rtlCol="0" anchor="t"/>
          <a:lstStyle/>
          <a:p>
            <a:pPr marL="242900" indent="-242900" algn="l">
              <a:lnSpc>
                <a:spcPts val="2996"/>
              </a:lnSpc>
              <a:buSzPct val="100000"/>
              <a:buChar char="•"/>
            </a:pPr>
            <a:r>
              <a:rPr lang="en-US" sz="2565" b="1" kern="0" spc="-154" dirty="0">
                <a:solidFill>
                  <a:srgbClr val="FFFFFF"/>
                </a:solidFill>
                <a:latin typeface="Inter" pitchFamily="34" charset="0"/>
                <a:ea typeface="Inter" pitchFamily="34" charset="-122"/>
                <a:cs typeface="Inter" pitchFamily="34" charset="-120"/>
              </a:rPr>
              <a:t>Slow-Mover Dominance</a:t>
            </a:r>
          </a:p>
          <a:p>
            <a:pPr lvl="1" algn="l">
              <a:lnSpc>
                <a:spcPts val="2273"/>
              </a:lnSpc>
              <a:spcBef>
                <a:spcPts val="314"/>
              </a:spcBef>
              <a:buNone/>
            </a:pPr>
            <a:r>
              <a:rPr lang="en-US" sz="1639" kern="0" spc="-33" dirty="0">
                <a:solidFill>
                  <a:srgbClr val="FFFFFF">
                    <a:alpha val="80000"/>
                  </a:srgbClr>
                </a:solidFill>
                <a:latin typeface="Inter" pitchFamily="34" charset="0"/>
                <a:ea typeface="Inter" pitchFamily="34" charset="-122"/>
                <a:cs typeface="Inter" pitchFamily="34" charset="-120"/>
              </a:rPr>
              <a:t>The product portfolio is heavily skewed toward Slow-moving items, representing 86% of the total.</a:t>
            </a:r>
          </a:p>
          <a:p>
            <a:pPr marL="242900" indent="-242900" algn="l">
              <a:lnSpc>
                <a:spcPts val="2996"/>
              </a:lnSpc>
              <a:spcBef>
                <a:spcPts val="2418"/>
              </a:spcBef>
              <a:buSzPct val="100000"/>
              <a:buChar char="•"/>
            </a:pPr>
            <a:r>
              <a:rPr lang="en-US" sz="2565" b="1" kern="0" spc="-154" dirty="0">
                <a:solidFill>
                  <a:srgbClr val="FFFFFF"/>
                </a:solidFill>
                <a:latin typeface="Inter" pitchFamily="34" charset="0"/>
                <a:ea typeface="Inter" pitchFamily="34" charset="-122"/>
                <a:cs typeface="Inter" pitchFamily="34" charset="-120"/>
              </a:rPr>
              <a:t>Targeted Promotion Focus</a:t>
            </a:r>
          </a:p>
          <a:p>
            <a:pPr lvl="1" algn="l">
              <a:lnSpc>
                <a:spcPts val="2273"/>
              </a:lnSpc>
              <a:spcBef>
                <a:spcPts val="314"/>
              </a:spcBef>
              <a:buNone/>
            </a:pPr>
            <a:r>
              <a:rPr lang="en-US" sz="1639" kern="0" spc="-33" dirty="0">
                <a:solidFill>
                  <a:srgbClr val="FFFFFF">
                    <a:alpha val="80000"/>
                  </a:srgbClr>
                </a:solidFill>
                <a:latin typeface="Inter" pitchFamily="34" charset="0"/>
                <a:ea typeface="Inter" pitchFamily="34" charset="-122"/>
                <a:cs typeface="Inter" pitchFamily="34" charset="-120"/>
              </a:rPr>
              <a:t>Focusing promotional efforts on the Medium and Fast clusters can yield higher incremental returns compared to broad-based discounts.</a:t>
            </a:r>
          </a:p>
          <a:p>
            <a:pPr marL="242900" indent="-242900" algn="l">
              <a:lnSpc>
                <a:spcPts val="2996"/>
              </a:lnSpc>
              <a:spcBef>
                <a:spcPts val="2418"/>
              </a:spcBef>
              <a:buSzPct val="100000"/>
              <a:buChar char="•"/>
            </a:pPr>
            <a:r>
              <a:rPr lang="en-US" sz="2565" b="1" kern="0" spc="-154" dirty="0">
                <a:solidFill>
                  <a:srgbClr val="FFFFFF"/>
                </a:solidFill>
                <a:latin typeface="Inter" pitchFamily="34" charset="0"/>
                <a:ea typeface="Inter" pitchFamily="34" charset="-122"/>
                <a:cs typeface="Inter" pitchFamily="34" charset="-120"/>
              </a:rPr>
              <a:t>Optimizing Slow Movers</a:t>
            </a:r>
          </a:p>
          <a:p>
            <a:pPr lvl="1" algn="l">
              <a:lnSpc>
                <a:spcPts val="2273"/>
              </a:lnSpc>
              <a:spcBef>
                <a:spcPts val="314"/>
              </a:spcBef>
              <a:buNone/>
            </a:pPr>
            <a:r>
              <a:rPr lang="en-US" sz="1639" kern="0" spc="-33" dirty="0">
                <a:solidFill>
                  <a:srgbClr val="FFFFFF">
                    <a:alpha val="80000"/>
                  </a:srgbClr>
                </a:solidFill>
                <a:latin typeface="Inter" pitchFamily="34" charset="0"/>
                <a:ea typeface="Inter" pitchFamily="34" charset="-122"/>
                <a:cs typeface="Inter" pitchFamily="34" charset="-120"/>
              </a:rPr>
              <a:t>Slow products may benefit more from price optimization, assortment changes, or targeted marketing rather than broad-based discounts.</a:t>
            </a:r>
            <a:endParaRPr lang="en-US" dirty="0"/>
          </a:p>
        </p:txBody>
      </p:sp>
      <p:sp>
        <p:nvSpPr>
          <p:cNvPr id="3" name="Object 2"/>
          <p:cNvSpPr/>
          <p:nvPr/>
        </p:nvSpPr>
        <p:spPr>
          <a:xfrm>
            <a:off x="6284928" y="1692050"/>
            <a:ext cx="5446897" cy="3266779"/>
          </a:xfrm>
          <a:prstGeom prst="rect">
            <a:avLst/>
          </a:prstGeom>
          <a:noFill/>
        </p:spPr>
        <p:txBody>
          <a:bodyPr wrap="square" lIns="0" tIns="0" rIns="0" bIns="0" rtlCol="0" anchor="t"/>
          <a:lstStyle/>
          <a:p>
            <a:pPr marL="242900" indent="-242900" algn="l">
              <a:lnSpc>
                <a:spcPts val="2996"/>
              </a:lnSpc>
              <a:buSzPct val="100000"/>
              <a:buChar char="•"/>
            </a:pPr>
            <a:r>
              <a:rPr lang="en-US" sz="2565" b="1" kern="0" spc="-154" dirty="0">
                <a:solidFill>
                  <a:srgbClr val="FFFFFF"/>
                </a:solidFill>
                <a:latin typeface="Inter" pitchFamily="34" charset="0"/>
                <a:ea typeface="Inter" pitchFamily="34" charset="-122"/>
                <a:cs typeface="Inter" pitchFamily="34" charset="-120"/>
              </a:rPr>
              <a:t>Store Performance Skewness</a:t>
            </a:r>
          </a:p>
          <a:p>
            <a:pPr lvl="1" algn="l">
              <a:lnSpc>
                <a:spcPts val="2273"/>
              </a:lnSpc>
              <a:spcBef>
                <a:spcPts val="314"/>
              </a:spcBef>
              <a:buNone/>
            </a:pPr>
            <a:r>
              <a:rPr lang="en-US" sz="1639" kern="0" spc="-33" dirty="0">
                <a:solidFill>
                  <a:srgbClr val="FFFFFF">
                    <a:alpha val="80000"/>
                  </a:srgbClr>
                </a:solidFill>
                <a:latin typeface="Inter" pitchFamily="34" charset="0"/>
                <a:ea typeface="Inter" pitchFamily="34" charset="-122"/>
                <a:cs typeface="Inter" pitchFamily="34" charset="-120"/>
              </a:rPr>
              <a:t>Store performance is also skewed, with the majority (54%) categorized as Slow, requiring operational improvements or assortment adjustments.</a:t>
            </a:r>
          </a:p>
          <a:p>
            <a:pPr marL="242900" indent="-242900" algn="l">
              <a:lnSpc>
                <a:spcPts val="2996"/>
              </a:lnSpc>
              <a:spcBef>
                <a:spcPts val="2418"/>
              </a:spcBef>
              <a:buSzPct val="100000"/>
              <a:buChar char="•"/>
            </a:pPr>
            <a:r>
              <a:rPr lang="en-US" sz="2565" b="1" kern="0" spc="-154" dirty="0">
                <a:solidFill>
                  <a:srgbClr val="FFFFFF"/>
                </a:solidFill>
                <a:latin typeface="Inter" pitchFamily="34" charset="0"/>
                <a:ea typeface="Inter" pitchFamily="34" charset="-122"/>
                <a:cs typeface="Inter" pitchFamily="34" charset="-120"/>
              </a:rPr>
              <a:t>Prioritizing Fast and Medium Stores</a:t>
            </a:r>
          </a:p>
          <a:p>
            <a:pPr lvl="1" algn="l">
              <a:lnSpc>
                <a:spcPts val="2273"/>
              </a:lnSpc>
              <a:spcBef>
                <a:spcPts val="314"/>
              </a:spcBef>
              <a:buNone/>
            </a:pPr>
            <a:r>
              <a:rPr lang="en-US" sz="1639" kern="0" spc="-33" dirty="0">
                <a:solidFill>
                  <a:srgbClr val="FFFFFF">
                    <a:alpha val="80000"/>
                  </a:srgbClr>
                </a:solidFill>
                <a:latin typeface="Inter" pitchFamily="34" charset="0"/>
                <a:ea typeface="Inter" pitchFamily="34" charset="-122"/>
                <a:cs typeface="Inter" pitchFamily="34" charset="-120"/>
              </a:rPr>
              <a:t>Promotions should be prioritized for Fast and Medium stores, where incremental uplift is higher.</a:t>
            </a:r>
            <a:endParaRPr lang="en-US" dirty="0"/>
          </a:p>
        </p:txBody>
      </p:sp>
      <p:sp>
        <p:nvSpPr>
          <p:cNvPr id="4" name="Object 3"/>
          <p:cNvSpPr/>
          <p:nvPr/>
        </p:nvSpPr>
        <p:spPr>
          <a:xfrm>
            <a:off x="11798525" y="6496211"/>
            <a:ext cx="199975" cy="237693"/>
          </a:xfrm>
          <a:prstGeom prst="rect">
            <a:avLst/>
          </a:prstGeom>
          <a:noFill/>
        </p:spPr>
        <p:txBody>
          <a:bodyPr/>
          <a:lstStyle/>
          <a:p>
            <a:endParaRPr lang="en-GB"/>
          </a:p>
        </p:txBody>
      </p:sp>
      <p:pic>
        <p:nvPicPr>
          <p:cNvPr id="5" name="Object 4"/>
          <p:cNvPicPr>
            <a:picLocks noChangeAspect="1"/>
          </p:cNvPicPr>
          <p:nvPr/>
        </p:nvPicPr>
        <p:blipFill>
          <a:blip r:embed="rId3"/>
          <a:stretch>
            <a:fillRect/>
          </a:stretch>
        </p:blipFill>
        <p:spPr>
          <a:xfrm>
            <a:off x="0" y="0"/>
            <a:ext cx="12188952" cy="6856286"/>
          </a:xfrm>
          <a:prstGeom prst="rect">
            <a:avLst/>
          </a:prstGeom>
        </p:spPr>
      </p:pic>
      <p:sp>
        <p:nvSpPr>
          <p:cNvPr id="6" name="Object 5"/>
          <p:cNvSpPr/>
          <p:nvPr/>
        </p:nvSpPr>
        <p:spPr>
          <a:xfrm>
            <a:off x="0" y="374246"/>
            <a:ext cx="12188915" cy="556069"/>
          </a:xfrm>
          <a:prstGeom prst="rect">
            <a:avLst/>
          </a:prstGeom>
          <a:noFill/>
        </p:spPr>
        <p:txBody>
          <a:bodyPr wrap="square" lIns="0" tIns="0" rIns="0" bIns="0" rtlCol="0" anchor="t"/>
          <a:lstStyle/>
          <a:p>
            <a:pPr algn="ctr">
              <a:lnSpc>
                <a:spcPts val="4380"/>
              </a:lnSpc>
              <a:buNone/>
            </a:pPr>
            <a:r>
              <a:rPr lang="en-US" sz="3750" b="1" kern="0" spc="-225" dirty="0">
                <a:solidFill>
                  <a:srgbClr val="FFFFFF"/>
                </a:solidFill>
                <a:latin typeface="Inter" pitchFamily="34" charset="0"/>
                <a:ea typeface="Inter" pitchFamily="34" charset="-122"/>
                <a:cs typeface="Inter" pitchFamily="34" charset="-120"/>
              </a:rPr>
              <a:t>Standard Clustering Insights</a:t>
            </a:r>
            <a:endParaRPr lang="en-US" dirty="0"/>
          </a:p>
        </p:txBody>
      </p:sp>
      <p:sp>
        <p:nvSpPr>
          <p:cNvPr id="25" name="Slide Number Placeholder 24"/>
          <p:cNvSpPr>
            <a:spLocks noGrp="1"/>
          </p:cNvSpPr>
          <p:nvPr>
            <p:ph type="sldNum" sz="quarter" idx="12"/>
          </p:nvPr>
        </p:nvSpPr>
        <p:spPr>
          <a:xfrm>
            <a:off x="11826240" y="6515100"/>
            <a:ext cx="800000" cy="300000"/>
          </a:xfrm>
          <a:prstGeom prst="rect">
            <a:avLst/>
          </a:prstGeom>
          <a:extLst>
            <a:ext uri="{C572A759-6A51-4108-AA02-DFA0A04FC94B}">
              <ma14:wrappingTextBoxFlag xmlns:ma14="http://schemas.microsoft.com/office/mac/drawingml/2011/main" xmlns="" val="0"/>
            </a:ext>
          </a:extLst>
        </p:spPr>
        <p:txBody>
          <a:bodyPr/>
          <a:lstStyle>
            <a:lvl1pPr>
              <a:defRPr sz="1100"/>
            </a:lvl1pPr>
          </a:lstStyle>
          <a:p>
            <a:fld id="{F7021451-1387-4CA6-816F-3879F97B5CBC}" type="slidenum">
              <a:rPr lang="en-US" smtClean="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a:effectLst/>
      </p:bgPr>
    </p:bg>
    <p:spTree>
      <p:nvGrpSpPr>
        <p:cNvPr id="1" name=""/>
        <p:cNvGrpSpPr/>
        <p:nvPr/>
      </p:nvGrpSpPr>
      <p:grpSpPr>
        <a:xfrm>
          <a:off x="0" y="0"/>
          <a:ext cx="0" cy="0"/>
          <a:chOff x="0" y="0"/>
          <a:chExt cx="0" cy="0"/>
        </a:xfrm>
      </p:grpSpPr>
      <p:sp>
        <p:nvSpPr>
          <p:cNvPr id="2" name="Object 1"/>
          <p:cNvSpPr/>
          <p:nvPr/>
        </p:nvSpPr>
        <p:spPr>
          <a:xfrm>
            <a:off x="987972" y="1718833"/>
            <a:ext cx="1428393" cy="1428393"/>
          </a:xfrm>
          <a:prstGeom prst="ellipse">
            <a:avLst/>
          </a:prstGeom>
          <a:solidFill>
            <a:srgbClr val="22AAEE"/>
          </a:solidFill>
        </p:spPr>
        <p:txBody>
          <a:bodyPr/>
          <a:lstStyle/>
          <a:p>
            <a:endParaRPr lang="en-GB"/>
          </a:p>
        </p:txBody>
      </p:sp>
      <p:pic>
        <p:nvPicPr>
          <p:cNvPr id="3" name="Object 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476043" y="2140012"/>
            <a:ext cx="457086" cy="599925"/>
          </a:xfrm>
          <a:prstGeom prst="rect">
            <a:avLst/>
          </a:prstGeom>
        </p:spPr>
      </p:pic>
      <p:sp>
        <p:nvSpPr>
          <p:cNvPr id="4" name="Object 3"/>
          <p:cNvSpPr/>
          <p:nvPr/>
        </p:nvSpPr>
        <p:spPr>
          <a:xfrm>
            <a:off x="434711" y="3241187"/>
            <a:ext cx="2534839" cy="266931"/>
          </a:xfrm>
          <a:prstGeom prst="rect">
            <a:avLst/>
          </a:prstGeom>
          <a:noFill/>
        </p:spPr>
        <p:txBody>
          <a:bodyPr wrap="square" lIns="0" tIns="0" rIns="0" bIns="0" rtlCol="0" anchor="t"/>
          <a:lstStyle/>
          <a:p>
            <a:pPr algn="ctr">
              <a:lnSpc>
                <a:spcPts val="2102"/>
              </a:lnSpc>
              <a:buNone/>
            </a:pPr>
            <a:r>
              <a:rPr lang="en-US" sz="1800" b="1" kern="0" spc="-108" dirty="0">
                <a:solidFill>
                  <a:srgbClr val="333333"/>
                </a:solidFill>
                <a:latin typeface="Inter" pitchFamily="34" charset="0"/>
                <a:ea typeface="Inter" pitchFamily="34" charset="-122"/>
                <a:cs typeface="Inter" pitchFamily="34" charset="-120"/>
              </a:rPr>
              <a:t>Promo-Period Clustering</a:t>
            </a:r>
            <a:endParaRPr lang="en-US" dirty="0"/>
          </a:p>
        </p:txBody>
      </p:sp>
      <p:sp>
        <p:nvSpPr>
          <p:cNvPr id="5" name="Object 4"/>
          <p:cNvSpPr/>
          <p:nvPr/>
        </p:nvSpPr>
        <p:spPr>
          <a:xfrm>
            <a:off x="434711" y="3585675"/>
            <a:ext cx="2534839" cy="1584846"/>
          </a:xfrm>
          <a:prstGeom prst="rect">
            <a:avLst/>
          </a:prstGeom>
          <a:noFill/>
        </p:spPr>
        <p:txBody>
          <a:bodyPr wrap="square" lIns="0" tIns="0" rIns="0" bIns="0" rtlCol="0" anchor="t"/>
          <a:lstStyle/>
          <a:p>
            <a:pPr algn="ctr">
              <a:lnSpc>
                <a:spcPts val="2081"/>
              </a:lnSpc>
              <a:spcBef>
                <a:spcPts val="599"/>
              </a:spcBef>
              <a:buNone/>
            </a:pPr>
            <a:r>
              <a:rPr lang="en-US" sz="1500" kern="0" spc="-30" dirty="0">
                <a:solidFill>
                  <a:srgbClr val="000000">
                    <a:alpha val="56000"/>
                  </a:srgbClr>
                </a:solidFill>
                <a:latin typeface="Inter" pitchFamily="34" charset="0"/>
                <a:ea typeface="Inter" pitchFamily="34" charset="-122"/>
                <a:cs typeface="Inter" pitchFamily="34" charset="-120"/>
              </a:rPr>
              <a:t>Clustering analysis focused solely on sales during promotional periods, to identify distinct promo-specific store and product segments</a:t>
            </a:r>
            <a:endParaRPr lang="en-US" dirty="0"/>
          </a:p>
        </p:txBody>
      </p:sp>
      <p:sp>
        <p:nvSpPr>
          <p:cNvPr id="6" name="Object 5"/>
          <p:cNvSpPr/>
          <p:nvPr/>
        </p:nvSpPr>
        <p:spPr>
          <a:xfrm>
            <a:off x="3916177" y="1718833"/>
            <a:ext cx="1428393" cy="1428393"/>
          </a:xfrm>
          <a:prstGeom prst="ellipse">
            <a:avLst/>
          </a:prstGeom>
          <a:solidFill>
            <a:srgbClr val="FFD9AD"/>
          </a:solidFill>
        </p:spPr>
        <p:txBody>
          <a:bodyPr/>
          <a:lstStyle/>
          <a:p>
            <a:endParaRPr lang="en-GB"/>
          </a:p>
        </p:txBody>
      </p:sp>
      <p:pic>
        <p:nvPicPr>
          <p:cNvPr id="7" name="Object 6"/>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345667" y="2190238"/>
            <a:ext cx="561835" cy="476131"/>
          </a:xfrm>
          <a:prstGeom prst="rect">
            <a:avLst/>
          </a:prstGeom>
        </p:spPr>
      </p:pic>
      <p:sp>
        <p:nvSpPr>
          <p:cNvPr id="8" name="Object 7"/>
          <p:cNvSpPr/>
          <p:nvPr/>
        </p:nvSpPr>
        <p:spPr>
          <a:xfrm>
            <a:off x="3357675" y="3241187"/>
            <a:ext cx="2545396" cy="266931"/>
          </a:xfrm>
          <a:prstGeom prst="rect">
            <a:avLst/>
          </a:prstGeom>
          <a:noFill/>
        </p:spPr>
        <p:txBody>
          <a:bodyPr wrap="square" lIns="0" tIns="0" rIns="0" bIns="0" rtlCol="0" anchor="t"/>
          <a:lstStyle/>
          <a:p>
            <a:pPr algn="ctr">
              <a:lnSpc>
                <a:spcPts val="2102"/>
              </a:lnSpc>
              <a:buNone/>
            </a:pPr>
            <a:r>
              <a:rPr lang="en-US" sz="1800" b="1" kern="0" spc="-108" dirty="0">
                <a:solidFill>
                  <a:srgbClr val="333333"/>
                </a:solidFill>
                <a:latin typeface="Inter" pitchFamily="34" charset="0"/>
                <a:ea typeface="Inter" pitchFamily="34" charset="-122"/>
                <a:cs typeface="Inter" pitchFamily="34" charset="-120"/>
              </a:rPr>
              <a:t>New Cluster Centers</a:t>
            </a:r>
            <a:endParaRPr lang="en-US" dirty="0"/>
          </a:p>
        </p:txBody>
      </p:sp>
      <p:sp>
        <p:nvSpPr>
          <p:cNvPr id="9" name="Object 8"/>
          <p:cNvSpPr/>
          <p:nvPr/>
        </p:nvSpPr>
        <p:spPr>
          <a:xfrm>
            <a:off x="3357675" y="3585675"/>
            <a:ext cx="2545396" cy="1584846"/>
          </a:xfrm>
          <a:prstGeom prst="rect">
            <a:avLst/>
          </a:prstGeom>
          <a:noFill/>
        </p:spPr>
        <p:txBody>
          <a:bodyPr wrap="square" lIns="0" tIns="0" rIns="0" bIns="0" rtlCol="0" anchor="t"/>
          <a:lstStyle/>
          <a:p>
            <a:pPr algn="ctr">
              <a:lnSpc>
                <a:spcPts val="2081"/>
              </a:lnSpc>
              <a:spcBef>
                <a:spcPts val="599"/>
              </a:spcBef>
              <a:buNone/>
            </a:pPr>
            <a:r>
              <a:rPr lang="en-US" sz="1500" kern="0" spc="-30" dirty="0">
                <a:solidFill>
                  <a:srgbClr val="000000">
                    <a:alpha val="56000"/>
                  </a:srgbClr>
                </a:solidFill>
                <a:latin typeface="Inter" pitchFamily="34" charset="0"/>
                <a:ea typeface="Inter" pitchFamily="34" charset="-122"/>
                <a:cs typeface="Inter" pitchFamily="34" charset="-120"/>
              </a:rPr>
              <a:t>Promotional clustering yielded different cluster centers compared to the baseline sales clusters, reflecting the distinct sales dynamics under promotions</a:t>
            </a:r>
            <a:endParaRPr lang="en-US" dirty="0"/>
          </a:p>
        </p:txBody>
      </p:sp>
      <p:sp>
        <p:nvSpPr>
          <p:cNvPr id="10" name="Object 9"/>
          <p:cNvSpPr/>
          <p:nvPr/>
        </p:nvSpPr>
        <p:spPr>
          <a:xfrm>
            <a:off x="6844382" y="1718833"/>
            <a:ext cx="1428393" cy="1428393"/>
          </a:xfrm>
          <a:prstGeom prst="ellipse">
            <a:avLst/>
          </a:prstGeom>
          <a:solidFill>
            <a:srgbClr val="FEC088"/>
          </a:solidFill>
        </p:spPr>
        <p:txBody>
          <a:bodyPr/>
          <a:lstStyle/>
          <a:p>
            <a:endParaRPr lang="en-GB"/>
          </a:p>
        </p:txBody>
      </p:sp>
      <p:pic>
        <p:nvPicPr>
          <p:cNvPr id="11" name="Object 10"/>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232020" y="2106544"/>
            <a:ext cx="647538" cy="647538"/>
          </a:xfrm>
          <a:prstGeom prst="rect">
            <a:avLst/>
          </a:prstGeom>
        </p:spPr>
      </p:pic>
      <p:sp>
        <p:nvSpPr>
          <p:cNvPr id="12" name="Object 11"/>
          <p:cNvSpPr/>
          <p:nvPr/>
        </p:nvSpPr>
        <p:spPr>
          <a:xfrm>
            <a:off x="6317305" y="3241187"/>
            <a:ext cx="2482547" cy="266931"/>
          </a:xfrm>
          <a:prstGeom prst="rect">
            <a:avLst/>
          </a:prstGeom>
          <a:noFill/>
        </p:spPr>
        <p:txBody>
          <a:bodyPr wrap="square" lIns="0" tIns="0" rIns="0" bIns="0" rtlCol="0" anchor="t"/>
          <a:lstStyle/>
          <a:p>
            <a:pPr algn="ctr">
              <a:lnSpc>
                <a:spcPts val="2102"/>
              </a:lnSpc>
              <a:buNone/>
            </a:pPr>
            <a:r>
              <a:rPr lang="en-US" sz="1800" b="1" kern="0" spc="-108" dirty="0">
                <a:solidFill>
                  <a:srgbClr val="333333"/>
                </a:solidFill>
                <a:latin typeface="Inter" pitchFamily="34" charset="0"/>
                <a:ea typeface="Inter" pitchFamily="34" charset="-122"/>
                <a:cs typeface="Inter" pitchFamily="34" charset="-120"/>
              </a:rPr>
              <a:t>Cluster Transition Matrix</a:t>
            </a:r>
            <a:endParaRPr lang="en-US" dirty="0"/>
          </a:p>
        </p:txBody>
      </p:sp>
      <p:sp>
        <p:nvSpPr>
          <p:cNvPr id="13" name="Object 12"/>
          <p:cNvSpPr/>
          <p:nvPr/>
        </p:nvSpPr>
        <p:spPr>
          <a:xfrm>
            <a:off x="6317305" y="3585675"/>
            <a:ext cx="2482547" cy="1320705"/>
          </a:xfrm>
          <a:prstGeom prst="rect">
            <a:avLst/>
          </a:prstGeom>
          <a:noFill/>
        </p:spPr>
        <p:txBody>
          <a:bodyPr wrap="square" lIns="0" tIns="0" rIns="0" bIns="0" rtlCol="0" anchor="t"/>
          <a:lstStyle/>
          <a:p>
            <a:pPr algn="ctr">
              <a:lnSpc>
                <a:spcPts val="2081"/>
              </a:lnSpc>
              <a:spcBef>
                <a:spcPts val="599"/>
              </a:spcBef>
              <a:buNone/>
            </a:pPr>
            <a:r>
              <a:rPr lang="en-US" sz="1500" kern="0" spc="-30" dirty="0">
                <a:solidFill>
                  <a:srgbClr val="000000">
                    <a:alpha val="56000"/>
                  </a:srgbClr>
                </a:solidFill>
                <a:latin typeface="Inter" pitchFamily="34" charset="0"/>
                <a:ea typeface="Inter" pitchFamily="34" charset="-122"/>
                <a:cs typeface="Inter" pitchFamily="34" charset="-120"/>
              </a:rPr>
              <a:t>Analyzed how stores and products shifted between clusters when evaluated under promo-only sales vs. the full non-promo period</a:t>
            </a:r>
            <a:endParaRPr lang="en-US" dirty="0"/>
          </a:p>
        </p:txBody>
      </p:sp>
      <p:sp>
        <p:nvSpPr>
          <p:cNvPr id="14" name="Object 13"/>
          <p:cNvSpPr/>
          <p:nvPr/>
        </p:nvSpPr>
        <p:spPr>
          <a:xfrm>
            <a:off x="9772587" y="1718833"/>
            <a:ext cx="1428393" cy="1428393"/>
          </a:xfrm>
          <a:prstGeom prst="ellipse">
            <a:avLst/>
          </a:prstGeom>
          <a:solidFill>
            <a:srgbClr val="FD864D"/>
          </a:solidFill>
        </p:spPr>
        <p:txBody>
          <a:bodyPr/>
          <a:lstStyle/>
          <a:p>
            <a:endParaRPr lang="en-GB"/>
          </a:p>
        </p:txBody>
      </p:sp>
      <p:pic>
        <p:nvPicPr>
          <p:cNvPr id="15" name="Object 14"/>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0202091" y="2190236"/>
            <a:ext cx="561835" cy="476131"/>
          </a:xfrm>
          <a:prstGeom prst="rect">
            <a:avLst/>
          </a:prstGeom>
        </p:spPr>
      </p:pic>
      <p:sp>
        <p:nvSpPr>
          <p:cNvPr id="16" name="Object 15"/>
          <p:cNvSpPr/>
          <p:nvPr/>
        </p:nvSpPr>
        <p:spPr>
          <a:xfrm>
            <a:off x="9193138" y="3241187"/>
            <a:ext cx="2587255" cy="266931"/>
          </a:xfrm>
          <a:prstGeom prst="rect">
            <a:avLst/>
          </a:prstGeom>
          <a:noFill/>
        </p:spPr>
        <p:txBody>
          <a:bodyPr wrap="square" lIns="0" tIns="0" rIns="0" bIns="0" rtlCol="0" anchor="t"/>
          <a:lstStyle/>
          <a:p>
            <a:pPr algn="ctr">
              <a:lnSpc>
                <a:spcPts val="2102"/>
              </a:lnSpc>
              <a:buNone/>
            </a:pPr>
            <a:r>
              <a:rPr lang="en-US" sz="1800" b="1" kern="0" spc="-108" dirty="0">
                <a:solidFill>
                  <a:srgbClr val="333333"/>
                </a:solidFill>
                <a:latin typeface="Inter" pitchFamily="34" charset="0"/>
                <a:ea typeface="Inter" pitchFamily="34" charset="-122"/>
                <a:cs typeface="Inter" pitchFamily="34" charset="-120"/>
              </a:rPr>
              <a:t>Uplift Analysis</a:t>
            </a:r>
            <a:endParaRPr lang="en-US" dirty="0"/>
          </a:p>
        </p:txBody>
      </p:sp>
      <p:sp>
        <p:nvSpPr>
          <p:cNvPr id="17" name="Object 16"/>
          <p:cNvSpPr/>
          <p:nvPr/>
        </p:nvSpPr>
        <p:spPr>
          <a:xfrm>
            <a:off x="9193138" y="3585675"/>
            <a:ext cx="2587255" cy="1584846"/>
          </a:xfrm>
          <a:prstGeom prst="rect">
            <a:avLst/>
          </a:prstGeom>
          <a:noFill/>
        </p:spPr>
        <p:txBody>
          <a:bodyPr wrap="square" lIns="0" tIns="0" rIns="0" bIns="0" rtlCol="0" anchor="t"/>
          <a:lstStyle/>
          <a:p>
            <a:pPr algn="ctr">
              <a:lnSpc>
                <a:spcPts val="2081"/>
              </a:lnSpc>
              <a:spcBef>
                <a:spcPts val="599"/>
              </a:spcBef>
              <a:buNone/>
            </a:pPr>
            <a:r>
              <a:rPr lang="en-US" sz="1500" kern="0" spc="-30" dirty="0">
                <a:solidFill>
                  <a:srgbClr val="000000">
                    <a:alpha val="56000"/>
                  </a:srgbClr>
                </a:solidFill>
                <a:latin typeface="Inter" pitchFamily="34" charset="0"/>
                <a:ea typeface="Inter" pitchFamily="34" charset="-122"/>
                <a:cs typeface="Inter" pitchFamily="34" charset="-120"/>
              </a:rPr>
              <a:t>Calculated the mean sales uplift and difference for each cluster transition, to quantify the impact of promotions on different performance segments</a:t>
            </a:r>
            <a:endParaRPr lang="en-US" dirty="0"/>
          </a:p>
        </p:txBody>
      </p:sp>
      <p:sp>
        <p:nvSpPr>
          <p:cNvPr id="18" name="Object 17"/>
          <p:cNvSpPr/>
          <p:nvPr/>
        </p:nvSpPr>
        <p:spPr>
          <a:xfrm>
            <a:off x="0" y="5713571"/>
            <a:ext cx="12188952" cy="1142714"/>
          </a:xfrm>
          <a:prstGeom prst="rect">
            <a:avLst/>
          </a:prstGeom>
          <a:solidFill>
            <a:srgbClr val="FD864D"/>
          </a:solidFill>
        </p:spPr>
        <p:txBody>
          <a:bodyPr/>
          <a:lstStyle/>
          <a:p>
            <a:endParaRPr lang="en-GB"/>
          </a:p>
        </p:txBody>
      </p:sp>
      <p:sp>
        <p:nvSpPr>
          <p:cNvPr id="19" name="Object 18"/>
          <p:cNvSpPr/>
          <p:nvPr/>
        </p:nvSpPr>
        <p:spPr>
          <a:xfrm>
            <a:off x="-4761" y="6017030"/>
            <a:ext cx="12198400" cy="533862"/>
          </a:xfrm>
          <a:prstGeom prst="rect">
            <a:avLst/>
          </a:prstGeom>
          <a:noFill/>
        </p:spPr>
        <p:txBody>
          <a:bodyPr wrap="square" lIns="0" tIns="0" rIns="0" bIns="0" rtlCol="0" anchor="ctr"/>
          <a:lstStyle/>
          <a:p>
            <a:pPr algn="ctr">
              <a:lnSpc>
                <a:spcPts val="2102"/>
              </a:lnSpc>
              <a:buNone/>
            </a:pPr>
            <a:r>
              <a:rPr lang="en-US" sz="1800" b="1" kern="0" spc="-108" dirty="0">
                <a:solidFill>
                  <a:srgbClr val="333333"/>
                </a:solidFill>
                <a:latin typeface="Inter" pitchFamily="34" charset="0"/>
                <a:ea typeface="Inter" pitchFamily="34" charset="-122"/>
                <a:cs typeface="Inter" pitchFamily="34" charset="-120"/>
              </a:rPr>
              <a:t>The bonus promo-focused clustering provides a complementary lens to the standard analysis, revealing how promotions reshape the underlying sales distribution and highlighting the elastic response of certain segments to promotional activities.</a:t>
            </a:r>
            <a:endParaRPr lang="en-US" dirty="0"/>
          </a:p>
        </p:txBody>
      </p:sp>
      <p:pic>
        <p:nvPicPr>
          <p:cNvPr id="20" name="Object 19"/>
          <p:cNvPicPr>
            <a:picLocks noChangeAspect="1"/>
          </p:cNvPicPr>
          <p:nvPr/>
        </p:nvPicPr>
        <p:blipFill>
          <a:blip r:embed="rId11"/>
          <a:stretch>
            <a:fillRect/>
          </a:stretch>
        </p:blipFill>
        <p:spPr>
          <a:xfrm>
            <a:off x="-35053" y="1714"/>
            <a:ext cx="12188952" cy="6856286"/>
          </a:xfrm>
          <a:prstGeom prst="rect">
            <a:avLst/>
          </a:prstGeom>
        </p:spPr>
      </p:pic>
      <p:sp>
        <p:nvSpPr>
          <p:cNvPr id="21" name="Object 20"/>
          <p:cNvSpPr/>
          <p:nvPr/>
        </p:nvSpPr>
        <p:spPr>
          <a:xfrm>
            <a:off x="0" y="374246"/>
            <a:ext cx="12188915" cy="556069"/>
          </a:xfrm>
          <a:prstGeom prst="rect">
            <a:avLst/>
          </a:prstGeom>
          <a:noFill/>
        </p:spPr>
        <p:txBody>
          <a:bodyPr wrap="square" lIns="0" tIns="0" rIns="0" bIns="0" rtlCol="0" anchor="t"/>
          <a:lstStyle/>
          <a:p>
            <a:pPr algn="ctr">
              <a:lnSpc>
                <a:spcPts val="4380"/>
              </a:lnSpc>
              <a:buNone/>
            </a:pPr>
            <a:r>
              <a:rPr lang="en-US" sz="3750" b="1" kern="0" spc="-225" dirty="0">
                <a:solidFill>
                  <a:srgbClr val="333333"/>
                </a:solidFill>
                <a:latin typeface="Inter" pitchFamily="34" charset="0"/>
                <a:ea typeface="Inter" pitchFamily="34" charset="-122"/>
                <a:cs typeface="Inter" pitchFamily="34" charset="-120"/>
              </a:rPr>
              <a:t>Bonus Methodology</a:t>
            </a:r>
            <a:endParaRPr lang="en-US"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Object 3"/>
          <p:cNvSpPr/>
          <p:nvPr/>
        </p:nvSpPr>
        <p:spPr>
          <a:xfrm>
            <a:off x="419649" y="403441"/>
            <a:ext cx="3855720" cy="4371974"/>
          </a:xfrm>
          <a:prstGeom prst="rect">
            <a:avLst/>
          </a:prstGeom>
        </p:spPr>
        <p:txBody>
          <a:bodyPr vert="horz" lIns="91440" tIns="45720" rIns="91440" bIns="45720" rtlCol="0" anchor="ctr">
            <a:normAutofit/>
          </a:bodyPr>
          <a:lstStyle/>
          <a:p>
            <a:pPr defTabSz="914400">
              <a:lnSpc>
                <a:spcPct val="90000"/>
              </a:lnSpc>
              <a:spcBef>
                <a:spcPct val="0"/>
              </a:spcBef>
              <a:spcAft>
                <a:spcPts val="600"/>
              </a:spcAft>
            </a:pPr>
            <a:r>
              <a:rPr lang="en-US" sz="3600" b="1" kern="1200" spc="-225" dirty="0">
                <a:solidFill>
                  <a:schemeClr val="tx2"/>
                </a:solidFill>
                <a:latin typeface="+mj-lt"/>
                <a:ea typeface="+mj-ea"/>
                <a:cs typeface="+mj-cs"/>
              </a:rPr>
              <a:t>Promo-Speed Clusters</a:t>
            </a:r>
          </a:p>
          <a:p>
            <a:pPr defTabSz="914400">
              <a:lnSpc>
                <a:spcPct val="90000"/>
              </a:lnSpc>
              <a:spcBef>
                <a:spcPct val="0"/>
              </a:spcBef>
              <a:spcAft>
                <a:spcPts val="600"/>
              </a:spcAft>
            </a:pPr>
            <a:r>
              <a:rPr lang="en-US" sz="3600" b="1" spc="-225" dirty="0">
                <a:solidFill>
                  <a:schemeClr val="tx2"/>
                </a:solidFill>
                <a:latin typeface="+mj-lt"/>
                <a:ea typeface="+mj-ea"/>
                <a:cs typeface="+mj-cs"/>
              </a:rPr>
              <a:t>(Bonus)</a:t>
            </a:r>
            <a:endParaRPr lang="en-US" sz="3600" kern="1200" dirty="0">
              <a:solidFill>
                <a:schemeClr val="tx2"/>
              </a:solidFill>
              <a:latin typeface="+mj-lt"/>
              <a:ea typeface="+mj-ea"/>
              <a:cs typeface="+mj-cs"/>
            </a:endParaRPr>
          </a:p>
        </p:txBody>
      </p:sp>
      <p:sp>
        <p:nvSpPr>
          <p:cNvPr id="5" name="Object 4"/>
          <p:cNvSpPr/>
          <p:nvPr/>
        </p:nvSpPr>
        <p:spPr>
          <a:xfrm>
            <a:off x="6975677" y="3186913"/>
            <a:ext cx="3157980" cy="377072"/>
          </a:xfrm>
          <a:prstGeom prst="rect">
            <a:avLst/>
          </a:prstGeom>
        </p:spPr>
        <p:txBody>
          <a:bodyPr vert="horz" lIns="91440" tIns="45720" rIns="91440" bIns="45720" rtlCol="0" anchor="ctr">
            <a:normAutofit/>
          </a:bodyPr>
          <a:lstStyle/>
          <a:p>
            <a:pPr defTabSz="914400">
              <a:lnSpc>
                <a:spcPct val="90000"/>
              </a:lnSpc>
              <a:spcBef>
                <a:spcPts val="811"/>
              </a:spcBef>
            </a:pPr>
            <a:r>
              <a:rPr lang="en-US" spc="-36" dirty="0">
                <a:solidFill>
                  <a:schemeClr val="tx2"/>
                </a:solidFill>
              </a:rPr>
              <a:t>Store and Product Clustering </a:t>
            </a:r>
            <a:endParaRPr lang="en-US" dirty="0">
              <a:solidFill>
                <a:schemeClr val="tx2"/>
              </a:solidFill>
            </a:endParaRPr>
          </a:p>
        </p:txBody>
      </p:sp>
      <p:graphicFrame>
        <p:nvGraphicFramePr>
          <p:cNvPr id="27" name="Table 26">
            <a:extLst>
              <a:ext uri="{FF2B5EF4-FFF2-40B4-BE49-F238E27FC236}">
                <a16:creationId xmlns:a16="http://schemas.microsoft.com/office/drawing/2014/main" id="{25423134-224F-5BB1-2F59-5D2AE4579C52}"/>
              </a:ext>
            </a:extLst>
          </p:cNvPr>
          <p:cNvGraphicFramePr>
            <a:graphicFrameLocks noGrp="1"/>
          </p:cNvGraphicFramePr>
          <p:nvPr>
            <p:extLst>
              <p:ext uri="{D42A27DB-BD31-4B8C-83A1-F6EECF244321}">
                <p14:modId xmlns:p14="http://schemas.microsoft.com/office/powerpoint/2010/main" val="4122113283"/>
              </p:ext>
            </p:extLst>
          </p:nvPr>
        </p:nvGraphicFramePr>
        <p:xfrm>
          <a:off x="5685878" y="3843201"/>
          <a:ext cx="5840693" cy="736384"/>
        </p:xfrm>
        <a:graphic>
          <a:graphicData uri="http://schemas.openxmlformats.org/drawingml/2006/table">
            <a:tbl>
              <a:tblPr firstRow="1" firstCol="1" bandRow="1"/>
              <a:tblGrid>
                <a:gridCol w="1431893">
                  <a:extLst>
                    <a:ext uri="{9D8B030D-6E8A-4147-A177-3AD203B41FA5}">
                      <a16:colId xmlns:a16="http://schemas.microsoft.com/office/drawing/2014/main" val="3072332633"/>
                    </a:ext>
                  </a:extLst>
                </a:gridCol>
                <a:gridCol w="1469600">
                  <a:extLst>
                    <a:ext uri="{9D8B030D-6E8A-4147-A177-3AD203B41FA5}">
                      <a16:colId xmlns:a16="http://schemas.microsoft.com/office/drawing/2014/main" val="1396423623"/>
                    </a:ext>
                  </a:extLst>
                </a:gridCol>
                <a:gridCol w="1469600">
                  <a:extLst>
                    <a:ext uri="{9D8B030D-6E8A-4147-A177-3AD203B41FA5}">
                      <a16:colId xmlns:a16="http://schemas.microsoft.com/office/drawing/2014/main" val="3317523220"/>
                    </a:ext>
                  </a:extLst>
                </a:gridCol>
                <a:gridCol w="1469600">
                  <a:extLst>
                    <a:ext uri="{9D8B030D-6E8A-4147-A177-3AD203B41FA5}">
                      <a16:colId xmlns:a16="http://schemas.microsoft.com/office/drawing/2014/main" val="831035859"/>
                    </a:ext>
                  </a:extLst>
                </a:gridCol>
              </a:tblGrid>
              <a:tr h="171251">
                <a:tc>
                  <a:txBody>
                    <a:bodyPr/>
                    <a:lstStyle/>
                    <a:p>
                      <a:pPr>
                        <a:lnSpc>
                          <a:spcPct val="115000"/>
                        </a:lnSpc>
                        <a:spcAft>
                          <a:spcPts val="1000"/>
                        </a:spcAft>
                        <a:buNone/>
                      </a:pPr>
                      <a:r>
                        <a:rPr lang="en-US" sz="1100" kern="100">
                          <a:effectLst/>
                          <a:latin typeface="Aptos" panose="020B0004020202020204" pitchFamily="34" charset="0"/>
                          <a:ea typeface="Times New Roman" panose="02020603050405020304" pitchFamily="18" charset="0"/>
                          <a:cs typeface="Times New Roman" panose="02020603050405020304" pitchFamily="18" charset="0"/>
                        </a:rPr>
                        <a:t>Baseline Cluster</a:t>
                      </a:r>
                      <a:endParaRPr lang="en-GB" sz="11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a:noFill/>
                    </a:lnL>
                    <a:lnR>
                      <a:noFill/>
                    </a:lnR>
                    <a:lnT>
                      <a:noFill/>
                    </a:lnT>
                    <a:lnB>
                      <a:noFill/>
                    </a:lnB>
                    <a:noFill/>
                  </a:tcPr>
                </a:tc>
                <a:tc>
                  <a:txBody>
                    <a:bodyPr/>
                    <a:lstStyle/>
                    <a:p>
                      <a:pPr>
                        <a:lnSpc>
                          <a:spcPct val="115000"/>
                        </a:lnSpc>
                        <a:spcAft>
                          <a:spcPts val="1000"/>
                        </a:spcAft>
                        <a:buNone/>
                      </a:pPr>
                      <a:r>
                        <a:rPr lang="en-US" sz="1100" kern="100" dirty="0" err="1">
                          <a:effectLst/>
                          <a:latin typeface="Aptos" panose="020B0004020202020204" pitchFamily="34" charset="0"/>
                          <a:ea typeface="Times New Roman" panose="02020603050405020304" pitchFamily="18" charset="0"/>
                          <a:cs typeface="Times New Roman" panose="02020603050405020304" pitchFamily="18" charset="0"/>
                        </a:rPr>
                        <a:t>SlowPromo</a:t>
                      </a:r>
                      <a:endParaRPr lang="en-GB" sz="1100" kern="1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a:noFill/>
                    </a:lnL>
                    <a:lnR>
                      <a:noFill/>
                    </a:lnR>
                    <a:lnT>
                      <a:noFill/>
                    </a:lnT>
                    <a:lnB>
                      <a:noFill/>
                    </a:lnB>
                    <a:noFill/>
                  </a:tcPr>
                </a:tc>
                <a:tc>
                  <a:txBody>
                    <a:bodyPr/>
                    <a:lstStyle/>
                    <a:p>
                      <a:pPr>
                        <a:lnSpc>
                          <a:spcPct val="115000"/>
                        </a:lnSpc>
                        <a:spcAft>
                          <a:spcPts val="1000"/>
                        </a:spcAft>
                        <a:buNone/>
                      </a:pPr>
                      <a:r>
                        <a:rPr lang="en-US" sz="1100" kern="100">
                          <a:effectLst/>
                          <a:latin typeface="Aptos" panose="020B0004020202020204" pitchFamily="34" charset="0"/>
                          <a:ea typeface="Times New Roman" panose="02020603050405020304" pitchFamily="18" charset="0"/>
                          <a:cs typeface="Times New Roman" panose="02020603050405020304" pitchFamily="18" charset="0"/>
                        </a:rPr>
                        <a:t>MediumPromo</a:t>
                      </a:r>
                      <a:endParaRPr lang="en-GB" sz="11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a:noFill/>
                    </a:lnL>
                    <a:lnR>
                      <a:noFill/>
                    </a:lnR>
                    <a:lnT>
                      <a:noFill/>
                    </a:lnT>
                    <a:lnB>
                      <a:noFill/>
                    </a:lnB>
                    <a:noFill/>
                  </a:tcPr>
                </a:tc>
                <a:tc>
                  <a:txBody>
                    <a:bodyPr/>
                    <a:lstStyle/>
                    <a:p>
                      <a:pPr>
                        <a:lnSpc>
                          <a:spcPct val="115000"/>
                        </a:lnSpc>
                        <a:spcAft>
                          <a:spcPts val="1000"/>
                        </a:spcAft>
                        <a:buNone/>
                      </a:pPr>
                      <a:r>
                        <a:rPr lang="en-US" sz="1100" kern="100">
                          <a:effectLst/>
                          <a:latin typeface="Aptos" panose="020B0004020202020204" pitchFamily="34" charset="0"/>
                          <a:ea typeface="Times New Roman" panose="02020603050405020304" pitchFamily="18" charset="0"/>
                          <a:cs typeface="Times New Roman" panose="02020603050405020304" pitchFamily="18" charset="0"/>
                        </a:rPr>
                        <a:t>FastPromo</a:t>
                      </a:r>
                      <a:endParaRPr lang="en-GB" sz="11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a:noFill/>
                    </a:lnL>
                    <a:lnR>
                      <a:noFill/>
                    </a:lnR>
                    <a:lnT>
                      <a:noFill/>
                    </a:lnT>
                    <a:lnB>
                      <a:noFill/>
                    </a:lnB>
                    <a:noFill/>
                  </a:tcPr>
                </a:tc>
                <a:extLst>
                  <a:ext uri="{0D108BD9-81ED-4DB2-BD59-A6C34878D82A}">
                    <a16:rowId xmlns:a16="http://schemas.microsoft.com/office/drawing/2014/main" val="1537542534"/>
                  </a:ext>
                </a:extLst>
              </a:tr>
              <a:tr h="97673">
                <a:tc>
                  <a:txBody>
                    <a:bodyPr/>
                    <a:lstStyle/>
                    <a:p>
                      <a:pPr>
                        <a:lnSpc>
                          <a:spcPct val="115000"/>
                        </a:lnSpc>
                        <a:spcAft>
                          <a:spcPts val="1000"/>
                        </a:spcAft>
                        <a:buNone/>
                      </a:pPr>
                      <a:r>
                        <a:rPr lang="en-US" sz="1100" kern="100">
                          <a:effectLst/>
                          <a:latin typeface="Aptos" panose="020B0004020202020204" pitchFamily="34" charset="0"/>
                          <a:ea typeface="Times New Roman" panose="02020603050405020304" pitchFamily="18" charset="0"/>
                          <a:cs typeface="Times New Roman" panose="02020603050405020304" pitchFamily="18" charset="0"/>
                        </a:rPr>
                        <a:t>Slow</a:t>
                      </a:r>
                      <a:endParaRPr lang="en-GB" sz="11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a:noFill/>
                    </a:lnL>
                    <a:lnR>
                      <a:noFill/>
                    </a:lnR>
                    <a:lnT>
                      <a:noFill/>
                    </a:lnT>
                    <a:lnB>
                      <a:noFill/>
                    </a:lnB>
                    <a:noFill/>
                  </a:tcPr>
                </a:tc>
                <a:tc>
                  <a:txBody>
                    <a:bodyPr/>
                    <a:lstStyle/>
                    <a:p>
                      <a:pPr>
                        <a:lnSpc>
                          <a:spcPct val="115000"/>
                        </a:lnSpc>
                        <a:spcAft>
                          <a:spcPts val="1000"/>
                        </a:spcAft>
                        <a:buNone/>
                      </a:pPr>
                      <a:r>
                        <a:rPr lang="en-US" sz="1100" kern="100">
                          <a:effectLst/>
                          <a:latin typeface="Aptos" panose="020B0004020202020204" pitchFamily="34" charset="0"/>
                          <a:ea typeface="Times New Roman" panose="02020603050405020304" pitchFamily="18" charset="0"/>
                          <a:cs typeface="Times New Roman" panose="02020603050405020304" pitchFamily="18" charset="0"/>
                        </a:rPr>
                        <a:t>253</a:t>
                      </a:r>
                      <a:endParaRPr lang="en-GB" sz="11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a:noFill/>
                    </a:lnL>
                    <a:lnR>
                      <a:noFill/>
                    </a:lnR>
                    <a:lnT>
                      <a:noFill/>
                    </a:lnT>
                    <a:lnB>
                      <a:noFill/>
                    </a:lnB>
                    <a:noFill/>
                  </a:tcPr>
                </a:tc>
                <a:tc>
                  <a:txBody>
                    <a:bodyPr/>
                    <a:lstStyle/>
                    <a:p>
                      <a:pPr>
                        <a:lnSpc>
                          <a:spcPct val="115000"/>
                        </a:lnSpc>
                        <a:spcAft>
                          <a:spcPts val="1000"/>
                        </a:spcAft>
                        <a:buNone/>
                      </a:pPr>
                      <a:r>
                        <a:rPr lang="en-US" sz="1100" kern="100">
                          <a:effectLst/>
                          <a:latin typeface="Aptos" panose="020B0004020202020204" pitchFamily="34" charset="0"/>
                          <a:ea typeface="Times New Roman" panose="02020603050405020304" pitchFamily="18" charset="0"/>
                          <a:cs typeface="Times New Roman" panose="02020603050405020304" pitchFamily="18" charset="0"/>
                        </a:rPr>
                        <a:t>2</a:t>
                      </a:r>
                      <a:endParaRPr lang="en-GB" sz="11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a:noFill/>
                    </a:lnL>
                    <a:lnR>
                      <a:noFill/>
                    </a:lnR>
                    <a:lnT>
                      <a:noFill/>
                    </a:lnT>
                    <a:lnB>
                      <a:noFill/>
                    </a:lnB>
                    <a:noFill/>
                  </a:tcPr>
                </a:tc>
                <a:tc>
                  <a:txBody>
                    <a:bodyPr/>
                    <a:lstStyle/>
                    <a:p>
                      <a:pPr>
                        <a:lnSpc>
                          <a:spcPct val="115000"/>
                        </a:lnSpc>
                        <a:spcAft>
                          <a:spcPts val="1000"/>
                        </a:spcAft>
                        <a:buNone/>
                      </a:pPr>
                      <a:r>
                        <a:rPr lang="en-US" sz="1100" kern="100">
                          <a:effectLst/>
                          <a:latin typeface="Aptos" panose="020B0004020202020204" pitchFamily="34" charset="0"/>
                          <a:ea typeface="Times New Roman" panose="02020603050405020304" pitchFamily="18" charset="0"/>
                          <a:cs typeface="Times New Roman" panose="02020603050405020304" pitchFamily="18" charset="0"/>
                        </a:rPr>
                        <a:t>0</a:t>
                      </a:r>
                      <a:endParaRPr lang="en-GB" sz="11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a:noFill/>
                    </a:lnL>
                    <a:lnR>
                      <a:noFill/>
                    </a:lnR>
                    <a:lnT>
                      <a:noFill/>
                    </a:lnT>
                    <a:lnB>
                      <a:noFill/>
                    </a:lnB>
                    <a:noFill/>
                  </a:tcPr>
                </a:tc>
                <a:extLst>
                  <a:ext uri="{0D108BD9-81ED-4DB2-BD59-A6C34878D82A}">
                    <a16:rowId xmlns:a16="http://schemas.microsoft.com/office/drawing/2014/main" val="1550763422"/>
                  </a:ext>
                </a:extLst>
              </a:tr>
              <a:tr h="171251">
                <a:tc>
                  <a:txBody>
                    <a:bodyPr/>
                    <a:lstStyle/>
                    <a:p>
                      <a:pPr>
                        <a:lnSpc>
                          <a:spcPct val="115000"/>
                        </a:lnSpc>
                        <a:spcAft>
                          <a:spcPts val="1000"/>
                        </a:spcAft>
                        <a:buNone/>
                      </a:pPr>
                      <a:r>
                        <a:rPr lang="en-US" sz="1100" kern="100">
                          <a:effectLst/>
                          <a:latin typeface="Aptos" panose="020B0004020202020204" pitchFamily="34" charset="0"/>
                          <a:ea typeface="Times New Roman" panose="02020603050405020304" pitchFamily="18" charset="0"/>
                          <a:cs typeface="Times New Roman" panose="02020603050405020304" pitchFamily="18" charset="0"/>
                        </a:rPr>
                        <a:t>Medium</a:t>
                      </a:r>
                      <a:endParaRPr lang="en-GB" sz="11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a:noFill/>
                    </a:lnL>
                    <a:lnR>
                      <a:noFill/>
                    </a:lnR>
                    <a:lnT>
                      <a:noFill/>
                    </a:lnT>
                    <a:lnB>
                      <a:noFill/>
                    </a:lnB>
                    <a:noFill/>
                  </a:tcPr>
                </a:tc>
                <a:tc>
                  <a:txBody>
                    <a:bodyPr/>
                    <a:lstStyle/>
                    <a:p>
                      <a:pPr>
                        <a:lnSpc>
                          <a:spcPct val="115000"/>
                        </a:lnSpc>
                        <a:spcAft>
                          <a:spcPts val="1000"/>
                        </a:spcAft>
                        <a:buNone/>
                      </a:pPr>
                      <a:r>
                        <a:rPr lang="en-US" sz="1100" kern="100">
                          <a:effectLst/>
                          <a:latin typeface="Aptos" panose="020B0004020202020204" pitchFamily="34" charset="0"/>
                          <a:ea typeface="Times New Roman" panose="02020603050405020304" pitchFamily="18" charset="0"/>
                          <a:cs typeface="Times New Roman" panose="02020603050405020304" pitchFamily="18" charset="0"/>
                        </a:rPr>
                        <a:t>4</a:t>
                      </a:r>
                      <a:endParaRPr lang="en-GB" sz="11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a:noFill/>
                    </a:lnL>
                    <a:lnR>
                      <a:noFill/>
                    </a:lnR>
                    <a:lnT>
                      <a:noFill/>
                    </a:lnT>
                    <a:lnB>
                      <a:noFill/>
                    </a:lnB>
                    <a:noFill/>
                  </a:tcPr>
                </a:tc>
                <a:tc>
                  <a:txBody>
                    <a:bodyPr/>
                    <a:lstStyle/>
                    <a:p>
                      <a:pPr>
                        <a:lnSpc>
                          <a:spcPct val="115000"/>
                        </a:lnSpc>
                        <a:spcAft>
                          <a:spcPts val="1000"/>
                        </a:spcAft>
                        <a:buNone/>
                      </a:pPr>
                      <a:r>
                        <a:rPr lang="en-US" sz="1100" kern="100">
                          <a:effectLst/>
                          <a:latin typeface="Aptos" panose="020B0004020202020204" pitchFamily="34" charset="0"/>
                          <a:ea typeface="Times New Roman" panose="02020603050405020304" pitchFamily="18" charset="0"/>
                          <a:cs typeface="Times New Roman" panose="02020603050405020304" pitchFamily="18" charset="0"/>
                        </a:rPr>
                        <a:t>34</a:t>
                      </a:r>
                      <a:endParaRPr lang="en-GB" sz="11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a:noFill/>
                    </a:lnL>
                    <a:lnR>
                      <a:noFill/>
                    </a:lnR>
                    <a:lnT>
                      <a:noFill/>
                    </a:lnT>
                    <a:lnB>
                      <a:noFill/>
                    </a:lnB>
                    <a:noFill/>
                  </a:tcPr>
                </a:tc>
                <a:tc>
                  <a:txBody>
                    <a:bodyPr/>
                    <a:lstStyle/>
                    <a:p>
                      <a:pPr>
                        <a:lnSpc>
                          <a:spcPct val="115000"/>
                        </a:lnSpc>
                        <a:spcAft>
                          <a:spcPts val="1000"/>
                        </a:spcAft>
                        <a:buNone/>
                      </a:pPr>
                      <a:r>
                        <a:rPr lang="en-US" sz="1100" kern="100">
                          <a:effectLst/>
                          <a:latin typeface="Aptos" panose="020B0004020202020204" pitchFamily="34" charset="0"/>
                          <a:ea typeface="Times New Roman" panose="02020603050405020304" pitchFamily="18" charset="0"/>
                          <a:cs typeface="Times New Roman" panose="02020603050405020304" pitchFamily="18" charset="0"/>
                        </a:rPr>
                        <a:t>1</a:t>
                      </a:r>
                      <a:endParaRPr lang="en-GB" sz="11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a:noFill/>
                    </a:lnL>
                    <a:lnR>
                      <a:noFill/>
                    </a:lnR>
                    <a:lnT>
                      <a:noFill/>
                    </a:lnT>
                    <a:lnB>
                      <a:noFill/>
                    </a:lnB>
                    <a:noFill/>
                  </a:tcPr>
                </a:tc>
                <a:extLst>
                  <a:ext uri="{0D108BD9-81ED-4DB2-BD59-A6C34878D82A}">
                    <a16:rowId xmlns:a16="http://schemas.microsoft.com/office/drawing/2014/main" val="1679744603"/>
                  </a:ext>
                </a:extLst>
              </a:tr>
              <a:tr h="186601">
                <a:tc>
                  <a:txBody>
                    <a:bodyPr/>
                    <a:lstStyle/>
                    <a:p>
                      <a:pPr>
                        <a:lnSpc>
                          <a:spcPct val="115000"/>
                        </a:lnSpc>
                        <a:spcAft>
                          <a:spcPts val="1000"/>
                        </a:spcAft>
                        <a:buNone/>
                      </a:pPr>
                      <a:r>
                        <a:rPr lang="en-US" sz="1100" kern="100">
                          <a:effectLst/>
                          <a:latin typeface="Aptos" panose="020B0004020202020204" pitchFamily="34" charset="0"/>
                          <a:ea typeface="Times New Roman" panose="02020603050405020304" pitchFamily="18" charset="0"/>
                          <a:cs typeface="Times New Roman" panose="02020603050405020304" pitchFamily="18" charset="0"/>
                        </a:rPr>
                        <a:t>Fast</a:t>
                      </a:r>
                      <a:endParaRPr lang="en-GB" sz="1100" kern="10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a:noFill/>
                    </a:lnL>
                    <a:lnR>
                      <a:noFill/>
                    </a:lnR>
                    <a:lnT>
                      <a:noFill/>
                    </a:lnT>
                    <a:lnB>
                      <a:noFill/>
                    </a:lnB>
                    <a:noFill/>
                  </a:tcPr>
                </a:tc>
                <a:tc>
                  <a:txBody>
                    <a:bodyPr/>
                    <a:lstStyle/>
                    <a:p>
                      <a:pPr>
                        <a:lnSpc>
                          <a:spcPct val="115000"/>
                        </a:lnSpc>
                        <a:spcAft>
                          <a:spcPts val="1000"/>
                        </a:spcAft>
                        <a:buNone/>
                      </a:pPr>
                      <a:r>
                        <a:rPr lang="en-US" sz="1100" kern="100" dirty="0">
                          <a:effectLst/>
                          <a:latin typeface="Aptos" panose="020B0004020202020204" pitchFamily="34" charset="0"/>
                          <a:ea typeface="Times New Roman" panose="02020603050405020304" pitchFamily="18" charset="0"/>
                          <a:cs typeface="Times New Roman" panose="02020603050405020304" pitchFamily="18" charset="0"/>
                        </a:rPr>
                        <a:t>0</a:t>
                      </a:r>
                      <a:endParaRPr lang="en-GB" sz="1100" kern="1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a:noFill/>
                    </a:lnL>
                    <a:lnR>
                      <a:noFill/>
                    </a:lnR>
                    <a:lnT>
                      <a:noFill/>
                    </a:lnT>
                    <a:lnB>
                      <a:noFill/>
                    </a:lnB>
                    <a:noFill/>
                  </a:tcPr>
                </a:tc>
                <a:tc>
                  <a:txBody>
                    <a:bodyPr/>
                    <a:lstStyle/>
                    <a:p>
                      <a:pPr>
                        <a:lnSpc>
                          <a:spcPct val="115000"/>
                        </a:lnSpc>
                        <a:spcAft>
                          <a:spcPts val="1000"/>
                        </a:spcAft>
                        <a:buNone/>
                      </a:pPr>
                      <a:r>
                        <a:rPr lang="en-US" sz="1100" kern="100" dirty="0">
                          <a:effectLst/>
                          <a:latin typeface="Aptos" panose="020B0004020202020204" pitchFamily="34" charset="0"/>
                          <a:ea typeface="Times New Roman" panose="02020603050405020304" pitchFamily="18" charset="0"/>
                          <a:cs typeface="Times New Roman" panose="02020603050405020304" pitchFamily="18" charset="0"/>
                        </a:rPr>
                        <a:t>0</a:t>
                      </a:r>
                      <a:endParaRPr lang="en-GB" sz="1100" kern="1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a:noFill/>
                    </a:lnL>
                    <a:lnR>
                      <a:noFill/>
                    </a:lnR>
                    <a:lnT>
                      <a:noFill/>
                    </a:lnT>
                    <a:lnB>
                      <a:noFill/>
                    </a:lnB>
                    <a:noFill/>
                  </a:tcPr>
                </a:tc>
                <a:tc>
                  <a:txBody>
                    <a:bodyPr/>
                    <a:lstStyle/>
                    <a:p>
                      <a:pPr>
                        <a:lnSpc>
                          <a:spcPct val="115000"/>
                        </a:lnSpc>
                        <a:spcAft>
                          <a:spcPts val="1000"/>
                        </a:spcAft>
                        <a:buNone/>
                      </a:pPr>
                      <a:r>
                        <a:rPr lang="en-US" sz="1100" kern="100" dirty="0">
                          <a:effectLst/>
                          <a:latin typeface="Aptos" panose="020B0004020202020204" pitchFamily="34" charset="0"/>
                          <a:ea typeface="Times New Roman" panose="02020603050405020304" pitchFamily="18" charset="0"/>
                          <a:cs typeface="Times New Roman" panose="02020603050405020304" pitchFamily="18" charset="0"/>
                        </a:rPr>
                        <a:t>6</a:t>
                      </a:r>
                      <a:endParaRPr lang="en-GB" sz="1100" kern="100" dirty="0">
                        <a:effectLst/>
                        <a:latin typeface="Aptos" panose="020B0004020202020204" pitchFamily="34" charset="0"/>
                        <a:ea typeface="Times New Roman" panose="02020603050405020304" pitchFamily="18" charset="0"/>
                        <a:cs typeface="Times New Roman" panose="02020603050405020304" pitchFamily="18" charset="0"/>
                      </a:endParaRPr>
                    </a:p>
                  </a:txBody>
                  <a:tcPr marL="68580" marR="68580" marT="0" marB="0">
                    <a:lnL>
                      <a:noFill/>
                    </a:lnL>
                    <a:lnR>
                      <a:noFill/>
                    </a:lnR>
                    <a:lnT>
                      <a:noFill/>
                    </a:lnT>
                    <a:lnB>
                      <a:noFill/>
                    </a:lnB>
                    <a:noFill/>
                  </a:tcPr>
                </a:tc>
                <a:extLst>
                  <a:ext uri="{0D108BD9-81ED-4DB2-BD59-A6C34878D82A}">
                    <a16:rowId xmlns:a16="http://schemas.microsoft.com/office/drawing/2014/main" val="3818809398"/>
                  </a:ext>
                </a:extLst>
              </a:tr>
            </a:tbl>
          </a:graphicData>
        </a:graphic>
      </p:graphicFrame>
      <p:graphicFrame>
        <p:nvGraphicFramePr>
          <p:cNvPr id="28" name="Object 27">
            <a:extLst>
              <a:ext uri="{FF2B5EF4-FFF2-40B4-BE49-F238E27FC236}">
                <a16:creationId xmlns:a16="http://schemas.microsoft.com/office/drawing/2014/main" id="{C21C4BCE-4E08-2D37-D94B-EA97B98E212B}"/>
              </a:ext>
            </a:extLst>
          </p:cNvPr>
          <p:cNvGraphicFramePr>
            <a:graphicFrameLocks noChangeAspect="1"/>
          </p:cNvGraphicFramePr>
          <p:nvPr>
            <p:extLst>
              <p:ext uri="{D42A27DB-BD31-4B8C-83A1-F6EECF244321}">
                <p14:modId xmlns:p14="http://schemas.microsoft.com/office/powerpoint/2010/main" val="464500002"/>
              </p:ext>
            </p:extLst>
          </p:nvPr>
        </p:nvGraphicFramePr>
        <p:xfrm>
          <a:off x="5728175" y="2039870"/>
          <a:ext cx="5756100" cy="1389332"/>
        </p:xfrm>
        <a:graphic>
          <a:graphicData uri="http://schemas.openxmlformats.org/presentationml/2006/ole">
            <mc:AlternateContent xmlns:mc="http://schemas.openxmlformats.org/markup-compatibility/2006">
              <mc:Choice xmlns:v="urn:schemas-microsoft-com:vml" Requires="v">
                <p:oleObj name="Document" r:id="rId3" imgW="5944043" imgH="1615738" progId="Word.Document.12">
                  <p:embed/>
                </p:oleObj>
              </mc:Choice>
              <mc:Fallback>
                <p:oleObj name="Document" r:id="rId3" imgW="5944043" imgH="1615738" progId="Word.Document.12">
                  <p:embed/>
                  <p:pic>
                    <p:nvPicPr>
                      <p:cNvPr id="0" name=""/>
                      <p:cNvPicPr/>
                      <p:nvPr/>
                    </p:nvPicPr>
                    <p:blipFill>
                      <a:blip r:embed="rId4"/>
                      <a:stretch>
                        <a:fillRect/>
                      </a:stretch>
                    </p:blipFill>
                    <p:spPr>
                      <a:xfrm>
                        <a:off x="5728175" y="2039870"/>
                        <a:ext cx="5756100" cy="1389332"/>
                      </a:xfrm>
                      <a:prstGeom prst="rect">
                        <a:avLst/>
                      </a:prstGeom>
                    </p:spPr>
                  </p:pic>
                </p:oleObj>
              </mc:Fallback>
            </mc:AlternateContent>
          </a:graphicData>
        </a:graphic>
      </p:graphicFrame>
      <p:sp>
        <p:nvSpPr>
          <p:cNvPr id="32" name="TextBox 31">
            <a:extLst>
              <a:ext uri="{FF2B5EF4-FFF2-40B4-BE49-F238E27FC236}">
                <a16:creationId xmlns:a16="http://schemas.microsoft.com/office/drawing/2014/main" id="{49E93356-33AE-7BA1-2F41-6C207FB9F3D0}"/>
              </a:ext>
            </a:extLst>
          </p:cNvPr>
          <p:cNvSpPr txBox="1"/>
          <p:nvPr/>
        </p:nvSpPr>
        <p:spPr>
          <a:xfrm>
            <a:off x="365478" y="3190545"/>
            <a:ext cx="3586743" cy="1780744"/>
          </a:xfrm>
          <a:prstGeom prst="rect">
            <a:avLst/>
          </a:prstGeom>
          <a:noFill/>
        </p:spPr>
        <p:txBody>
          <a:bodyPr wrap="square">
            <a:spAutoFit/>
          </a:bodyPr>
          <a:lstStyle/>
          <a:p>
            <a:pPr>
              <a:lnSpc>
                <a:spcPct val="115000"/>
              </a:lnSpc>
              <a:spcAft>
                <a:spcPts val="1000"/>
              </a:spcAft>
              <a:buNone/>
            </a:pPr>
            <a:r>
              <a:rPr lang="en-US" sz="1200" dirty="0">
                <a:effectLst/>
                <a:latin typeface="Aptos" panose="020B0004020202020204" pitchFamily="34" charset="0"/>
                <a:ea typeface="Times New Roman" panose="02020603050405020304" pitchFamily="18" charset="0"/>
                <a:cs typeface="Times New Roman" panose="02020603050405020304" pitchFamily="18" charset="0"/>
              </a:rPr>
              <a:t>This bonus section complements the main clustering analysis by applying K-Means clustering exclusively to promotional sales periods. Unlike the baseline clusters (Slow, Medium, Fast), which were derived from non-promo sales, here we estimate new clusters under the distinct sales dynamics of promotions. These clusters are labeled as </a:t>
            </a:r>
            <a:r>
              <a:rPr lang="en-US" sz="1200" dirty="0" err="1">
                <a:effectLst/>
                <a:latin typeface="Aptos" panose="020B0004020202020204" pitchFamily="34" charset="0"/>
                <a:ea typeface="Times New Roman" panose="02020603050405020304" pitchFamily="18" charset="0"/>
                <a:cs typeface="Times New Roman" panose="02020603050405020304" pitchFamily="18" charset="0"/>
              </a:rPr>
              <a:t>SlowPromo</a:t>
            </a:r>
            <a:r>
              <a:rPr lang="en-US" sz="1200" dirty="0">
                <a:effectLst/>
                <a:latin typeface="Aptos" panose="020B0004020202020204" pitchFamily="34" charset="0"/>
                <a:ea typeface="Times New Roman" panose="02020603050405020304" pitchFamily="18" charset="0"/>
                <a:cs typeface="Times New Roman" panose="02020603050405020304" pitchFamily="18" charset="0"/>
              </a:rPr>
              <a:t>, </a:t>
            </a:r>
            <a:r>
              <a:rPr lang="en-US" sz="1200" dirty="0" err="1">
                <a:effectLst/>
                <a:latin typeface="Aptos" panose="020B0004020202020204" pitchFamily="34" charset="0"/>
                <a:ea typeface="Times New Roman" panose="02020603050405020304" pitchFamily="18" charset="0"/>
                <a:cs typeface="Times New Roman" panose="02020603050405020304" pitchFamily="18" charset="0"/>
              </a:rPr>
              <a:t>MediumPromo</a:t>
            </a:r>
            <a:r>
              <a:rPr lang="en-US" sz="1200" dirty="0">
                <a:effectLst/>
                <a:latin typeface="Aptos" panose="020B0004020202020204" pitchFamily="34" charset="0"/>
                <a:ea typeface="Times New Roman" panose="02020603050405020304" pitchFamily="18" charset="0"/>
                <a:cs typeface="Times New Roman" panose="02020603050405020304" pitchFamily="18" charset="0"/>
              </a:rPr>
              <a:t>, and </a:t>
            </a:r>
            <a:r>
              <a:rPr lang="en-US" sz="1200" dirty="0" err="1">
                <a:effectLst/>
                <a:latin typeface="Aptos" panose="020B0004020202020204" pitchFamily="34" charset="0"/>
                <a:ea typeface="Times New Roman" panose="02020603050405020304" pitchFamily="18" charset="0"/>
                <a:cs typeface="Times New Roman" panose="02020603050405020304" pitchFamily="18" charset="0"/>
              </a:rPr>
              <a:t>FastPromo</a:t>
            </a:r>
            <a:r>
              <a:rPr lang="en-US" sz="1200" dirty="0">
                <a:effectLst/>
                <a:latin typeface="Aptos" panose="020B0004020202020204" pitchFamily="34" charset="0"/>
                <a:ea typeface="Times New Roman" panose="02020603050405020304" pitchFamily="18" charset="0"/>
                <a:cs typeface="Times New Roman" panose="02020603050405020304" pitchFamily="18" charset="0"/>
              </a:rPr>
              <a:t>.</a:t>
            </a:r>
            <a:endParaRPr lang="en-GB" sz="1200" dirty="0">
              <a:effectLst/>
              <a:latin typeface="Aptos" panose="020B0004020202020204" pitchFamily="34" charset="0"/>
              <a:ea typeface="Times New Roman" panose="02020603050405020304" pitchFamily="18" charset="0"/>
              <a:cs typeface="Times New Roman" panose="02020603050405020304" pitchFamily="18" charset="0"/>
            </a:endParaRPr>
          </a:p>
        </p:txBody>
      </p:sp>
      <p:sp>
        <p:nvSpPr>
          <p:cNvPr id="41" name="TextBox 40">
            <a:extLst>
              <a:ext uri="{FF2B5EF4-FFF2-40B4-BE49-F238E27FC236}">
                <a16:creationId xmlns:a16="http://schemas.microsoft.com/office/drawing/2014/main" id="{120336C9-AEFE-21A4-A2EF-311DDD33DEB6}"/>
              </a:ext>
            </a:extLst>
          </p:cNvPr>
          <p:cNvSpPr txBox="1"/>
          <p:nvPr/>
        </p:nvSpPr>
        <p:spPr>
          <a:xfrm>
            <a:off x="6372519" y="4080917"/>
            <a:ext cx="4543719" cy="369332"/>
          </a:xfrm>
          <a:prstGeom prst="rect">
            <a:avLst/>
          </a:prstGeom>
          <a:noFill/>
        </p:spPr>
        <p:txBody>
          <a:bodyPr wrap="square" rtlCol="0">
            <a:spAutoFit/>
          </a:bodyPr>
          <a:lstStyle/>
          <a:p>
            <a:endParaRPr lang="en-GB" dirty="0">
              <a:solidFill>
                <a:schemeClr val="bg2"/>
              </a:solidFill>
            </a:endParaRPr>
          </a:p>
        </p:txBody>
      </p:sp>
      <p:sp>
        <p:nvSpPr>
          <p:cNvPr id="43" name="Rectangle 10">
            <a:extLst>
              <a:ext uri="{FF2B5EF4-FFF2-40B4-BE49-F238E27FC236}">
                <a16:creationId xmlns:a16="http://schemas.microsoft.com/office/drawing/2014/main" id="{7A549338-E66D-A24D-8F0E-9E843EE21F11}"/>
              </a:ext>
            </a:extLst>
          </p:cNvPr>
          <p:cNvSpPr>
            <a:spLocks noChangeArrowheads="1"/>
          </p:cNvSpPr>
          <p:nvPr/>
        </p:nvSpPr>
        <p:spPr bwMode="auto">
          <a:xfrm>
            <a:off x="4317395" y="5518669"/>
            <a:ext cx="9297790" cy="103188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050" b="1" i="0" u="none" strike="noStrike" cap="none" normalizeH="0" baseline="0" dirty="0">
                <a:ln>
                  <a:noFill/>
                </a:ln>
                <a:solidFill>
                  <a:schemeClr val="tx1"/>
                </a:solidFill>
                <a:effectLst/>
                <a:latin typeface="Arial" panose="020B0604020202020204" pitchFamily="34" charset="0"/>
              </a:rPr>
              <a:t>Transition patterns</a:t>
            </a:r>
            <a:r>
              <a:rPr kumimoji="0" lang="en-US" altLang="en-US" sz="1050" b="0" i="0" u="none" strike="noStrike" cap="none" normalizeH="0" baseline="0" dirty="0">
                <a:ln>
                  <a:noFill/>
                </a:ln>
                <a:solidFill>
                  <a:schemeClr val="tx1"/>
                </a:solidFill>
                <a:effectLst/>
                <a:latin typeface="Arial" panose="020B0604020202020204" pitchFamily="34" charset="0"/>
              </a:rPr>
              <a:t>: many Medium stores/products remain </a:t>
            </a:r>
            <a:r>
              <a:rPr kumimoji="0" lang="en-US" altLang="en-US" sz="1050" b="0" i="0" u="none" strike="noStrike" cap="none" normalizeH="0" baseline="0" dirty="0" err="1">
                <a:ln>
                  <a:noFill/>
                </a:ln>
                <a:solidFill>
                  <a:schemeClr val="tx1"/>
                </a:solidFill>
                <a:effectLst/>
                <a:latin typeface="Arial" panose="020B0604020202020204" pitchFamily="34" charset="0"/>
              </a:rPr>
              <a:t>MediumPromo</a:t>
            </a:r>
            <a:r>
              <a:rPr kumimoji="0" lang="en-US" altLang="en-US" sz="1050" b="0" i="0" u="none" strike="noStrike" cap="none" normalizeH="0" baseline="0" dirty="0">
                <a:ln>
                  <a:noFill/>
                </a:ln>
                <a:solidFill>
                  <a:schemeClr val="tx1"/>
                </a:solidFill>
                <a:effectLst/>
                <a:latin typeface="Arial" panose="020B0604020202020204" pitchFamily="34" charset="0"/>
              </a:rPr>
              <a:t>, but a significant share shift into </a:t>
            </a:r>
            <a:r>
              <a:rPr kumimoji="0" lang="en-US" altLang="en-US" sz="1050" b="0" i="0" u="none" strike="noStrike" cap="none" normalizeH="0" baseline="0" dirty="0" err="1">
                <a:ln>
                  <a:noFill/>
                </a:ln>
                <a:solidFill>
                  <a:schemeClr val="tx1"/>
                </a:solidFill>
                <a:effectLst/>
                <a:latin typeface="Arial" panose="020B0604020202020204" pitchFamily="34" charset="0"/>
              </a:rPr>
              <a:t>FastProm</a:t>
            </a:r>
            <a:endParaRPr kumimoji="0" lang="en-US" altLang="en-US" sz="105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050" b="1" i="0" u="none" strike="noStrike" cap="none" normalizeH="0" baseline="0" dirty="0">
                <a:ln>
                  <a:noFill/>
                </a:ln>
                <a:solidFill>
                  <a:schemeClr val="tx1"/>
                </a:solidFill>
                <a:effectLst/>
                <a:latin typeface="Arial" panose="020B0604020202020204" pitchFamily="34" charset="0"/>
              </a:rPr>
              <a:t>Implications</a:t>
            </a:r>
            <a:r>
              <a:rPr kumimoji="0" lang="en-US" altLang="en-US" sz="1050" b="0" i="0" u="none" strike="noStrike" cap="none" normalizeH="0" baseline="0" dirty="0">
                <a:ln>
                  <a:noFill/>
                </a:ln>
                <a:solidFill>
                  <a:schemeClr val="tx1"/>
                </a:solidFill>
                <a:effectLst/>
                <a:latin typeface="Arial" panose="020B0604020202020204" pitchFamily="34" charset="0"/>
              </a:rPr>
              <a:t>: highlights which groups are </a:t>
            </a:r>
            <a:r>
              <a:rPr kumimoji="0" lang="en-US" altLang="en-US" sz="1050" b="1" i="0" u="none" strike="noStrike" cap="none" normalizeH="0" baseline="0" dirty="0">
                <a:ln>
                  <a:noFill/>
                </a:ln>
                <a:solidFill>
                  <a:schemeClr val="tx1"/>
                </a:solidFill>
                <a:effectLst/>
                <a:latin typeface="Arial" panose="020B0604020202020204" pitchFamily="34" charset="0"/>
              </a:rPr>
              <a:t>highly promotion-sensitive</a:t>
            </a:r>
            <a:r>
              <a:rPr kumimoji="0" lang="en-US" altLang="en-US" sz="1050" b="0" i="0" u="none" strike="noStrike" cap="none" normalizeH="0" baseline="0" dirty="0">
                <a:ln>
                  <a:noFill/>
                </a:ln>
                <a:solidFill>
                  <a:schemeClr val="tx1"/>
                </a:solidFill>
                <a:effectLst/>
                <a:latin typeface="Arial" panose="020B0604020202020204" pitchFamily="34" charset="0"/>
              </a:rPr>
              <a:t> vs. those with </a:t>
            </a:r>
            <a:r>
              <a:rPr kumimoji="0" lang="en-US" altLang="en-US" sz="1050" b="1" i="0" u="none" strike="noStrike" cap="none" normalizeH="0" baseline="0" dirty="0">
                <a:ln>
                  <a:noFill/>
                </a:ln>
                <a:solidFill>
                  <a:schemeClr val="tx1"/>
                </a:solidFill>
                <a:effectLst/>
                <a:latin typeface="Arial" panose="020B0604020202020204" pitchFamily="34" charset="0"/>
              </a:rPr>
              <a:t>stable demand</a:t>
            </a:r>
            <a:endParaRPr kumimoji="0" lang="en-US" altLang="en-US" sz="1050" b="0" i="0" u="none" strike="noStrike" cap="none" normalizeH="0" baseline="0" dirty="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050" b="1" i="0" u="none" strike="noStrike" cap="none" normalizeH="0" baseline="0" dirty="0">
                <a:ln>
                  <a:noFill/>
                </a:ln>
                <a:solidFill>
                  <a:schemeClr val="tx1"/>
                </a:solidFill>
                <a:effectLst/>
                <a:latin typeface="Arial" panose="020B0604020202020204" pitchFamily="34" charset="0"/>
              </a:rPr>
              <a:t>Value of dual clustering</a:t>
            </a:r>
            <a:r>
              <a:rPr kumimoji="0" lang="en-US" altLang="en-US" sz="1050" b="0" i="0" u="none" strike="noStrike" cap="none" normalizeH="0" baseline="0" dirty="0">
                <a:ln>
                  <a:noFill/>
                </a:ln>
                <a:solidFill>
                  <a:schemeClr val="tx1"/>
                </a:solidFill>
                <a:effectLst/>
                <a:latin typeface="Arial" panose="020B0604020202020204" pitchFamily="34" charset="0"/>
              </a:rPr>
              <a:t>: shows how promo campaigns reconfigure sales speed thresholds and reveal hidden elasticities</a:t>
            </a:r>
          </a:p>
          <a:p>
            <a:pPr marL="0" marR="0" lvl="0" indent="0" algn="l" defTabSz="914400" rtl="0" eaLnBrk="0" fontAlgn="base" latinLnBrk="0" hangingPunct="0">
              <a:lnSpc>
                <a:spcPct val="150000"/>
              </a:lnSpc>
              <a:spcBef>
                <a:spcPct val="0"/>
              </a:spcBef>
              <a:spcAft>
                <a:spcPct val="0"/>
              </a:spcAft>
              <a:buClrTx/>
              <a:buSzTx/>
              <a:buFontTx/>
              <a:buChar char="•"/>
              <a:tabLst/>
            </a:pPr>
            <a:r>
              <a:rPr kumimoji="0" lang="en-US" altLang="en-US" sz="1050" b="1" i="0" u="none" strike="noStrike" cap="none" normalizeH="0" baseline="0" dirty="0">
                <a:ln>
                  <a:noFill/>
                </a:ln>
                <a:solidFill>
                  <a:schemeClr val="tx1"/>
                </a:solidFill>
                <a:effectLst/>
                <a:latin typeface="Arial" panose="020B0604020202020204" pitchFamily="34" charset="0"/>
              </a:rPr>
              <a:t>Promotions redefine cluster boundaries</a:t>
            </a:r>
            <a:r>
              <a:rPr kumimoji="0" lang="en-US" altLang="en-US" sz="1050" b="0" i="0" u="none" strike="noStrike" cap="none" normalizeH="0" baseline="0" dirty="0">
                <a:ln>
                  <a:noFill/>
                </a:ln>
                <a:solidFill>
                  <a:schemeClr val="tx1"/>
                </a:solidFill>
                <a:effectLst/>
                <a:latin typeface="Arial" panose="020B0604020202020204" pitchFamily="34" charset="0"/>
              </a:rPr>
              <a:t> → </a:t>
            </a:r>
            <a:r>
              <a:rPr kumimoji="0" lang="en-US" altLang="en-US" sz="1050" b="0" i="0" u="none" strike="noStrike" cap="none" normalizeH="0" baseline="0" dirty="0" err="1">
                <a:ln>
                  <a:noFill/>
                </a:ln>
                <a:solidFill>
                  <a:schemeClr val="tx1"/>
                </a:solidFill>
                <a:effectLst/>
                <a:latin typeface="Arial" panose="020B0604020202020204" pitchFamily="34" charset="0"/>
              </a:rPr>
              <a:t>SlowPromo</a:t>
            </a:r>
            <a:r>
              <a:rPr kumimoji="0" lang="en-US" altLang="en-US" sz="1050" b="0" i="0" u="none" strike="noStrike" cap="none" normalizeH="0" baseline="0" dirty="0">
                <a:ln>
                  <a:noFill/>
                </a:ln>
                <a:solidFill>
                  <a:schemeClr val="tx1"/>
                </a:solidFill>
                <a:effectLst/>
                <a:latin typeface="Arial" panose="020B0604020202020204" pitchFamily="34" charset="0"/>
              </a:rPr>
              <a:t>, </a:t>
            </a:r>
            <a:r>
              <a:rPr kumimoji="0" lang="en-US" altLang="en-US" sz="1050" b="0" i="0" u="none" strike="noStrike" cap="none" normalizeH="0" baseline="0" dirty="0" err="1">
                <a:ln>
                  <a:noFill/>
                </a:ln>
                <a:solidFill>
                  <a:schemeClr val="tx1"/>
                </a:solidFill>
                <a:effectLst/>
                <a:latin typeface="Arial" panose="020B0604020202020204" pitchFamily="34" charset="0"/>
              </a:rPr>
              <a:t>MediumPromo</a:t>
            </a:r>
            <a:r>
              <a:rPr kumimoji="0" lang="en-US" altLang="en-US" sz="1050" b="0" i="0" u="none" strike="noStrike" cap="none" normalizeH="0" baseline="0" dirty="0">
                <a:ln>
                  <a:noFill/>
                </a:ln>
                <a:solidFill>
                  <a:schemeClr val="tx1"/>
                </a:solidFill>
                <a:effectLst/>
                <a:latin typeface="Arial" panose="020B0604020202020204" pitchFamily="34" charset="0"/>
              </a:rPr>
              <a:t>, </a:t>
            </a:r>
            <a:r>
              <a:rPr kumimoji="0" lang="en-US" altLang="en-US" sz="1050" b="0" i="0" u="none" strike="noStrike" cap="none" normalizeH="0" baseline="0" dirty="0" err="1">
                <a:ln>
                  <a:noFill/>
                </a:ln>
                <a:solidFill>
                  <a:schemeClr val="tx1"/>
                </a:solidFill>
                <a:effectLst/>
                <a:latin typeface="Arial" panose="020B0604020202020204" pitchFamily="34" charset="0"/>
              </a:rPr>
              <a:t>FastPromo</a:t>
            </a:r>
            <a:r>
              <a:rPr kumimoji="0" lang="en-US" altLang="en-US" sz="1050" b="0" i="0" u="none" strike="noStrike" cap="none" normalizeH="0" baseline="0" dirty="0">
                <a:ln>
                  <a:noFill/>
                </a:ln>
                <a:solidFill>
                  <a:schemeClr val="tx1"/>
                </a:solidFill>
                <a:effectLst/>
                <a:latin typeface="Arial" panose="020B0604020202020204" pitchFamily="34" charset="0"/>
              </a:rPr>
              <a:t> differ from baseline clusters</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a:effectLst/>
      </p:bgPr>
    </p:bg>
    <p:spTree>
      <p:nvGrpSpPr>
        <p:cNvPr id="1" name=""/>
        <p:cNvGrpSpPr/>
        <p:nvPr/>
      </p:nvGrpSpPr>
      <p:grpSpPr>
        <a:xfrm>
          <a:off x="0" y="0"/>
          <a:ext cx="0" cy="0"/>
          <a:chOff x="0" y="0"/>
          <a:chExt cx="0" cy="0"/>
        </a:xfrm>
      </p:grpSpPr>
      <p:sp>
        <p:nvSpPr>
          <p:cNvPr id="2" name="Object 1"/>
          <p:cNvSpPr/>
          <p:nvPr/>
        </p:nvSpPr>
        <p:spPr>
          <a:xfrm>
            <a:off x="476131" y="1590277"/>
            <a:ext cx="714196" cy="714196"/>
          </a:xfrm>
          <a:prstGeom prst="ellipse">
            <a:avLst/>
          </a:prstGeom>
          <a:solidFill>
            <a:srgbClr val="22AAEE"/>
          </a:solidFill>
        </p:spPr>
        <p:txBody>
          <a:bodyPr/>
          <a:lstStyle/>
          <a:p>
            <a:endParaRPr lang="en-GB"/>
          </a:p>
        </p:txBody>
      </p:sp>
      <p:pic>
        <p:nvPicPr>
          <p:cNvPr id="3" name="Object 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5770" y="1796650"/>
            <a:ext cx="333292" cy="314246"/>
          </a:xfrm>
          <a:prstGeom prst="rect">
            <a:avLst/>
          </a:prstGeom>
        </p:spPr>
      </p:pic>
      <p:sp>
        <p:nvSpPr>
          <p:cNvPr id="4" name="Object 3"/>
          <p:cNvSpPr/>
          <p:nvPr/>
        </p:nvSpPr>
        <p:spPr>
          <a:xfrm>
            <a:off x="1380780" y="1541400"/>
            <a:ext cx="2775802" cy="800793"/>
          </a:xfrm>
          <a:prstGeom prst="rect">
            <a:avLst/>
          </a:prstGeom>
          <a:noFill/>
        </p:spPr>
        <p:txBody>
          <a:bodyPr wrap="square" lIns="0" tIns="0" rIns="0" bIns="0" rtlCol="0" anchor="t"/>
          <a:lstStyle/>
          <a:p>
            <a:pPr algn="l">
              <a:lnSpc>
                <a:spcPts val="2102"/>
              </a:lnSpc>
              <a:buNone/>
            </a:pPr>
            <a:r>
              <a:rPr lang="en-US" sz="1800" b="1" kern="0" spc="-108" dirty="0">
                <a:solidFill>
                  <a:srgbClr val="333333"/>
                </a:solidFill>
                <a:latin typeface="Inter" pitchFamily="34" charset="0"/>
                <a:ea typeface="Inter" pitchFamily="34" charset="-122"/>
                <a:cs typeface="Inter" pitchFamily="34" charset="-120"/>
              </a:rPr>
              <a:t>Promo-Based Clustering Reveals Shifting Sales Dynamics</a:t>
            </a:r>
            <a:endParaRPr lang="en-US" dirty="0"/>
          </a:p>
        </p:txBody>
      </p:sp>
      <p:sp>
        <p:nvSpPr>
          <p:cNvPr id="5" name="Object 4"/>
          <p:cNvSpPr/>
          <p:nvPr/>
        </p:nvSpPr>
        <p:spPr>
          <a:xfrm>
            <a:off x="1380780" y="2419750"/>
            <a:ext cx="2775802" cy="1848988"/>
          </a:xfrm>
          <a:prstGeom prst="rect">
            <a:avLst/>
          </a:prstGeom>
          <a:noFill/>
        </p:spPr>
        <p:txBody>
          <a:bodyPr wrap="square" lIns="0" tIns="0" rIns="0" bIns="0" rtlCol="0" anchor="t"/>
          <a:lstStyle/>
          <a:p>
            <a:pPr algn="l">
              <a:lnSpc>
                <a:spcPts val="2081"/>
              </a:lnSpc>
              <a:spcBef>
                <a:spcPts val="599"/>
              </a:spcBef>
              <a:buNone/>
            </a:pPr>
            <a:r>
              <a:rPr lang="en-US" sz="1500" kern="0" spc="-30" dirty="0">
                <a:solidFill>
                  <a:srgbClr val="000000">
                    <a:alpha val="56000"/>
                  </a:srgbClr>
                </a:solidFill>
                <a:latin typeface="Inter" pitchFamily="34" charset="0"/>
                <a:ea typeface="Inter" pitchFamily="34" charset="-122"/>
                <a:cs typeface="Inter" pitchFamily="34" charset="-120"/>
              </a:rPr>
              <a:t>Clustering solely on promotional sales data shows distinct product and store segments with different responsiveness to promotions, providing a new perspective on sales patterns.</a:t>
            </a:r>
            <a:endParaRPr lang="en-US" dirty="0"/>
          </a:p>
        </p:txBody>
      </p:sp>
      <p:sp>
        <p:nvSpPr>
          <p:cNvPr id="6" name="Object 5"/>
          <p:cNvSpPr/>
          <p:nvPr/>
        </p:nvSpPr>
        <p:spPr>
          <a:xfrm>
            <a:off x="4380405" y="1590277"/>
            <a:ext cx="714196" cy="714196"/>
          </a:xfrm>
          <a:prstGeom prst="ellipse">
            <a:avLst/>
          </a:prstGeom>
          <a:solidFill>
            <a:srgbClr val="FFD9AD"/>
          </a:solidFill>
        </p:spPr>
        <p:txBody>
          <a:bodyPr/>
          <a:lstStyle/>
          <a:p>
            <a:endParaRPr lang="en-GB"/>
          </a:p>
        </p:txBody>
      </p:sp>
      <p:pic>
        <p:nvPicPr>
          <p:cNvPr id="7" name="Object 6"/>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557542" y="1758986"/>
            <a:ext cx="361860" cy="352337"/>
          </a:xfrm>
          <a:prstGeom prst="rect">
            <a:avLst/>
          </a:prstGeom>
        </p:spPr>
      </p:pic>
      <p:sp>
        <p:nvSpPr>
          <p:cNvPr id="8" name="Object 7"/>
          <p:cNvSpPr/>
          <p:nvPr/>
        </p:nvSpPr>
        <p:spPr>
          <a:xfrm>
            <a:off x="5285053" y="1541400"/>
            <a:ext cx="2775802" cy="800793"/>
          </a:xfrm>
          <a:prstGeom prst="rect">
            <a:avLst/>
          </a:prstGeom>
          <a:noFill/>
        </p:spPr>
        <p:txBody>
          <a:bodyPr wrap="square" lIns="0" tIns="0" rIns="0" bIns="0" rtlCol="0" anchor="t"/>
          <a:lstStyle/>
          <a:p>
            <a:pPr algn="l">
              <a:lnSpc>
                <a:spcPts val="2102"/>
              </a:lnSpc>
              <a:buNone/>
            </a:pPr>
            <a:r>
              <a:rPr lang="en-US" sz="1800" b="1" kern="0" spc="-108" dirty="0">
                <a:solidFill>
                  <a:srgbClr val="333333"/>
                </a:solidFill>
                <a:latin typeface="Inter" pitchFamily="34" charset="0"/>
                <a:ea typeface="Inter" pitchFamily="34" charset="-122"/>
                <a:cs typeface="Inter" pitchFamily="34" charset="-120"/>
              </a:rPr>
              <a:t>SlowPromo, MediumPromo, and FastPromo Clusters</a:t>
            </a:r>
            <a:endParaRPr lang="en-US" dirty="0"/>
          </a:p>
        </p:txBody>
      </p:sp>
      <p:sp>
        <p:nvSpPr>
          <p:cNvPr id="9" name="Object 8"/>
          <p:cNvSpPr/>
          <p:nvPr/>
        </p:nvSpPr>
        <p:spPr>
          <a:xfrm>
            <a:off x="5285053" y="2419750"/>
            <a:ext cx="2775802" cy="1584846"/>
          </a:xfrm>
          <a:prstGeom prst="rect">
            <a:avLst/>
          </a:prstGeom>
          <a:noFill/>
        </p:spPr>
        <p:txBody>
          <a:bodyPr wrap="square" lIns="0" tIns="0" rIns="0" bIns="0" rtlCol="0" anchor="t"/>
          <a:lstStyle/>
          <a:p>
            <a:pPr algn="l">
              <a:lnSpc>
                <a:spcPts val="2081"/>
              </a:lnSpc>
              <a:spcBef>
                <a:spcPts val="599"/>
              </a:spcBef>
              <a:buNone/>
            </a:pPr>
            <a:r>
              <a:rPr lang="en-US" sz="1500" kern="0" spc="-30" dirty="0">
                <a:solidFill>
                  <a:srgbClr val="000000">
                    <a:alpha val="56000"/>
                  </a:srgbClr>
                </a:solidFill>
                <a:latin typeface="Inter" pitchFamily="34" charset="0"/>
                <a:ea typeface="Inter" pitchFamily="34" charset="-122"/>
                <a:cs typeface="Inter" pitchFamily="34" charset="-120"/>
              </a:rPr>
              <a:t>The promo-based clustering identified 3 distinct segments for both products and stores, with thresholds differing from the standard non-promo clustering.</a:t>
            </a:r>
            <a:endParaRPr lang="en-US" dirty="0"/>
          </a:p>
        </p:txBody>
      </p:sp>
      <p:sp>
        <p:nvSpPr>
          <p:cNvPr id="10" name="Object 9"/>
          <p:cNvSpPr/>
          <p:nvPr/>
        </p:nvSpPr>
        <p:spPr>
          <a:xfrm>
            <a:off x="8284678" y="1590277"/>
            <a:ext cx="714196" cy="714196"/>
          </a:xfrm>
          <a:prstGeom prst="ellipse">
            <a:avLst/>
          </a:prstGeom>
          <a:solidFill>
            <a:srgbClr val="FEC088"/>
          </a:solidFill>
        </p:spPr>
        <p:txBody>
          <a:bodyPr/>
          <a:lstStyle/>
          <a:p>
            <a:endParaRPr lang="en-GB"/>
          </a:p>
        </p:txBody>
      </p:sp>
      <p:pic>
        <p:nvPicPr>
          <p:cNvPr id="11" name="Object 10"/>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8499405" y="1813389"/>
            <a:ext cx="285679" cy="266633"/>
          </a:xfrm>
          <a:prstGeom prst="rect">
            <a:avLst/>
          </a:prstGeom>
        </p:spPr>
      </p:pic>
      <p:sp>
        <p:nvSpPr>
          <p:cNvPr id="12" name="Object 11"/>
          <p:cNvSpPr/>
          <p:nvPr/>
        </p:nvSpPr>
        <p:spPr>
          <a:xfrm>
            <a:off x="9189327" y="1541400"/>
            <a:ext cx="2775802" cy="800793"/>
          </a:xfrm>
          <a:prstGeom prst="rect">
            <a:avLst/>
          </a:prstGeom>
          <a:noFill/>
        </p:spPr>
        <p:txBody>
          <a:bodyPr wrap="square" lIns="0" tIns="0" rIns="0" bIns="0" rtlCol="0" anchor="t"/>
          <a:lstStyle/>
          <a:p>
            <a:pPr algn="l">
              <a:lnSpc>
                <a:spcPts val="2102"/>
              </a:lnSpc>
              <a:buNone/>
            </a:pPr>
            <a:r>
              <a:rPr lang="en-US" sz="1800" b="1" kern="0" spc="-108" dirty="0">
                <a:solidFill>
                  <a:srgbClr val="333333"/>
                </a:solidFill>
                <a:latin typeface="Inter" pitchFamily="34" charset="0"/>
                <a:ea typeface="Inter" pitchFamily="34" charset="-122"/>
                <a:cs typeface="Inter" pitchFamily="34" charset="-120"/>
              </a:rPr>
              <a:t>Transition Matrix Shows Cluster Shifts During Promos</a:t>
            </a:r>
            <a:endParaRPr lang="en-US" dirty="0"/>
          </a:p>
        </p:txBody>
      </p:sp>
      <p:sp>
        <p:nvSpPr>
          <p:cNvPr id="13" name="Object 12"/>
          <p:cNvSpPr/>
          <p:nvPr/>
        </p:nvSpPr>
        <p:spPr>
          <a:xfrm>
            <a:off x="9189327" y="2419750"/>
            <a:ext cx="2775802" cy="1848988"/>
          </a:xfrm>
          <a:prstGeom prst="rect">
            <a:avLst/>
          </a:prstGeom>
          <a:noFill/>
        </p:spPr>
        <p:txBody>
          <a:bodyPr wrap="square" lIns="0" tIns="0" rIns="0" bIns="0" rtlCol="0" anchor="t"/>
          <a:lstStyle/>
          <a:p>
            <a:pPr algn="l">
              <a:lnSpc>
                <a:spcPts val="2081"/>
              </a:lnSpc>
              <a:spcBef>
                <a:spcPts val="599"/>
              </a:spcBef>
              <a:buNone/>
            </a:pPr>
            <a:r>
              <a:rPr lang="en-US" sz="1500" kern="0" spc="-30" dirty="0">
                <a:solidFill>
                  <a:srgbClr val="000000">
                    <a:alpha val="56000"/>
                  </a:srgbClr>
                </a:solidFill>
                <a:latin typeface="Inter" pitchFamily="34" charset="0"/>
                <a:ea typeface="Inter" pitchFamily="34" charset="-122"/>
                <a:cs typeface="Inter" pitchFamily="34" charset="-120"/>
              </a:rPr>
              <a:t>Most Slow and Medium baseline products/stores shifted to higher promo-speed clusters during promotional periods, indicating a reconfiguration of the sales landscape.</a:t>
            </a:r>
            <a:endParaRPr lang="en-US" dirty="0"/>
          </a:p>
        </p:txBody>
      </p:sp>
      <p:sp>
        <p:nvSpPr>
          <p:cNvPr id="14" name="Object 13"/>
          <p:cNvSpPr/>
          <p:nvPr/>
        </p:nvSpPr>
        <p:spPr>
          <a:xfrm>
            <a:off x="8284678" y="4685128"/>
            <a:ext cx="714196" cy="714196"/>
          </a:xfrm>
          <a:prstGeom prst="ellipse">
            <a:avLst/>
          </a:prstGeom>
          <a:solidFill>
            <a:srgbClr val="FD864D"/>
          </a:solidFill>
        </p:spPr>
        <p:txBody>
          <a:bodyPr/>
          <a:lstStyle/>
          <a:p>
            <a:endParaRPr lang="en-GB"/>
          </a:p>
        </p:txBody>
      </p:sp>
      <p:pic>
        <p:nvPicPr>
          <p:cNvPr id="15" name="Object 14"/>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490993" y="4891463"/>
            <a:ext cx="304724" cy="304724"/>
          </a:xfrm>
          <a:prstGeom prst="rect">
            <a:avLst/>
          </a:prstGeom>
        </p:spPr>
      </p:pic>
      <p:sp>
        <p:nvSpPr>
          <p:cNvPr id="16" name="Object 15"/>
          <p:cNvSpPr/>
          <p:nvPr/>
        </p:nvSpPr>
        <p:spPr>
          <a:xfrm>
            <a:off x="9189327" y="4717193"/>
            <a:ext cx="2775802" cy="800793"/>
          </a:xfrm>
          <a:prstGeom prst="rect">
            <a:avLst/>
          </a:prstGeom>
          <a:noFill/>
        </p:spPr>
        <p:txBody>
          <a:bodyPr wrap="square" lIns="0" tIns="0" rIns="0" bIns="0" rtlCol="0" anchor="t"/>
          <a:lstStyle/>
          <a:p>
            <a:pPr algn="l">
              <a:lnSpc>
                <a:spcPts val="2102"/>
              </a:lnSpc>
              <a:buNone/>
            </a:pPr>
            <a:r>
              <a:rPr lang="en-US" sz="1800" b="1" kern="0" spc="-108" dirty="0">
                <a:solidFill>
                  <a:srgbClr val="333333"/>
                </a:solidFill>
                <a:latin typeface="Inter" pitchFamily="34" charset="0"/>
                <a:ea typeface="Inter" pitchFamily="34" charset="-122"/>
                <a:cs typeface="Inter" pitchFamily="34" charset="-120"/>
              </a:rPr>
              <a:t>Targeted Promotion Strategies for Segmented Portfolios</a:t>
            </a:r>
            <a:endParaRPr lang="en-US" dirty="0"/>
          </a:p>
        </p:txBody>
      </p:sp>
      <p:sp>
        <p:nvSpPr>
          <p:cNvPr id="17" name="Object 16"/>
          <p:cNvSpPr/>
          <p:nvPr/>
        </p:nvSpPr>
        <p:spPr>
          <a:xfrm>
            <a:off x="9189327" y="5595543"/>
            <a:ext cx="2775802" cy="1848988"/>
          </a:xfrm>
          <a:prstGeom prst="rect">
            <a:avLst/>
          </a:prstGeom>
          <a:noFill/>
        </p:spPr>
        <p:txBody>
          <a:bodyPr wrap="square" lIns="0" tIns="0" rIns="0" bIns="0" rtlCol="0" anchor="t"/>
          <a:lstStyle/>
          <a:p>
            <a:pPr algn="l">
              <a:lnSpc>
                <a:spcPts val="2081"/>
              </a:lnSpc>
              <a:spcBef>
                <a:spcPts val="599"/>
              </a:spcBef>
              <a:buNone/>
            </a:pPr>
            <a:r>
              <a:rPr lang="en-US" sz="1500" kern="0" spc="-30" dirty="0">
                <a:solidFill>
                  <a:srgbClr val="000000">
                    <a:alpha val="56000"/>
                  </a:srgbClr>
                </a:solidFill>
                <a:latin typeface="Inter" pitchFamily="34" charset="0"/>
                <a:ea typeface="Inter" pitchFamily="34" charset="-122"/>
                <a:cs typeface="Inter" pitchFamily="34" charset="-120"/>
              </a:rPr>
              <a:t>The dual-clustering approach enables more tailored promotional plans, prioritizing the most responsive SlowPromo segments while exploring alternatives for less elastic FastPromo entities.</a:t>
            </a:r>
            <a:endParaRPr lang="en-US" dirty="0"/>
          </a:p>
        </p:txBody>
      </p:sp>
      <p:sp>
        <p:nvSpPr>
          <p:cNvPr id="18" name="Object 17"/>
          <p:cNvSpPr/>
          <p:nvPr/>
        </p:nvSpPr>
        <p:spPr>
          <a:xfrm>
            <a:off x="0" y="5713571"/>
            <a:ext cx="12188952" cy="1142714"/>
          </a:xfrm>
          <a:prstGeom prst="rect">
            <a:avLst/>
          </a:prstGeom>
          <a:solidFill>
            <a:srgbClr val="22AAEE"/>
          </a:solidFill>
        </p:spPr>
        <p:txBody>
          <a:bodyPr/>
          <a:lstStyle/>
          <a:p>
            <a:endParaRPr lang="en-GB"/>
          </a:p>
        </p:txBody>
      </p:sp>
      <p:sp>
        <p:nvSpPr>
          <p:cNvPr id="19" name="Object 18"/>
          <p:cNvSpPr/>
          <p:nvPr/>
        </p:nvSpPr>
        <p:spPr>
          <a:xfrm>
            <a:off x="609448" y="5959523"/>
            <a:ext cx="10969982" cy="650477"/>
          </a:xfrm>
          <a:prstGeom prst="rect">
            <a:avLst/>
          </a:prstGeom>
          <a:noFill/>
        </p:spPr>
        <p:txBody>
          <a:bodyPr wrap="square" lIns="0" tIns="0" rIns="0" bIns="0" rtlCol="0" anchor="ctr"/>
          <a:lstStyle/>
          <a:p>
            <a:pPr algn="ctr">
              <a:lnSpc>
                <a:spcPts val="1709"/>
              </a:lnSpc>
              <a:buNone/>
            </a:pPr>
            <a:r>
              <a:rPr lang="en-US" sz="1463" b="1" kern="0" spc="-88" dirty="0">
                <a:solidFill>
                  <a:srgbClr val="333333"/>
                </a:solidFill>
                <a:latin typeface="Inter" pitchFamily="34" charset="0"/>
                <a:ea typeface="Inter" pitchFamily="34" charset="-122"/>
                <a:cs typeface="Inter" pitchFamily="34" charset="-120"/>
              </a:rPr>
              <a:t>The bonus clustering analysis provides a novel perspective on promotional dynamics, revealing how campaigns can reshape the relative thresholds that define product and store sales velocities. This insight can guide more nuanced promotional strategies, allocating resources toward the most responsive segments while exploring alternative approaches for less elastic high-speed categories.</a:t>
            </a:r>
            <a:endParaRPr lang="en-US" dirty="0"/>
          </a:p>
        </p:txBody>
      </p:sp>
      <p:pic>
        <p:nvPicPr>
          <p:cNvPr id="20" name="Object 19"/>
          <p:cNvPicPr>
            <a:picLocks noChangeAspect="1"/>
          </p:cNvPicPr>
          <p:nvPr/>
        </p:nvPicPr>
        <p:blipFill>
          <a:blip r:embed="rId11"/>
          <a:stretch>
            <a:fillRect/>
          </a:stretch>
        </p:blipFill>
        <p:spPr>
          <a:xfrm>
            <a:off x="-953626" y="-796836"/>
            <a:ext cx="13608596" cy="7654836"/>
          </a:xfrm>
          <a:prstGeom prst="rect">
            <a:avLst/>
          </a:prstGeom>
        </p:spPr>
      </p:pic>
      <p:sp>
        <p:nvSpPr>
          <p:cNvPr id="21" name="Object 20"/>
          <p:cNvSpPr/>
          <p:nvPr/>
        </p:nvSpPr>
        <p:spPr>
          <a:xfrm>
            <a:off x="0" y="374246"/>
            <a:ext cx="12188915" cy="556069"/>
          </a:xfrm>
          <a:prstGeom prst="rect">
            <a:avLst/>
          </a:prstGeom>
          <a:noFill/>
        </p:spPr>
        <p:txBody>
          <a:bodyPr wrap="square" lIns="0" tIns="0" rIns="0" bIns="0" rtlCol="0" anchor="t"/>
          <a:lstStyle/>
          <a:p>
            <a:pPr algn="ctr">
              <a:lnSpc>
                <a:spcPts val="4380"/>
              </a:lnSpc>
              <a:buNone/>
            </a:pPr>
            <a:r>
              <a:rPr lang="en-US" sz="3750" b="1" kern="0" spc="-225" dirty="0">
                <a:solidFill>
                  <a:srgbClr val="333333"/>
                </a:solidFill>
                <a:latin typeface="Inter" pitchFamily="34" charset="0"/>
                <a:ea typeface="Inter" pitchFamily="34" charset="-122"/>
                <a:cs typeface="Inter" pitchFamily="34" charset="-120"/>
              </a:rPr>
              <a:t>Bonus Clustering Insights</a:t>
            </a:r>
            <a:endParaRPr lang="en-US" dirty="0"/>
          </a:p>
        </p:txBody>
      </p:sp>
      <p:sp>
        <p:nvSpPr>
          <p:cNvPr id="22" name="Rectangle 21">
            <a:extLst>
              <a:ext uri="{FF2B5EF4-FFF2-40B4-BE49-F238E27FC236}">
                <a16:creationId xmlns:a16="http://schemas.microsoft.com/office/drawing/2014/main" id="{4326281B-43CD-FC27-4D15-FFBD976BD243}"/>
              </a:ext>
            </a:extLst>
          </p:cNvPr>
          <p:cNvSpPr/>
          <p:nvPr/>
        </p:nvSpPr>
        <p:spPr>
          <a:xfrm>
            <a:off x="7785463" y="4336622"/>
            <a:ext cx="4344669" cy="1375234"/>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a:effectLst/>
      </p:bgPr>
    </p:bg>
    <p:spTree>
      <p:nvGrpSpPr>
        <p:cNvPr id="1" name=""/>
        <p:cNvGrpSpPr/>
        <p:nvPr/>
      </p:nvGrpSpPr>
      <p:grpSpPr>
        <a:xfrm>
          <a:off x="0" y="0"/>
          <a:ext cx="0" cy="0"/>
          <a:chOff x="0" y="0"/>
          <a:chExt cx="0" cy="0"/>
        </a:xfrm>
      </p:grpSpPr>
      <p:sp>
        <p:nvSpPr>
          <p:cNvPr id="2" name="Object 1"/>
          <p:cNvSpPr/>
          <p:nvPr/>
        </p:nvSpPr>
        <p:spPr>
          <a:xfrm>
            <a:off x="952262" y="1883581"/>
            <a:ext cx="5446897" cy="3811242"/>
          </a:xfrm>
          <a:prstGeom prst="rect">
            <a:avLst/>
          </a:prstGeom>
          <a:noFill/>
        </p:spPr>
        <p:txBody>
          <a:bodyPr wrap="square" lIns="0" tIns="0" rIns="0" bIns="0" rtlCol="0" anchor="t"/>
          <a:lstStyle/>
          <a:p>
            <a:pPr marL="242900" indent="-242900" algn="l">
              <a:lnSpc>
                <a:spcPts val="3154"/>
              </a:lnSpc>
              <a:buSzPct val="100000"/>
              <a:buChar char="•"/>
            </a:pPr>
            <a:r>
              <a:rPr lang="en-US" sz="2700" b="1" kern="0" spc="-162" dirty="0">
                <a:solidFill>
                  <a:srgbClr val="333333"/>
                </a:solidFill>
                <a:latin typeface="Inter" pitchFamily="34" charset="0"/>
                <a:ea typeface="Inter" pitchFamily="34" charset="-122"/>
                <a:cs typeface="Inter" pitchFamily="34" charset="-120"/>
              </a:rPr>
              <a:t>Two-stage Modeling Approach</a:t>
            </a:r>
          </a:p>
          <a:p>
            <a:pPr lvl="1" algn="l">
              <a:lnSpc>
                <a:spcPts val="2392"/>
              </a:lnSpc>
              <a:spcBef>
                <a:spcPts val="330"/>
              </a:spcBef>
              <a:buNone/>
            </a:pPr>
            <a:r>
              <a:rPr lang="en-US" sz="1725" kern="0" spc="-34" dirty="0">
                <a:solidFill>
                  <a:srgbClr val="000000">
                    <a:alpha val="56000"/>
                  </a:srgbClr>
                </a:solidFill>
                <a:latin typeface="Inter" pitchFamily="34" charset="0"/>
                <a:ea typeface="Inter" pitchFamily="34" charset="-122"/>
                <a:cs typeface="Inter" pitchFamily="34" charset="-120"/>
              </a:rPr>
              <a:t>Baseline model for non-promotional weeks and Uplift model for promotional weeks</a:t>
            </a:r>
          </a:p>
          <a:p>
            <a:pPr marL="242900" indent="-242900" algn="l">
              <a:lnSpc>
                <a:spcPts val="3154"/>
              </a:lnSpc>
              <a:spcBef>
                <a:spcPts val="2545"/>
              </a:spcBef>
              <a:buSzPct val="100000"/>
              <a:buChar char="•"/>
            </a:pPr>
            <a:r>
              <a:rPr lang="en-US" sz="2700" b="1" kern="0" spc="-162" dirty="0">
                <a:solidFill>
                  <a:srgbClr val="333333"/>
                </a:solidFill>
                <a:latin typeface="Inter" pitchFamily="34" charset="0"/>
                <a:ea typeface="Inter" pitchFamily="34" charset="-122"/>
                <a:cs typeface="Inter" pitchFamily="34" charset="-120"/>
              </a:rPr>
              <a:t>Regression-based Models</a:t>
            </a:r>
          </a:p>
          <a:p>
            <a:pPr lvl="1" algn="l">
              <a:lnSpc>
                <a:spcPts val="2392"/>
              </a:lnSpc>
              <a:spcBef>
                <a:spcPts val="330"/>
              </a:spcBef>
              <a:buNone/>
            </a:pPr>
            <a:r>
              <a:rPr lang="en-US" sz="1725" kern="0" spc="-34" dirty="0">
                <a:solidFill>
                  <a:srgbClr val="000000">
                    <a:alpha val="56000"/>
                  </a:srgbClr>
                </a:solidFill>
                <a:latin typeface="Inter" pitchFamily="34" charset="0"/>
                <a:ea typeface="Inter" pitchFamily="34" charset="-122"/>
                <a:cs typeface="Inter" pitchFamily="34" charset="-120"/>
              </a:rPr>
              <a:t>Leveraging linear regression (OLS) for simplicity and interpretability</a:t>
            </a:r>
          </a:p>
          <a:p>
            <a:pPr marL="242900" indent="-242900" algn="l">
              <a:lnSpc>
                <a:spcPts val="3154"/>
              </a:lnSpc>
              <a:spcBef>
                <a:spcPts val="2545"/>
              </a:spcBef>
              <a:buSzPct val="100000"/>
              <a:buChar char="•"/>
            </a:pPr>
            <a:r>
              <a:rPr lang="en-US" sz="2700" b="1" kern="0" spc="-162" dirty="0">
                <a:solidFill>
                  <a:srgbClr val="333333"/>
                </a:solidFill>
                <a:latin typeface="Inter" pitchFamily="34" charset="0"/>
                <a:ea typeface="Inter" pitchFamily="34" charset="-122"/>
                <a:cs typeface="Inter" pitchFamily="34" charset="-120"/>
              </a:rPr>
              <a:t>Numerical Features</a:t>
            </a:r>
          </a:p>
          <a:p>
            <a:pPr lvl="1" algn="l">
              <a:lnSpc>
                <a:spcPts val="2392"/>
              </a:lnSpc>
              <a:spcBef>
                <a:spcPts val="330"/>
              </a:spcBef>
              <a:buNone/>
            </a:pPr>
            <a:r>
              <a:rPr lang="en-US" sz="1725" kern="0" spc="-34" dirty="0">
                <a:solidFill>
                  <a:srgbClr val="000000">
                    <a:alpha val="56000"/>
                  </a:srgbClr>
                </a:solidFill>
                <a:latin typeface="Inter" pitchFamily="34" charset="0"/>
                <a:ea typeface="Inter" pitchFamily="34" charset="-122"/>
                <a:cs typeface="Inter" pitchFamily="34" charset="-120"/>
              </a:rPr>
              <a:t>Lags, moving averages, seasonality to capture temporal patterns</a:t>
            </a:r>
            <a:endParaRPr lang="en-US" dirty="0"/>
          </a:p>
        </p:txBody>
      </p:sp>
      <p:sp>
        <p:nvSpPr>
          <p:cNvPr id="3" name="Object 2"/>
          <p:cNvSpPr/>
          <p:nvPr/>
        </p:nvSpPr>
        <p:spPr>
          <a:xfrm>
            <a:off x="6284928" y="1883581"/>
            <a:ext cx="5446897" cy="2430946"/>
          </a:xfrm>
          <a:prstGeom prst="rect">
            <a:avLst/>
          </a:prstGeom>
          <a:noFill/>
        </p:spPr>
        <p:txBody>
          <a:bodyPr wrap="square" lIns="0" tIns="0" rIns="0" bIns="0" rtlCol="0" anchor="t"/>
          <a:lstStyle/>
          <a:p>
            <a:pPr marL="242900" indent="-242900" algn="l">
              <a:lnSpc>
                <a:spcPts val="3154"/>
              </a:lnSpc>
              <a:buSzPct val="100000"/>
              <a:buChar char="•"/>
            </a:pPr>
            <a:r>
              <a:rPr lang="en-US" sz="2700" b="1" kern="0" spc="-162" dirty="0">
                <a:solidFill>
                  <a:srgbClr val="333333"/>
                </a:solidFill>
                <a:latin typeface="Inter" pitchFamily="34" charset="0"/>
                <a:ea typeface="Inter" pitchFamily="34" charset="-122"/>
                <a:cs typeface="Inter" pitchFamily="34" charset="-120"/>
              </a:rPr>
              <a:t>Categorical Features</a:t>
            </a:r>
          </a:p>
          <a:p>
            <a:pPr lvl="1" algn="l">
              <a:lnSpc>
                <a:spcPts val="2392"/>
              </a:lnSpc>
              <a:spcBef>
                <a:spcPts val="330"/>
              </a:spcBef>
              <a:buNone/>
            </a:pPr>
            <a:r>
              <a:rPr lang="en-US" sz="1725" kern="0" spc="-34" dirty="0">
                <a:solidFill>
                  <a:srgbClr val="000000">
                    <a:alpha val="56000"/>
                  </a:srgbClr>
                </a:solidFill>
                <a:latin typeface="Inter" pitchFamily="34" charset="0"/>
                <a:ea typeface="Inter" pitchFamily="34" charset="-122"/>
                <a:cs typeface="Inter" pitchFamily="34" charset="-120"/>
              </a:rPr>
              <a:t>Item/store clusters, product hierarchy, promotion indicators</a:t>
            </a:r>
          </a:p>
          <a:p>
            <a:pPr marL="242900" indent="-242900" algn="l">
              <a:lnSpc>
                <a:spcPts val="3154"/>
              </a:lnSpc>
              <a:spcBef>
                <a:spcPts val="2545"/>
              </a:spcBef>
              <a:buSzPct val="100000"/>
              <a:buChar char="•"/>
            </a:pPr>
            <a:r>
              <a:rPr lang="en-US" sz="2700" b="1" kern="0" spc="-162" dirty="0">
                <a:solidFill>
                  <a:srgbClr val="333333"/>
                </a:solidFill>
                <a:latin typeface="Inter" pitchFamily="34" charset="0"/>
                <a:ea typeface="Inter" pitchFamily="34" charset="-122"/>
                <a:cs typeface="Inter" pitchFamily="34" charset="-120"/>
              </a:rPr>
              <a:t>Modeling Goals</a:t>
            </a:r>
          </a:p>
          <a:p>
            <a:pPr lvl="1" algn="l">
              <a:lnSpc>
                <a:spcPts val="2392"/>
              </a:lnSpc>
              <a:spcBef>
                <a:spcPts val="330"/>
              </a:spcBef>
              <a:buNone/>
            </a:pPr>
            <a:r>
              <a:rPr lang="en-US" sz="1725" kern="0" spc="-34" dirty="0">
                <a:solidFill>
                  <a:srgbClr val="000000">
                    <a:alpha val="56000"/>
                  </a:srgbClr>
                </a:solidFill>
                <a:latin typeface="Inter" pitchFamily="34" charset="0"/>
                <a:ea typeface="Inter" pitchFamily="34" charset="-122"/>
                <a:cs typeface="Inter" pitchFamily="34" charset="-120"/>
              </a:rPr>
              <a:t>Estimating promotional uplift and identifying key drivers</a:t>
            </a:r>
            <a:endParaRPr lang="en-US" dirty="0"/>
          </a:p>
        </p:txBody>
      </p:sp>
      <p:sp>
        <p:nvSpPr>
          <p:cNvPr id="4" name="Object 3"/>
          <p:cNvSpPr/>
          <p:nvPr/>
        </p:nvSpPr>
        <p:spPr>
          <a:xfrm>
            <a:off x="11760434" y="6496211"/>
            <a:ext cx="238028" cy="237693"/>
          </a:xfrm>
          <a:prstGeom prst="rect">
            <a:avLst/>
          </a:prstGeom>
          <a:noFill/>
        </p:spPr>
        <p:txBody>
          <a:bodyPr/>
          <a:lstStyle/>
          <a:p>
            <a:endParaRPr lang="en-GB"/>
          </a:p>
        </p:txBody>
      </p:sp>
      <p:pic>
        <p:nvPicPr>
          <p:cNvPr id="5" name="Object 4"/>
          <p:cNvPicPr>
            <a:picLocks noChangeAspect="1"/>
          </p:cNvPicPr>
          <p:nvPr/>
        </p:nvPicPr>
        <p:blipFill>
          <a:blip r:embed="rId3"/>
          <a:stretch>
            <a:fillRect/>
          </a:stretch>
        </p:blipFill>
        <p:spPr>
          <a:xfrm>
            <a:off x="-84841" y="-41186"/>
            <a:ext cx="12188952" cy="6856286"/>
          </a:xfrm>
          <a:prstGeom prst="rect">
            <a:avLst/>
          </a:prstGeom>
        </p:spPr>
      </p:pic>
      <p:sp>
        <p:nvSpPr>
          <p:cNvPr id="6" name="Object 5"/>
          <p:cNvSpPr/>
          <p:nvPr/>
        </p:nvSpPr>
        <p:spPr>
          <a:xfrm>
            <a:off x="0" y="374246"/>
            <a:ext cx="12188915" cy="556069"/>
          </a:xfrm>
          <a:prstGeom prst="rect">
            <a:avLst/>
          </a:prstGeom>
          <a:noFill/>
        </p:spPr>
        <p:txBody>
          <a:bodyPr wrap="square" lIns="0" tIns="0" rIns="0" bIns="0" rtlCol="0" anchor="t"/>
          <a:lstStyle/>
          <a:p>
            <a:pPr algn="ctr">
              <a:lnSpc>
                <a:spcPts val="4380"/>
              </a:lnSpc>
              <a:buNone/>
            </a:pPr>
            <a:r>
              <a:rPr lang="en-US" sz="3750" b="1" kern="0" spc="-225" dirty="0">
                <a:solidFill>
                  <a:srgbClr val="333333"/>
                </a:solidFill>
                <a:latin typeface="Inter" pitchFamily="34" charset="0"/>
                <a:ea typeface="Inter" pitchFamily="34" charset="-122"/>
                <a:cs typeface="Inter" pitchFamily="34" charset="-120"/>
              </a:rPr>
              <a:t>Modeling Framework</a:t>
            </a:r>
            <a:endParaRPr lang="en-US" dirty="0"/>
          </a:p>
        </p:txBody>
      </p:sp>
      <p:sp>
        <p:nvSpPr>
          <p:cNvPr id="25" name="Slide Number Placeholder 24"/>
          <p:cNvSpPr>
            <a:spLocks noGrp="1"/>
          </p:cNvSpPr>
          <p:nvPr>
            <p:ph type="sldNum" sz="quarter" idx="12"/>
          </p:nvPr>
        </p:nvSpPr>
        <p:spPr>
          <a:xfrm>
            <a:off x="11826240" y="6515100"/>
            <a:ext cx="800000" cy="300000"/>
          </a:xfrm>
          <a:prstGeom prst="rect">
            <a:avLst/>
          </a:prstGeom>
          <a:extLst>
            <a:ext uri="{C572A759-6A51-4108-AA02-DFA0A04FC94B}">
              <ma14:wrappingTextBoxFlag xmlns:ma14="http://schemas.microsoft.com/office/mac/drawingml/2011/main" xmlns="" val="0"/>
            </a:ext>
          </a:extLst>
        </p:spPr>
        <p:txBody>
          <a:bodyPr/>
          <a:lstStyle>
            <a:lvl1pPr>
              <a:defRPr sz="1100"/>
            </a:lvl1pPr>
          </a:lstStyle>
          <a:p>
            <a:fld id="{F7021451-1387-4CA6-816F-3879F97B5CBC}" type="slidenum">
              <a:rPr lang="en-US" smtClean="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31">
    <p:bg>
      <p:bgPr>
        <a:solidFill>
          <a:srgbClr val="FFFFFF"/>
        </a:solidFill>
        <a:effectLst/>
      </p:bgPr>
    </p:bg>
    <p:spTree>
      <p:nvGrpSpPr>
        <p:cNvPr id="1" name=""/>
        <p:cNvGrpSpPr/>
        <p:nvPr/>
      </p:nvGrpSpPr>
      <p:grpSpPr>
        <a:xfrm>
          <a:off x="0" y="0"/>
          <a:ext cx="0" cy="0"/>
          <a:chOff x="0" y="0"/>
          <a:chExt cx="0" cy="0"/>
        </a:xfrm>
      </p:grpSpPr>
      <p:sp>
        <p:nvSpPr>
          <p:cNvPr id="2" name="Object 1"/>
          <p:cNvSpPr/>
          <p:nvPr/>
        </p:nvSpPr>
        <p:spPr>
          <a:xfrm>
            <a:off x="1476006" y="1980705"/>
            <a:ext cx="1428393" cy="1428393"/>
          </a:xfrm>
          <a:prstGeom prst="ellipse">
            <a:avLst/>
          </a:prstGeom>
          <a:solidFill>
            <a:srgbClr val="22AAEE"/>
          </a:solidFill>
        </p:spPr>
        <p:txBody>
          <a:bodyPr/>
          <a:lstStyle/>
          <a:p>
            <a:endParaRPr lang="en-GB"/>
          </a:p>
        </p:txBody>
      </p:sp>
      <p:pic>
        <p:nvPicPr>
          <p:cNvPr id="3" name="Object 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55763" y="2359969"/>
            <a:ext cx="485654" cy="685629"/>
          </a:xfrm>
          <a:prstGeom prst="rect">
            <a:avLst/>
          </a:prstGeom>
        </p:spPr>
      </p:pic>
      <p:sp>
        <p:nvSpPr>
          <p:cNvPr id="4" name="Object 3"/>
          <p:cNvSpPr/>
          <p:nvPr/>
        </p:nvSpPr>
        <p:spPr>
          <a:xfrm>
            <a:off x="419951" y="3503059"/>
            <a:ext cx="3540428" cy="266931"/>
          </a:xfrm>
          <a:prstGeom prst="rect">
            <a:avLst/>
          </a:prstGeom>
          <a:noFill/>
        </p:spPr>
        <p:txBody>
          <a:bodyPr wrap="square" lIns="0" tIns="0" rIns="0" bIns="0" rtlCol="0" anchor="t"/>
          <a:lstStyle/>
          <a:p>
            <a:pPr algn="ctr">
              <a:lnSpc>
                <a:spcPts val="2102"/>
              </a:lnSpc>
              <a:buNone/>
            </a:pPr>
            <a:r>
              <a:rPr lang="en-US" sz="1800" b="1" kern="0" spc="-108" dirty="0">
                <a:solidFill>
                  <a:srgbClr val="333333"/>
                </a:solidFill>
                <a:latin typeface="Inter" pitchFamily="34" charset="0"/>
                <a:ea typeface="Inter" pitchFamily="34" charset="-122"/>
                <a:cs typeface="Inter" pitchFamily="34" charset="-120"/>
              </a:rPr>
              <a:t>Promo Flags</a:t>
            </a:r>
            <a:endParaRPr lang="en-US" dirty="0"/>
          </a:p>
        </p:txBody>
      </p:sp>
      <p:sp>
        <p:nvSpPr>
          <p:cNvPr id="5" name="Object 4"/>
          <p:cNvSpPr/>
          <p:nvPr/>
        </p:nvSpPr>
        <p:spPr>
          <a:xfrm>
            <a:off x="419951" y="3847547"/>
            <a:ext cx="3540428" cy="792423"/>
          </a:xfrm>
          <a:prstGeom prst="rect">
            <a:avLst/>
          </a:prstGeom>
          <a:noFill/>
        </p:spPr>
        <p:txBody>
          <a:bodyPr wrap="square" lIns="0" tIns="0" rIns="0" bIns="0" rtlCol="0" anchor="t"/>
          <a:lstStyle/>
          <a:p>
            <a:pPr algn="ctr">
              <a:lnSpc>
                <a:spcPts val="2081"/>
              </a:lnSpc>
              <a:spcBef>
                <a:spcPts val="599"/>
              </a:spcBef>
              <a:buNone/>
            </a:pPr>
            <a:r>
              <a:rPr lang="en-US" sz="1500" kern="0" spc="-30" dirty="0">
                <a:solidFill>
                  <a:srgbClr val="000000">
                    <a:alpha val="56000"/>
                  </a:srgbClr>
                </a:solidFill>
                <a:latin typeface="Inter" pitchFamily="34" charset="0"/>
                <a:ea typeface="Inter" pitchFamily="34" charset="-122"/>
                <a:cs typeface="Inter" pitchFamily="34" charset="-120"/>
              </a:rPr>
              <a:t>Indicators of whether a sales record fell within a promotion period (NoPromo, Promo1-Promo6)</a:t>
            </a:r>
            <a:endParaRPr lang="en-US" dirty="0"/>
          </a:p>
        </p:txBody>
      </p:sp>
      <p:sp>
        <p:nvSpPr>
          <p:cNvPr id="6" name="Object 5"/>
          <p:cNvSpPr/>
          <p:nvPr/>
        </p:nvSpPr>
        <p:spPr>
          <a:xfrm>
            <a:off x="5380280" y="1980705"/>
            <a:ext cx="1428393" cy="1428393"/>
          </a:xfrm>
          <a:prstGeom prst="ellipse">
            <a:avLst/>
          </a:prstGeom>
          <a:solidFill>
            <a:srgbClr val="FFD9AD"/>
          </a:solidFill>
        </p:spPr>
        <p:txBody>
          <a:bodyPr/>
          <a:lstStyle/>
          <a:p>
            <a:endParaRPr lang="en-GB"/>
          </a:p>
        </p:txBody>
      </p:sp>
      <p:pic>
        <p:nvPicPr>
          <p:cNvPr id="7" name="Object 6"/>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759497" y="2426929"/>
            <a:ext cx="638015" cy="580880"/>
          </a:xfrm>
          <a:prstGeom prst="rect">
            <a:avLst/>
          </a:prstGeom>
        </p:spPr>
      </p:pic>
      <p:sp>
        <p:nvSpPr>
          <p:cNvPr id="8" name="Object 7"/>
          <p:cNvSpPr/>
          <p:nvPr/>
        </p:nvSpPr>
        <p:spPr>
          <a:xfrm>
            <a:off x="4366121" y="3503059"/>
            <a:ext cx="3456711" cy="266931"/>
          </a:xfrm>
          <a:prstGeom prst="rect">
            <a:avLst/>
          </a:prstGeom>
          <a:noFill/>
        </p:spPr>
        <p:txBody>
          <a:bodyPr wrap="square" lIns="0" tIns="0" rIns="0" bIns="0" rtlCol="0" anchor="t"/>
          <a:lstStyle/>
          <a:p>
            <a:pPr algn="ctr">
              <a:lnSpc>
                <a:spcPts val="2102"/>
              </a:lnSpc>
              <a:buNone/>
            </a:pPr>
            <a:r>
              <a:rPr lang="en-US" sz="1800" b="1" kern="0" spc="-108" dirty="0">
                <a:solidFill>
                  <a:srgbClr val="333333"/>
                </a:solidFill>
                <a:latin typeface="Inter" pitchFamily="34" charset="0"/>
                <a:ea typeface="Inter" pitchFamily="34" charset="-122"/>
                <a:cs typeface="Inter" pitchFamily="34" charset="-120"/>
              </a:rPr>
              <a:t>Lag Features</a:t>
            </a:r>
            <a:endParaRPr lang="en-US" dirty="0"/>
          </a:p>
        </p:txBody>
      </p:sp>
      <p:sp>
        <p:nvSpPr>
          <p:cNvPr id="9" name="Object 8"/>
          <p:cNvSpPr/>
          <p:nvPr/>
        </p:nvSpPr>
        <p:spPr>
          <a:xfrm>
            <a:off x="4366121" y="3847547"/>
            <a:ext cx="3456711" cy="528282"/>
          </a:xfrm>
          <a:prstGeom prst="rect">
            <a:avLst/>
          </a:prstGeom>
          <a:noFill/>
        </p:spPr>
        <p:txBody>
          <a:bodyPr wrap="square" lIns="0" tIns="0" rIns="0" bIns="0" rtlCol="0" anchor="t"/>
          <a:lstStyle/>
          <a:p>
            <a:pPr algn="ctr">
              <a:lnSpc>
                <a:spcPts val="2081"/>
              </a:lnSpc>
              <a:spcBef>
                <a:spcPts val="599"/>
              </a:spcBef>
              <a:buNone/>
            </a:pPr>
            <a:r>
              <a:rPr lang="en-US" sz="1500" kern="0" spc="-30" dirty="0">
                <a:solidFill>
                  <a:srgbClr val="000000">
                    <a:alpha val="56000"/>
                  </a:srgbClr>
                </a:solidFill>
                <a:latin typeface="Inter" pitchFamily="34" charset="0"/>
                <a:ea typeface="Inter" pitchFamily="34" charset="-122"/>
                <a:cs typeface="Inter" pitchFamily="34" charset="-120"/>
              </a:rPr>
              <a:t>Past sales from 1, 2, 4, 8, and 12 weeks ago to capture temporal dynamics</a:t>
            </a:r>
            <a:endParaRPr lang="en-US" dirty="0"/>
          </a:p>
        </p:txBody>
      </p:sp>
      <p:sp>
        <p:nvSpPr>
          <p:cNvPr id="10" name="Object 9"/>
          <p:cNvSpPr/>
          <p:nvPr/>
        </p:nvSpPr>
        <p:spPr>
          <a:xfrm>
            <a:off x="9284553" y="1980705"/>
            <a:ext cx="1428393" cy="1428393"/>
          </a:xfrm>
          <a:prstGeom prst="ellipse">
            <a:avLst/>
          </a:prstGeom>
          <a:solidFill>
            <a:srgbClr val="FEC088"/>
          </a:solidFill>
        </p:spPr>
        <p:txBody>
          <a:bodyPr/>
          <a:lstStyle/>
          <a:p>
            <a:endParaRPr lang="en-GB"/>
          </a:p>
        </p:txBody>
      </p:sp>
      <p:pic>
        <p:nvPicPr>
          <p:cNvPr id="11" name="Object 10"/>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55457" y="2359972"/>
            <a:ext cx="695151" cy="666583"/>
          </a:xfrm>
          <a:prstGeom prst="rect">
            <a:avLst/>
          </a:prstGeom>
        </p:spPr>
      </p:pic>
      <p:sp>
        <p:nvSpPr>
          <p:cNvPr id="12" name="Object 11"/>
          <p:cNvSpPr/>
          <p:nvPr/>
        </p:nvSpPr>
        <p:spPr>
          <a:xfrm>
            <a:off x="8218022" y="3503059"/>
            <a:ext cx="3561418" cy="266931"/>
          </a:xfrm>
          <a:prstGeom prst="rect">
            <a:avLst/>
          </a:prstGeom>
          <a:noFill/>
        </p:spPr>
        <p:txBody>
          <a:bodyPr wrap="square" lIns="0" tIns="0" rIns="0" bIns="0" rtlCol="0" anchor="t"/>
          <a:lstStyle/>
          <a:p>
            <a:pPr algn="ctr">
              <a:lnSpc>
                <a:spcPts val="2102"/>
              </a:lnSpc>
              <a:buNone/>
            </a:pPr>
            <a:r>
              <a:rPr lang="en-US" sz="1800" b="1" kern="0" spc="-108" dirty="0">
                <a:solidFill>
                  <a:srgbClr val="333333"/>
                </a:solidFill>
                <a:latin typeface="Inter" pitchFamily="34" charset="0"/>
                <a:ea typeface="Inter" pitchFamily="34" charset="-122"/>
                <a:cs typeface="Inter" pitchFamily="34" charset="-120"/>
              </a:rPr>
              <a:t>Store &amp; Product Interactions</a:t>
            </a:r>
            <a:endParaRPr lang="en-US" dirty="0"/>
          </a:p>
        </p:txBody>
      </p:sp>
      <p:sp>
        <p:nvSpPr>
          <p:cNvPr id="13" name="Object 12"/>
          <p:cNvSpPr/>
          <p:nvPr/>
        </p:nvSpPr>
        <p:spPr>
          <a:xfrm>
            <a:off x="8218022" y="3847547"/>
            <a:ext cx="3561418" cy="1056564"/>
          </a:xfrm>
          <a:prstGeom prst="rect">
            <a:avLst/>
          </a:prstGeom>
          <a:noFill/>
        </p:spPr>
        <p:txBody>
          <a:bodyPr wrap="square" lIns="0" tIns="0" rIns="0" bIns="0" rtlCol="0" anchor="t"/>
          <a:lstStyle/>
          <a:p>
            <a:pPr algn="ctr">
              <a:lnSpc>
                <a:spcPts val="2081"/>
              </a:lnSpc>
              <a:spcBef>
                <a:spcPts val="599"/>
              </a:spcBef>
              <a:buNone/>
            </a:pPr>
            <a:r>
              <a:rPr lang="en-US" sz="1500" kern="0" spc="-30" dirty="0">
                <a:solidFill>
                  <a:srgbClr val="000000">
                    <a:alpha val="56000"/>
                  </a:srgbClr>
                </a:solidFill>
                <a:latin typeface="Inter" pitchFamily="34" charset="0"/>
                <a:ea typeface="Inter" pitchFamily="34" charset="-122"/>
                <a:cs typeface="Inter" pitchFamily="34" charset="-120"/>
              </a:rPr>
              <a:t>Interaction terms between promo indicators and store/product clusters to model differentiated promotional responses</a:t>
            </a:r>
            <a:endParaRPr lang="en-US" dirty="0"/>
          </a:p>
        </p:txBody>
      </p:sp>
      <p:sp>
        <p:nvSpPr>
          <p:cNvPr id="14" name="Object 13"/>
          <p:cNvSpPr/>
          <p:nvPr/>
        </p:nvSpPr>
        <p:spPr>
          <a:xfrm>
            <a:off x="0" y="5713571"/>
            <a:ext cx="12188952" cy="1142714"/>
          </a:xfrm>
          <a:prstGeom prst="rect">
            <a:avLst/>
          </a:prstGeom>
          <a:solidFill>
            <a:srgbClr val="FD864D"/>
          </a:solidFill>
        </p:spPr>
        <p:txBody>
          <a:bodyPr/>
          <a:lstStyle/>
          <a:p>
            <a:endParaRPr lang="en-GB"/>
          </a:p>
        </p:txBody>
      </p:sp>
      <p:sp>
        <p:nvSpPr>
          <p:cNvPr id="15" name="Object 14"/>
          <p:cNvSpPr/>
          <p:nvPr/>
        </p:nvSpPr>
        <p:spPr>
          <a:xfrm>
            <a:off x="14284" y="5959523"/>
            <a:ext cx="12160347" cy="650477"/>
          </a:xfrm>
          <a:prstGeom prst="rect">
            <a:avLst/>
          </a:prstGeom>
          <a:noFill/>
        </p:spPr>
        <p:txBody>
          <a:bodyPr wrap="square" lIns="0" tIns="0" rIns="0" bIns="0" rtlCol="0" anchor="ctr"/>
          <a:lstStyle/>
          <a:p>
            <a:pPr algn="ctr">
              <a:lnSpc>
                <a:spcPts val="1709"/>
              </a:lnSpc>
              <a:buNone/>
            </a:pPr>
            <a:r>
              <a:rPr lang="en-US" sz="1463" b="1" kern="0" spc="-88" dirty="0">
                <a:solidFill>
                  <a:srgbClr val="333333"/>
                </a:solidFill>
                <a:latin typeface="Inter" pitchFamily="34" charset="0"/>
                <a:ea typeface="Inter" pitchFamily="34" charset="-122"/>
                <a:cs typeface="Inter" pitchFamily="34" charset="-120"/>
              </a:rPr>
              <a:t>The feature engineering process created a comprehensive set of variables, including promo flags, lagged sales, and interactions between promotions and store/product characteristics. This allowed the predictive models to better capture the complex, non-linear patterns in how promotions impact retail sales.</a:t>
            </a:r>
            <a:endParaRPr lang="en-US" dirty="0"/>
          </a:p>
        </p:txBody>
      </p:sp>
      <p:pic>
        <p:nvPicPr>
          <p:cNvPr id="16" name="Object 15"/>
          <p:cNvPicPr>
            <a:picLocks noChangeAspect="1"/>
          </p:cNvPicPr>
          <p:nvPr/>
        </p:nvPicPr>
        <p:blipFill>
          <a:blip r:embed="rId9"/>
          <a:stretch>
            <a:fillRect/>
          </a:stretch>
        </p:blipFill>
        <p:spPr>
          <a:xfrm>
            <a:off x="0" y="0"/>
            <a:ext cx="12188952" cy="6856286"/>
          </a:xfrm>
          <a:prstGeom prst="rect">
            <a:avLst/>
          </a:prstGeom>
        </p:spPr>
      </p:pic>
      <p:sp>
        <p:nvSpPr>
          <p:cNvPr id="17" name="Object 16"/>
          <p:cNvSpPr/>
          <p:nvPr/>
        </p:nvSpPr>
        <p:spPr>
          <a:xfrm>
            <a:off x="0" y="374246"/>
            <a:ext cx="12188915" cy="556069"/>
          </a:xfrm>
          <a:prstGeom prst="rect">
            <a:avLst/>
          </a:prstGeom>
          <a:noFill/>
        </p:spPr>
        <p:txBody>
          <a:bodyPr wrap="square" lIns="0" tIns="0" rIns="0" bIns="0" rtlCol="0" anchor="t"/>
          <a:lstStyle/>
          <a:p>
            <a:pPr algn="ctr">
              <a:lnSpc>
                <a:spcPts val="4380"/>
              </a:lnSpc>
              <a:buNone/>
            </a:pPr>
            <a:r>
              <a:rPr lang="en-US" sz="3750" b="1" kern="0" spc="-225" dirty="0">
                <a:solidFill>
                  <a:srgbClr val="333333"/>
                </a:solidFill>
                <a:latin typeface="Inter" pitchFamily="34" charset="0"/>
                <a:ea typeface="Inter" pitchFamily="34" charset="-122"/>
                <a:cs typeface="Inter" pitchFamily="34" charset="-120"/>
              </a:rPr>
              <a:t>Feature Engineering</a:t>
            </a:r>
            <a:endParaRPr lang="en-US"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a:extLst>
              <a:ext uri="{FF2B5EF4-FFF2-40B4-BE49-F238E27FC236}">
                <a16:creationId xmlns:a16="http://schemas.microsoft.com/office/drawing/2014/main" id="{59FC0D6D-8EA9-5CBC-42F8-B69E5369941D}"/>
              </a:ext>
            </a:extLst>
          </p:cNvPr>
          <p:cNvSpPr/>
          <p:nvPr/>
        </p:nvSpPr>
        <p:spPr>
          <a:xfrm>
            <a:off x="476131" y="1590277"/>
            <a:ext cx="5523119" cy="2109260"/>
          </a:xfrm>
          <a:prstGeom prst="rect">
            <a:avLst/>
          </a:prstGeom>
          <a:solidFill>
            <a:srgbClr val="22AAEE"/>
          </a:solidFill>
        </p:spPr>
        <p:txBody>
          <a:bodyPr/>
          <a:lstStyle/>
          <a:p>
            <a:endParaRPr lang="en-GB"/>
          </a:p>
        </p:txBody>
      </p:sp>
      <p:sp>
        <p:nvSpPr>
          <p:cNvPr id="3" name="Object 3">
            <a:extLst>
              <a:ext uri="{FF2B5EF4-FFF2-40B4-BE49-F238E27FC236}">
                <a16:creationId xmlns:a16="http://schemas.microsoft.com/office/drawing/2014/main" id="{851C0ACE-4CB7-95D6-8244-AB8F6FBA7B63}"/>
              </a:ext>
            </a:extLst>
          </p:cNvPr>
          <p:cNvSpPr/>
          <p:nvPr/>
        </p:nvSpPr>
        <p:spPr>
          <a:xfrm>
            <a:off x="761810" y="1824028"/>
            <a:ext cx="5551687" cy="283595"/>
          </a:xfrm>
          <a:prstGeom prst="rect">
            <a:avLst/>
          </a:prstGeom>
          <a:noFill/>
        </p:spPr>
        <p:txBody>
          <a:bodyPr wrap="square" lIns="0" tIns="0" rIns="0" bIns="0" rtlCol="0" anchor="t"/>
          <a:lstStyle/>
          <a:p>
            <a:pPr algn="l">
              <a:lnSpc>
                <a:spcPts val="2234"/>
              </a:lnSpc>
              <a:buNone/>
            </a:pPr>
            <a:r>
              <a:rPr lang="en-US" sz="1913" b="1" kern="0" spc="-115" dirty="0">
                <a:solidFill>
                  <a:srgbClr val="333333"/>
                </a:solidFill>
                <a:latin typeface="Inter" pitchFamily="34" charset="0"/>
                <a:ea typeface="Inter" pitchFamily="34" charset="-122"/>
                <a:cs typeface="Inter" pitchFamily="34" charset="-120"/>
              </a:rPr>
              <a:t>Linear Model: Underperforms</a:t>
            </a:r>
            <a:endParaRPr lang="en-US" dirty="0"/>
          </a:p>
        </p:txBody>
      </p:sp>
      <p:sp>
        <p:nvSpPr>
          <p:cNvPr id="4" name="Object 4">
            <a:extLst>
              <a:ext uri="{FF2B5EF4-FFF2-40B4-BE49-F238E27FC236}">
                <a16:creationId xmlns:a16="http://schemas.microsoft.com/office/drawing/2014/main" id="{71C8D0DF-EEAC-9F62-8402-6F3347CF49E0}"/>
              </a:ext>
            </a:extLst>
          </p:cNvPr>
          <p:cNvSpPr/>
          <p:nvPr/>
        </p:nvSpPr>
        <p:spPr>
          <a:xfrm>
            <a:off x="761810" y="2209694"/>
            <a:ext cx="5551687" cy="742764"/>
          </a:xfrm>
          <a:prstGeom prst="rect">
            <a:avLst/>
          </a:prstGeom>
          <a:noFill/>
        </p:spPr>
        <p:txBody>
          <a:bodyPr wrap="square" lIns="0" tIns="0" rIns="0" bIns="0" rtlCol="0" anchor="t"/>
          <a:lstStyle/>
          <a:p>
            <a:pPr algn="l">
              <a:lnSpc>
                <a:spcPts val="1951"/>
              </a:lnSpc>
              <a:spcBef>
                <a:spcPts val="788"/>
              </a:spcBef>
              <a:buNone/>
            </a:pPr>
            <a:r>
              <a:rPr lang="en-US" sz="1406" kern="0" spc="-29" dirty="0">
                <a:solidFill>
                  <a:srgbClr val="000000">
                    <a:alpha val="56000"/>
                  </a:srgbClr>
                </a:solidFill>
                <a:latin typeface="Inter" pitchFamily="34" charset="0"/>
                <a:ea typeface="Inter" pitchFamily="34" charset="-122"/>
                <a:cs typeface="Inter" pitchFamily="34" charset="-120"/>
              </a:rPr>
              <a:t>The simple linear regression model exhibited severe underestimation, with a negative R² of -60.874, indicating it is not suitable for capturing the complex nonlinear promotional effects.</a:t>
            </a:r>
            <a:endParaRPr lang="en-US" dirty="0"/>
          </a:p>
        </p:txBody>
      </p:sp>
      <p:sp>
        <p:nvSpPr>
          <p:cNvPr id="5" name="Object 5">
            <a:extLst>
              <a:ext uri="{FF2B5EF4-FFF2-40B4-BE49-F238E27FC236}">
                <a16:creationId xmlns:a16="http://schemas.microsoft.com/office/drawing/2014/main" id="{85717528-8EAD-4291-4F5E-6FF3CF15598D}"/>
              </a:ext>
            </a:extLst>
          </p:cNvPr>
          <p:cNvSpPr/>
          <p:nvPr/>
        </p:nvSpPr>
        <p:spPr>
          <a:xfrm>
            <a:off x="6189702" y="1590277"/>
            <a:ext cx="5523119" cy="2109260"/>
          </a:xfrm>
          <a:prstGeom prst="rect">
            <a:avLst/>
          </a:prstGeom>
          <a:solidFill>
            <a:srgbClr val="FFD9AD"/>
          </a:solidFill>
        </p:spPr>
        <p:txBody>
          <a:bodyPr/>
          <a:lstStyle/>
          <a:p>
            <a:endParaRPr lang="en-GB"/>
          </a:p>
        </p:txBody>
      </p:sp>
      <p:sp>
        <p:nvSpPr>
          <p:cNvPr id="6" name="Object 6">
            <a:extLst>
              <a:ext uri="{FF2B5EF4-FFF2-40B4-BE49-F238E27FC236}">
                <a16:creationId xmlns:a16="http://schemas.microsoft.com/office/drawing/2014/main" id="{00813CF9-B1D9-E1A2-EC55-52D4090E368B}"/>
              </a:ext>
            </a:extLst>
          </p:cNvPr>
          <p:cNvSpPr/>
          <p:nvPr/>
        </p:nvSpPr>
        <p:spPr>
          <a:xfrm>
            <a:off x="6475381" y="1824028"/>
            <a:ext cx="5551687" cy="283595"/>
          </a:xfrm>
          <a:prstGeom prst="rect">
            <a:avLst/>
          </a:prstGeom>
          <a:noFill/>
        </p:spPr>
        <p:txBody>
          <a:bodyPr wrap="square" lIns="0" tIns="0" rIns="0" bIns="0" rtlCol="0" anchor="t"/>
          <a:lstStyle/>
          <a:p>
            <a:pPr algn="l">
              <a:lnSpc>
                <a:spcPts val="2234"/>
              </a:lnSpc>
              <a:buNone/>
            </a:pPr>
            <a:r>
              <a:rPr lang="en-US" sz="1913" b="1" kern="0" spc="-115" dirty="0">
                <a:solidFill>
                  <a:srgbClr val="333333"/>
                </a:solidFill>
                <a:latin typeface="Inter" pitchFamily="34" charset="0"/>
                <a:ea typeface="Inter" pitchFamily="34" charset="-122"/>
                <a:cs typeface="Inter" pitchFamily="34" charset="-120"/>
              </a:rPr>
              <a:t>XGBoost: Stronger Non-Linear Patterns</a:t>
            </a:r>
            <a:endParaRPr lang="en-US" dirty="0"/>
          </a:p>
        </p:txBody>
      </p:sp>
      <p:sp>
        <p:nvSpPr>
          <p:cNvPr id="7" name="Object 7">
            <a:extLst>
              <a:ext uri="{FF2B5EF4-FFF2-40B4-BE49-F238E27FC236}">
                <a16:creationId xmlns:a16="http://schemas.microsoft.com/office/drawing/2014/main" id="{1A931B2A-AE0C-5F35-F102-38DB4CC64692}"/>
              </a:ext>
            </a:extLst>
          </p:cNvPr>
          <p:cNvSpPr/>
          <p:nvPr/>
        </p:nvSpPr>
        <p:spPr>
          <a:xfrm>
            <a:off x="6475382" y="2209694"/>
            <a:ext cx="5072454" cy="990352"/>
          </a:xfrm>
          <a:prstGeom prst="rect">
            <a:avLst/>
          </a:prstGeom>
          <a:noFill/>
        </p:spPr>
        <p:txBody>
          <a:bodyPr wrap="square" lIns="0" tIns="0" rIns="0" bIns="0" rtlCol="0" anchor="t"/>
          <a:lstStyle/>
          <a:p>
            <a:pPr algn="l">
              <a:lnSpc>
                <a:spcPts val="1951"/>
              </a:lnSpc>
              <a:spcBef>
                <a:spcPts val="788"/>
              </a:spcBef>
              <a:buNone/>
            </a:pPr>
            <a:r>
              <a:rPr lang="en-US" sz="1406" kern="0" spc="-29" dirty="0">
                <a:solidFill>
                  <a:srgbClr val="000000">
                    <a:alpha val="56000"/>
                  </a:srgbClr>
                </a:solidFill>
                <a:latin typeface="Inter" pitchFamily="34" charset="0"/>
                <a:ea typeface="Inter" pitchFamily="34" charset="-122"/>
                <a:cs typeface="Inter" pitchFamily="34" charset="-120"/>
              </a:rPr>
              <a:t>The XGBoost two-stage uplift model achieved an R² of 0.328 overall, performing better on Fast product and store clusters (item R²=80.98%, store R²=77.25%) compared to Medium and Slow segments.</a:t>
            </a:r>
            <a:endParaRPr lang="en-US" dirty="0"/>
          </a:p>
        </p:txBody>
      </p:sp>
      <p:sp>
        <p:nvSpPr>
          <p:cNvPr id="8" name="Object 8">
            <a:extLst>
              <a:ext uri="{FF2B5EF4-FFF2-40B4-BE49-F238E27FC236}">
                <a16:creationId xmlns:a16="http://schemas.microsoft.com/office/drawing/2014/main" id="{F76232BB-396C-79A6-BE52-C5E6468349E1}"/>
              </a:ext>
            </a:extLst>
          </p:cNvPr>
          <p:cNvSpPr/>
          <p:nvPr/>
        </p:nvSpPr>
        <p:spPr>
          <a:xfrm>
            <a:off x="473204" y="3826158"/>
            <a:ext cx="5523119" cy="2109260"/>
          </a:xfrm>
          <a:prstGeom prst="rect">
            <a:avLst/>
          </a:prstGeom>
          <a:solidFill>
            <a:srgbClr val="FEC088"/>
          </a:solidFill>
        </p:spPr>
        <p:txBody>
          <a:bodyPr/>
          <a:lstStyle/>
          <a:p>
            <a:endParaRPr lang="en-GB"/>
          </a:p>
        </p:txBody>
      </p:sp>
      <p:sp>
        <p:nvSpPr>
          <p:cNvPr id="9" name="Object 9">
            <a:extLst>
              <a:ext uri="{FF2B5EF4-FFF2-40B4-BE49-F238E27FC236}">
                <a16:creationId xmlns:a16="http://schemas.microsoft.com/office/drawing/2014/main" id="{DB3238F8-C192-75B1-9225-82941C0553E0}"/>
              </a:ext>
            </a:extLst>
          </p:cNvPr>
          <p:cNvSpPr/>
          <p:nvPr/>
        </p:nvSpPr>
        <p:spPr>
          <a:xfrm>
            <a:off x="761810" y="4123740"/>
            <a:ext cx="5551687" cy="567191"/>
          </a:xfrm>
          <a:prstGeom prst="rect">
            <a:avLst/>
          </a:prstGeom>
          <a:noFill/>
        </p:spPr>
        <p:txBody>
          <a:bodyPr wrap="square" lIns="0" tIns="0" rIns="0" bIns="0" rtlCol="0" anchor="t"/>
          <a:lstStyle/>
          <a:p>
            <a:pPr algn="l">
              <a:lnSpc>
                <a:spcPts val="2234"/>
              </a:lnSpc>
              <a:buNone/>
            </a:pPr>
            <a:r>
              <a:rPr lang="en-US" sz="1913" b="1" kern="0" spc="-115" dirty="0">
                <a:solidFill>
                  <a:srgbClr val="333333"/>
                </a:solidFill>
                <a:latin typeface="Inter" pitchFamily="34" charset="0"/>
                <a:ea typeface="Inter" pitchFamily="34" charset="-122"/>
                <a:cs typeface="Inter" pitchFamily="34" charset="-120"/>
              </a:rPr>
              <a:t>HistGradientBoosting (Poisson Log-Uplift): Best Overall Accuracy</a:t>
            </a:r>
            <a:endParaRPr lang="en-US" dirty="0"/>
          </a:p>
        </p:txBody>
      </p:sp>
      <p:sp>
        <p:nvSpPr>
          <p:cNvPr id="10" name="Object 10">
            <a:extLst>
              <a:ext uri="{FF2B5EF4-FFF2-40B4-BE49-F238E27FC236}">
                <a16:creationId xmlns:a16="http://schemas.microsoft.com/office/drawing/2014/main" id="{756152FB-CBB3-F907-D5DB-D38279FCF8BA}"/>
              </a:ext>
            </a:extLst>
          </p:cNvPr>
          <p:cNvSpPr/>
          <p:nvPr/>
        </p:nvSpPr>
        <p:spPr>
          <a:xfrm>
            <a:off x="761810" y="4793002"/>
            <a:ext cx="5234513" cy="990352"/>
          </a:xfrm>
          <a:prstGeom prst="rect">
            <a:avLst/>
          </a:prstGeom>
          <a:noFill/>
        </p:spPr>
        <p:txBody>
          <a:bodyPr wrap="square" lIns="0" tIns="0" rIns="0" bIns="0" rtlCol="0" anchor="t"/>
          <a:lstStyle/>
          <a:p>
            <a:pPr algn="l">
              <a:lnSpc>
                <a:spcPts val="1951"/>
              </a:lnSpc>
              <a:spcBef>
                <a:spcPts val="788"/>
              </a:spcBef>
              <a:buNone/>
            </a:pPr>
            <a:r>
              <a:rPr lang="en-US" sz="1406" kern="0" spc="-29" dirty="0">
                <a:solidFill>
                  <a:srgbClr val="000000">
                    <a:alpha val="56000"/>
                  </a:srgbClr>
                </a:solidFill>
                <a:latin typeface="Inter" pitchFamily="34" charset="0"/>
                <a:ea typeface="Inter" pitchFamily="34" charset="-122"/>
                <a:cs typeface="Inter" pitchFamily="34" charset="-120"/>
              </a:rPr>
              <a:t>The HistGradientBoosting Poisson + Log-Uplift model delivered the best overall WAPE of 75%, with balanced performance across all item and store clusters, and the lowest error rates in Fast segments.</a:t>
            </a:r>
            <a:endParaRPr lang="en-US" dirty="0"/>
          </a:p>
        </p:txBody>
      </p:sp>
      <p:sp>
        <p:nvSpPr>
          <p:cNvPr id="11" name="Object 11">
            <a:extLst>
              <a:ext uri="{FF2B5EF4-FFF2-40B4-BE49-F238E27FC236}">
                <a16:creationId xmlns:a16="http://schemas.microsoft.com/office/drawing/2014/main" id="{3E324069-46F8-7120-B4A5-798CF961A9CF}"/>
              </a:ext>
            </a:extLst>
          </p:cNvPr>
          <p:cNvSpPr/>
          <p:nvPr/>
        </p:nvSpPr>
        <p:spPr>
          <a:xfrm>
            <a:off x="6189702" y="3889990"/>
            <a:ext cx="5523119" cy="2109260"/>
          </a:xfrm>
          <a:prstGeom prst="rect">
            <a:avLst/>
          </a:prstGeom>
          <a:solidFill>
            <a:srgbClr val="FD864D"/>
          </a:solidFill>
        </p:spPr>
        <p:txBody>
          <a:bodyPr/>
          <a:lstStyle/>
          <a:p>
            <a:endParaRPr lang="en-GB"/>
          </a:p>
        </p:txBody>
      </p:sp>
      <p:sp>
        <p:nvSpPr>
          <p:cNvPr id="12" name="Object 12">
            <a:extLst>
              <a:ext uri="{FF2B5EF4-FFF2-40B4-BE49-F238E27FC236}">
                <a16:creationId xmlns:a16="http://schemas.microsoft.com/office/drawing/2014/main" id="{9BCFAF04-D37E-632A-DA0F-EEED8D25AC5F}"/>
              </a:ext>
            </a:extLst>
          </p:cNvPr>
          <p:cNvSpPr/>
          <p:nvPr/>
        </p:nvSpPr>
        <p:spPr>
          <a:xfrm>
            <a:off x="6475381" y="4123740"/>
            <a:ext cx="5551687" cy="283595"/>
          </a:xfrm>
          <a:prstGeom prst="rect">
            <a:avLst/>
          </a:prstGeom>
          <a:noFill/>
        </p:spPr>
        <p:txBody>
          <a:bodyPr wrap="square" lIns="0" tIns="0" rIns="0" bIns="0" rtlCol="0" anchor="t"/>
          <a:lstStyle/>
          <a:p>
            <a:pPr algn="l">
              <a:lnSpc>
                <a:spcPts val="2234"/>
              </a:lnSpc>
              <a:buNone/>
            </a:pPr>
            <a:r>
              <a:rPr lang="en-US" sz="1913" b="1" kern="0" spc="-115" dirty="0">
                <a:solidFill>
                  <a:srgbClr val="333333"/>
                </a:solidFill>
                <a:latin typeface="Inter" pitchFamily="34" charset="0"/>
                <a:ea typeface="Inter" pitchFamily="34" charset="-122"/>
                <a:cs typeface="Inter" pitchFamily="34" charset="-120"/>
              </a:rPr>
              <a:t>HB (Hierarchical Bayesian): Advanced Approach</a:t>
            </a:r>
            <a:endParaRPr lang="en-US" dirty="0"/>
          </a:p>
        </p:txBody>
      </p:sp>
      <p:sp>
        <p:nvSpPr>
          <p:cNvPr id="13" name="Object 13">
            <a:extLst>
              <a:ext uri="{FF2B5EF4-FFF2-40B4-BE49-F238E27FC236}">
                <a16:creationId xmlns:a16="http://schemas.microsoft.com/office/drawing/2014/main" id="{9D91956B-1DD1-C264-2B5A-9A50A2EAB081}"/>
              </a:ext>
            </a:extLst>
          </p:cNvPr>
          <p:cNvSpPr/>
          <p:nvPr/>
        </p:nvSpPr>
        <p:spPr>
          <a:xfrm>
            <a:off x="6475381" y="4509406"/>
            <a:ext cx="5551687" cy="742764"/>
          </a:xfrm>
          <a:prstGeom prst="rect">
            <a:avLst/>
          </a:prstGeom>
          <a:noFill/>
        </p:spPr>
        <p:txBody>
          <a:bodyPr wrap="square" lIns="0" tIns="0" rIns="0" bIns="0" rtlCol="0" anchor="t"/>
          <a:lstStyle/>
          <a:p>
            <a:pPr algn="l">
              <a:lnSpc>
                <a:spcPts val="1951"/>
              </a:lnSpc>
              <a:spcBef>
                <a:spcPts val="788"/>
              </a:spcBef>
              <a:buNone/>
            </a:pPr>
            <a:r>
              <a:rPr lang="en-US" sz="1406" kern="0" spc="-29" dirty="0">
                <a:solidFill>
                  <a:srgbClr val="000000">
                    <a:alpha val="56000"/>
                  </a:srgbClr>
                </a:solidFill>
                <a:latin typeface="Inter" pitchFamily="34" charset="0"/>
                <a:ea typeface="Inter" pitchFamily="34" charset="-122"/>
                <a:cs typeface="Inter" pitchFamily="34" charset="-120"/>
              </a:rPr>
              <a:t>The Hierarchical Bayesian uplift model showcased an advanced technique to estimate promotional impacts, achieving improved accuracy compared to the other methods.</a:t>
            </a:r>
            <a:endParaRPr lang="en-US" dirty="0"/>
          </a:p>
        </p:txBody>
      </p:sp>
      <p:sp>
        <p:nvSpPr>
          <p:cNvPr id="15" name="TextBox 14">
            <a:extLst>
              <a:ext uri="{FF2B5EF4-FFF2-40B4-BE49-F238E27FC236}">
                <a16:creationId xmlns:a16="http://schemas.microsoft.com/office/drawing/2014/main" id="{535F0501-1F89-5E65-471D-CBAB7688F8D9}"/>
              </a:ext>
            </a:extLst>
          </p:cNvPr>
          <p:cNvSpPr txBox="1"/>
          <p:nvPr/>
        </p:nvSpPr>
        <p:spPr>
          <a:xfrm>
            <a:off x="2956827" y="180108"/>
            <a:ext cx="6630233" cy="576440"/>
          </a:xfrm>
          <a:prstGeom prst="rect">
            <a:avLst/>
          </a:prstGeom>
          <a:noFill/>
        </p:spPr>
        <p:txBody>
          <a:bodyPr wrap="square">
            <a:spAutoFit/>
          </a:bodyPr>
          <a:lstStyle/>
          <a:p>
            <a:pPr algn="ctr">
              <a:lnSpc>
                <a:spcPts val="4380"/>
              </a:lnSpc>
              <a:buNone/>
            </a:pPr>
            <a:r>
              <a:rPr lang="en-US" sz="1800" kern="0" spc="-225" dirty="0">
                <a:latin typeface="Times New Roman" panose="02020603050405020304" pitchFamily="18" charset="0"/>
                <a:ea typeface="Inter" pitchFamily="34" charset="-122"/>
                <a:cs typeface="Times New Roman" panose="02020603050405020304" pitchFamily="18" charset="0"/>
              </a:rPr>
              <a:t>Predictive Insights</a:t>
            </a: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76238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000000"/>
        </a:solidFill>
        <a:effectLst/>
      </p:bgPr>
    </p:bg>
    <p:spTree>
      <p:nvGrpSpPr>
        <p:cNvPr id="1" name=""/>
        <p:cNvGrpSpPr/>
        <p:nvPr/>
      </p:nvGrpSpPr>
      <p:grpSpPr>
        <a:xfrm>
          <a:off x="0" y="0"/>
          <a:ext cx="0" cy="0"/>
          <a:chOff x="0" y="0"/>
          <a:chExt cx="0" cy="0"/>
        </a:xfrm>
      </p:grpSpPr>
      <p:sp>
        <p:nvSpPr>
          <p:cNvPr id="2" name="Object 1"/>
          <p:cNvSpPr/>
          <p:nvPr/>
        </p:nvSpPr>
        <p:spPr>
          <a:xfrm>
            <a:off x="476131" y="476131"/>
            <a:ext cx="5281244" cy="5904024"/>
          </a:xfrm>
          <a:prstGeom prst="rect">
            <a:avLst/>
          </a:prstGeom>
          <a:solidFill>
            <a:srgbClr val="22AAEE"/>
          </a:solidFill>
        </p:spPr>
        <p:txBody>
          <a:bodyPr/>
          <a:lstStyle/>
          <a:p>
            <a:endParaRPr lang="en-GB"/>
          </a:p>
        </p:txBody>
      </p:sp>
      <p:pic>
        <p:nvPicPr>
          <p:cNvPr id="3" name="Object 2" descr="Linear Model"/>
          <p:cNvPicPr>
            <a:picLocks noChangeAspect="1"/>
          </p:cNvPicPr>
          <p:nvPr/>
        </p:nvPicPr>
        <p:blipFill>
          <a:blip r:embed="rId3"/>
          <a:srcRect l="26152" r="26152"/>
          <a:stretch/>
        </p:blipFill>
        <p:spPr>
          <a:xfrm>
            <a:off x="476131" y="476131"/>
            <a:ext cx="5281244" cy="5904024"/>
          </a:xfrm>
          <a:prstGeom prst="rect">
            <a:avLst/>
          </a:prstGeom>
        </p:spPr>
      </p:pic>
      <p:sp>
        <p:nvSpPr>
          <p:cNvPr id="4" name="Object 3"/>
          <p:cNvSpPr/>
          <p:nvPr/>
        </p:nvSpPr>
        <p:spPr>
          <a:xfrm>
            <a:off x="5977352" y="1497915"/>
            <a:ext cx="5991550" cy="556069"/>
          </a:xfrm>
          <a:prstGeom prst="rect">
            <a:avLst/>
          </a:prstGeom>
          <a:noFill/>
        </p:spPr>
        <p:txBody>
          <a:bodyPr wrap="square" lIns="0" tIns="0" rIns="0" bIns="0" rtlCol="0" anchor="ctr"/>
          <a:lstStyle/>
          <a:p>
            <a:pPr algn="ctr">
              <a:lnSpc>
                <a:spcPts val="4380"/>
              </a:lnSpc>
              <a:buNone/>
            </a:pPr>
            <a:r>
              <a:rPr lang="en-US" sz="3750" b="1" kern="0" spc="-225" dirty="0">
                <a:solidFill>
                  <a:srgbClr val="FFFFFF"/>
                </a:solidFill>
                <a:latin typeface="Inter" pitchFamily="34" charset="0"/>
                <a:ea typeface="Inter" pitchFamily="34" charset="-122"/>
                <a:cs typeface="Inter" pitchFamily="34" charset="-120"/>
              </a:rPr>
              <a:t>Linear Model</a:t>
            </a:r>
            <a:endParaRPr lang="en-US" dirty="0"/>
          </a:p>
        </p:txBody>
      </p:sp>
      <p:sp>
        <p:nvSpPr>
          <p:cNvPr id="5" name="Object 4"/>
          <p:cNvSpPr/>
          <p:nvPr/>
        </p:nvSpPr>
        <p:spPr>
          <a:xfrm>
            <a:off x="5977352" y="2158993"/>
            <a:ext cx="5991550" cy="3169247"/>
          </a:xfrm>
          <a:prstGeom prst="rect">
            <a:avLst/>
          </a:prstGeom>
          <a:noFill/>
        </p:spPr>
        <p:txBody>
          <a:bodyPr wrap="square" lIns="0" tIns="0" rIns="0" bIns="0" rtlCol="0" anchor="ctr"/>
          <a:lstStyle/>
          <a:p>
            <a:pPr algn="ctr">
              <a:lnSpc>
                <a:spcPts val="2497"/>
              </a:lnSpc>
              <a:spcBef>
                <a:spcPts val="811"/>
              </a:spcBef>
              <a:buNone/>
            </a:pPr>
            <a:r>
              <a:rPr lang="en-US" sz="1800" kern="0" spc="-36" dirty="0">
                <a:solidFill>
                  <a:srgbClr val="FFFFFF">
                    <a:alpha val="80000"/>
                  </a:srgbClr>
                </a:solidFill>
                <a:latin typeface="Inter" pitchFamily="34" charset="0"/>
                <a:ea typeface="Inter" pitchFamily="34" charset="-122"/>
                <a:cs typeface="Inter" pitchFamily="34" charset="-120"/>
              </a:rPr>
              <a:t>The analysis presented a two-stage modeling approach, where the first stage involved developing a baseline linear regression model to capture non-promotional sales drivers. This model achieved an R-squared of 0.331, indicating it could explain 33% of the variance in non-promotional demand. The second stage focused on building a linear uplift model to estimate the incremental impact of promotions, but this model struggled to generalize, only capturing 9% of the variance in promotional uplifts.</a:t>
            </a:r>
            <a:endParaRPr lang="en-US" dirty="0"/>
          </a:p>
        </p:txBody>
      </p:sp>
      <p:pic>
        <p:nvPicPr>
          <p:cNvPr id="6" name="Object 5"/>
          <p:cNvPicPr>
            <a:picLocks noChangeAspect="1"/>
          </p:cNvPicPr>
          <p:nvPr/>
        </p:nvPicPr>
        <p:blipFill>
          <a:blip r:embed="rId4"/>
          <a:stretch>
            <a:fillRect/>
          </a:stretch>
        </p:blipFill>
        <p:spPr>
          <a:xfrm>
            <a:off x="0" y="0"/>
            <a:ext cx="12188952" cy="6856286"/>
          </a:xfrm>
          <a:prstGeom prst="rect">
            <a:avLst/>
          </a:prstGeom>
        </p:spPr>
      </p:pic>
      <p:sp>
        <p:nvSpPr>
          <p:cNvPr id="7" name="TextBox 6">
            <a:extLst>
              <a:ext uri="{FF2B5EF4-FFF2-40B4-BE49-F238E27FC236}">
                <a16:creationId xmlns:a16="http://schemas.microsoft.com/office/drawing/2014/main" id="{0949708B-EC63-443D-FA4C-AE726BE8FB62}"/>
              </a:ext>
            </a:extLst>
          </p:cNvPr>
          <p:cNvSpPr txBox="1"/>
          <p:nvPr/>
        </p:nvSpPr>
        <p:spPr>
          <a:xfrm>
            <a:off x="6596742" y="5217205"/>
            <a:ext cx="5016137" cy="646331"/>
          </a:xfrm>
          <a:prstGeom prst="rect">
            <a:avLst/>
          </a:prstGeom>
          <a:noFill/>
        </p:spPr>
        <p:txBody>
          <a:bodyPr wrap="square" rtlCol="0">
            <a:spAutoFit/>
          </a:bodyPr>
          <a:lstStyle/>
          <a:p>
            <a:r>
              <a:rPr lang="en-US" kern="0" spc="-29" dirty="0">
                <a:solidFill>
                  <a:schemeClr val="bg1"/>
                </a:solidFill>
                <a:latin typeface="Inter" pitchFamily="34" charset="0"/>
                <a:ea typeface="Inter" pitchFamily="34" charset="-122"/>
                <a:cs typeface="Inter" pitchFamily="34" charset="-120"/>
              </a:rPr>
              <a:t>The simple linear regression model exhibited severe underestimation, with a negative R² of -60.874,</a:t>
            </a:r>
            <a:endParaRPr lang="en-GB" dirty="0">
              <a:solidFill>
                <a:schemeClr val="bg1"/>
              </a:solidFill>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FFF"/>
        </a:solidFill>
        <a:effectLst/>
      </p:bgPr>
    </p:bg>
    <p:spTree>
      <p:nvGrpSpPr>
        <p:cNvPr id="1" name=""/>
        <p:cNvGrpSpPr/>
        <p:nvPr/>
      </p:nvGrpSpPr>
      <p:grpSpPr>
        <a:xfrm>
          <a:off x="0" y="0"/>
          <a:ext cx="0" cy="0"/>
          <a:chOff x="0" y="0"/>
          <a:chExt cx="0" cy="0"/>
        </a:xfrm>
      </p:grpSpPr>
      <p:sp>
        <p:nvSpPr>
          <p:cNvPr id="2" name="Object 1"/>
          <p:cNvSpPr/>
          <p:nvPr/>
        </p:nvSpPr>
        <p:spPr>
          <a:xfrm>
            <a:off x="476131" y="476131"/>
            <a:ext cx="5281244" cy="5904024"/>
          </a:xfrm>
          <a:prstGeom prst="rect">
            <a:avLst/>
          </a:prstGeom>
          <a:solidFill>
            <a:srgbClr val="22AAEE"/>
          </a:solidFill>
        </p:spPr>
        <p:txBody>
          <a:bodyPr/>
          <a:lstStyle/>
          <a:p>
            <a:endParaRPr lang="en-GB"/>
          </a:p>
        </p:txBody>
      </p:sp>
      <p:pic>
        <p:nvPicPr>
          <p:cNvPr id="3" name="Object 2" descr="XGBoost"/>
          <p:cNvPicPr>
            <a:picLocks noChangeAspect="1"/>
          </p:cNvPicPr>
          <p:nvPr/>
        </p:nvPicPr>
        <p:blipFill>
          <a:blip r:embed="rId3"/>
          <a:srcRect l="21959" r="21959"/>
          <a:stretch/>
        </p:blipFill>
        <p:spPr>
          <a:xfrm>
            <a:off x="476131" y="476131"/>
            <a:ext cx="5281244" cy="5904024"/>
          </a:xfrm>
          <a:prstGeom prst="rect">
            <a:avLst/>
          </a:prstGeom>
        </p:spPr>
      </p:pic>
      <p:sp>
        <p:nvSpPr>
          <p:cNvPr id="4" name="Object 3"/>
          <p:cNvSpPr/>
          <p:nvPr/>
        </p:nvSpPr>
        <p:spPr>
          <a:xfrm>
            <a:off x="6024488" y="1812162"/>
            <a:ext cx="5897276" cy="556069"/>
          </a:xfrm>
          <a:prstGeom prst="rect">
            <a:avLst/>
          </a:prstGeom>
          <a:noFill/>
        </p:spPr>
        <p:txBody>
          <a:bodyPr wrap="square" lIns="0" tIns="0" rIns="0" bIns="0" rtlCol="0" anchor="ctr"/>
          <a:lstStyle/>
          <a:p>
            <a:pPr algn="ctr">
              <a:lnSpc>
                <a:spcPts val="4380"/>
              </a:lnSpc>
              <a:buNone/>
            </a:pPr>
            <a:r>
              <a:rPr lang="en-US" sz="3750" b="1" kern="0" spc="-225" dirty="0">
                <a:solidFill>
                  <a:srgbClr val="333333"/>
                </a:solidFill>
                <a:latin typeface="Inter" pitchFamily="34" charset="0"/>
                <a:ea typeface="Inter" pitchFamily="34" charset="-122"/>
                <a:cs typeface="Inter" pitchFamily="34" charset="-120"/>
              </a:rPr>
              <a:t>XGBoost Model</a:t>
            </a:r>
            <a:endParaRPr lang="en-US" dirty="0"/>
          </a:p>
        </p:txBody>
      </p:sp>
      <p:sp>
        <p:nvSpPr>
          <p:cNvPr id="5" name="Object 4"/>
          <p:cNvSpPr/>
          <p:nvPr/>
        </p:nvSpPr>
        <p:spPr>
          <a:xfrm>
            <a:off x="6024488" y="2473240"/>
            <a:ext cx="5897276" cy="2535397"/>
          </a:xfrm>
          <a:prstGeom prst="rect">
            <a:avLst/>
          </a:prstGeom>
          <a:noFill/>
        </p:spPr>
        <p:txBody>
          <a:bodyPr wrap="square" lIns="0" tIns="0" rIns="0" bIns="0" rtlCol="0" anchor="ctr"/>
          <a:lstStyle/>
          <a:p>
            <a:pPr algn="ctr">
              <a:lnSpc>
                <a:spcPts val="2497"/>
              </a:lnSpc>
              <a:spcBef>
                <a:spcPts val="811"/>
              </a:spcBef>
              <a:buNone/>
            </a:pPr>
            <a:r>
              <a:rPr lang="en-US" sz="1800" kern="0" spc="-36" dirty="0">
                <a:solidFill>
                  <a:srgbClr val="000000">
                    <a:alpha val="56000"/>
                  </a:srgbClr>
                </a:solidFill>
                <a:latin typeface="Inter" pitchFamily="34" charset="0"/>
                <a:ea typeface="Inter" pitchFamily="34" charset="-122"/>
                <a:cs typeface="Inter" pitchFamily="34" charset="-120"/>
              </a:rPr>
              <a:t>The XGBoost model was a key component of the predictive modeling framework, demonstrating its ability to capture the non-linear patterns in the promotional data. This advanced tree-based algorithm outperformed the simpler linear regression model, achieving an R² of 0.328 on the test data for the Promo5 and Promo6 campaigns, compared to a negative R² for the linear model.</a:t>
            </a:r>
            <a:endParaRPr lang="en-US" dirty="0"/>
          </a:p>
        </p:txBody>
      </p:sp>
      <p:pic>
        <p:nvPicPr>
          <p:cNvPr id="6" name="Object 5"/>
          <p:cNvPicPr>
            <a:picLocks noChangeAspect="1"/>
          </p:cNvPicPr>
          <p:nvPr/>
        </p:nvPicPr>
        <p:blipFill>
          <a:blip r:embed="rId4"/>
          <a:stretch>
            <a:fillRect/>
          </a:stretch>
        </p:blipFill>
        <p:spPr>
          <a:xfrm>
            <a:off x="0" y="0"/>
            <a:ext cx="12188952" cy="6856286"/>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222222"/>
        </a:solidFill>
        <a:effectLst/>
      </p:bgPr>
    </p:bg>
    <p:spTree>
      <p:nvGrpSpPr>
        <p:cNvPr id="1" name=""/>
        <p:cNvGrpSpPr/>
        <p:nvPr/>
      </p:nvGrpSpPr>
      <p:grpSpPr>
        <a:xfrm>
          <a:off x="0" y="0"/>
          <a:ext cx="0" cy="0"/>
          <a:chOff x="0" y="0"/>
          <a:chExt cx="0" cy="0"/>
        </a:xfrm>
      </p:grpSpPr>
      <p:sp>
        <p:nvSpPr>
          <p:cNvPr id="2" name="Object 1"/>
          <p:cNvSpPr/>
          <p:nvPr/>
        </p:nvSpPr>
        <p:spPr>
          <a:xfrm>
            <a:off x="7218145" y="476131"/>
            <a:ext cx="4494676" cy="5904024"/>
          </a:xfrm>
          <a:prstGeom prst="rect">
            <a:avLst/>
          </a:prstGeom>
          <a:solidFill>
            <a:srgbClr val="22AAEE"/>
          </a:solidFill>
        </p:spPr>
        <p:txBody>
          <a:bodyPr/>
          <a:lstStyle/>
          <a:p>
            <a:endParaRPr lang="en-GB"/>
          </a:p>
        </p:txBody>
      </p:sp>
      <p:pic>
        <p:nvPicPr>
          <p:cNvPr id="3" name="Object 2" descr="HistGradientBoosting (Poisson Log-Uplift)"/>
          <p:cNvPicPr>
            <a:picLocks noChangeAspect="1"/>
          </p:cNvPicPr>
          <p:nvPr/>
        </p:nvPicPr>
        <p:blipFill>
          <a:blip r:embed="rId3"/>
          <a:srcRect l="11935" r="11935"/>
          <a:stretch/>
        </p:blipFill>
        <p:spPr>
          <a:xfrm>
            <a:off x="7218145" y="476131"/>
            <a:ext cx="4494676" cy="5904024"/>
          </a:xfrm>
          <a:prstGeom prst="rect">
            <a:avLst/>
          </a:prstGeom>
        </p:spPr>
      </p:pic>
      <p:sp>
        <p:nvSpPr>
          <p:cNvPr id="4" name="Object 3"/>
          <p:cNvSpPr/>
          <p:nvPr/>
        </p:nvSpPr>
        <p:spPr>
          <a:xfrm>
            <a:off x="1332873" y="1059875"/>
            <a:ext cx="4552399" cy="1112138"/>
          </a:xfrm>
          <a:prstGeom prst="rect">
            <a:avLst/>
          </a:prstGeom>
          <a:noFill/>
        </p:spPr>
        <p:txBody>
          <a:bodyPr wrap="square" lIns="0" tIns="0" rIns="0" bIns="0" rtlCol="0" anchor="ctr"/>
          <a:lstStyle/>
          <a:p>
            <a:pPr algn="ctr">
              <a:lnSpc>
                <a:spcPts val="4380"/>
              </a:lnSpc>
              <a:buNone/>
            </a:pPr>
            <a:r>
              <a:rPr lang="en-US" sz="3750" b="1" kern="0" spc="-225" dirty="0">
                <a:solidFill>
                  <a:srgbClr val="FFFFFF"/>
                </a:solidFill>
                <a:latin typeface="Inter" pitchFamily="34" charset="0"/>
                <a:ea typeface="Inter" pitchFamily="34" charset="-122"/>
                <a:cs typeface="Inter" pitchFamily="34" charset="-120"/>
              </a:rPr>
              <a:t>HistGradientBoosting (Poisson Log-Uplift)</a:t>
            </a:r>
            <a:endParaRPr lang="en-US" dirty="0"/>
          </a:p>
        </p:txBody>
      </p:sp>
      <p:sp>
        <p:nvSpPr>
          <p:cNvPr id="5" name="Object 4"/>
          <p:cNvSpPr/>
          <p:nvPr/>
        </p:nvSpPr>
        <p:spPr>
          <a:xfrm>
            <a:off x="278060" y="2277022"/>
            <a:ext cx="6662024" cy="3486171"/>
          </a:xfrm>
          <a:prstGeom prst="rect">
            <a:avLst/>
          </a:prstGeom>
          <a:noFill/>
        </p:spPr>
        <p:txBody>
          <a:bodyPr wrap="square" lIns="0" tIns="0" rIns="0" bIns="0" rtlCol="0" anchor="ctr"/>
          <a:lstStyle/>
          <a:p>
            <a:pPr algn="ctr">
              <a:lnSpc>
                <a:spcPts val="2497"/>
              </a:lnSpc>
              <a:spcBef>
                <a:spcPts val="811"/>
              </a:spcBef>
              <a:buNone/>
            </a:pPr>
            <a:r>
              <a:rPr lang="en-US" sz="1800" kern="0" spc="-36" dirty="0">
                <a:solidFill>
                  <a:srgbClr val="FFFFFF">
                    <a:alpha val="80000"/>
                  </a:srgbClr>
                </a:solidFill>
                <a:latin typeface="Inter" pitchFamily="34" charset="0"/>
                <a:ea typeface="Inter" pitchFamily="34" charset="-122"/>
                <a:cs typeface="Inter" pitchFamily="34" charset="-120"/>
              </a:rPr>
              <a:t>The HistGradientBoosting (Poisson Log-Uplift) model was chosen as a key component of the predictive modeling framework due to its ability to handle the unique distribution and characteristics of the promotional sales data. This approach combines a Poisson regression baseline model to capture the underlying sales patterns during non-promotional periods, with a separate log-uplift model to predict the incremental sales lift during promotions. The log-uplift target helps to stabilize the predictions and balance accuracy with stability, outperforming earlier OLS uplift and squared-error models.</a:t>
            </a:r>
            <a:endParaRPr lang="en-US"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222222"/>
        </a:solidFill>
        <a:effectLst/>
      </p:bgPr>
    </p:bg>
    <p:spTree>
      <p:nvGrpSpPr>
        <p:cNvPr id="1" name=""/>
        <p:cNvGrpSpPr/>
        <p:nvPr/>
      </p:nvGrpSpPr>
      <p:grpSpPr>
        <a:xfrm>
          <a:off x="0" y="0"/>
          <a:ext cx="0" cy="0"/>
          <a:chOff x="0" y="0"/>
          <a:chExt cx="0" cy="0"/>
        </a:xfrm>
      </p:grpSpPr>
      <p:sp>
        <p:nvSpPr>
          <p:cNvPr id="2" name="Object 1"/>
          <p:cNvSpPr/>
          <p:nvPr/>
        </p:nvSpPr>
        <p:spPr>
          <a:xfrm>
            <a:off x="6768677" y="476131"/>
            <a:ext cx="4944144" cy="5904024"/>
          </a:xfrm>
          <a:prstGeom prst="rect">
            <a:avLst/>
          </a:prstGeom>
          <a:solidFill>
            <a:srgbClr val="22AAEE"/>
          </a:solidFill>
        </p:spPr>
        <p:txBody>
          <a:bodyPr/>
          <a:lstStyle/>
          <a:p>
            <a:endParaRPr lang="en-GB"/>
          </a:p>
        </p:txBody>
      </p:sp>
      <p:pic>
        <p:nvPicPr>
          <p:cNvPr id="3" name="Object 2" descr="Hierarchical Bayesian (HB) Model"/>
          <p:cNvPicPr>
            <a:picLocks noChangeAspect="1"/>
          </p:cNvPicPr>
          <p:nvPr/>
        </p:nvPicPr>
        <p:blipFill>
          <a:blip r:embed="rId3"/>
          <a:srcRect l="15558" r="15558"/>
          <a:stretch/>
        </p:blipFill>
        <p:spPr>
          <a:xfrm>
            <a:off x="6768677" y="476131"/>
            <a:ext cx="4944144" cy="5904024"/>
          </a:xfrm>
          <a:prstGeom prst="rect">
            <a:avLst/>
          </a:prstGeom>
        </p:spPr>
      </p:pic>
      <p:sp>
        <p:nvSpPr>
          <p:cNvPr id="4" name="Object 3"/>
          <p:cNvSpPr/>
          <p:nvPr/>
        </p:nvSpPr>
        <p:spPr>
          <a:xfrm>
            <a:off x="1590642" y="1693129"/>
            <a:ext cx="3587319" cy="1112138"/>
          </a:xfrm>
          <a:prstGeom prst="rect">
            <a:avLst/>
          </a:prstGeom>
          <a:noFill/>
        </p:spPr>
        <p:txBody>
          <a:bodyPr wrap="square" lIns="0" tIns="0" rIns="0" bIns="0" rtlCol="0" anchor="ctr"/>
          <a:lstStyle/>
          <a:p>
            <a:pPr algn="ctr">
              <a:lnSpc>
                <a:spcPts val="4380"/>
              </a:lnSpc>
              <a:buNone/>
            </a:pPr>
            <a:r>
              <a:rPr lang="en-US" sz="3750" b="1" kern="0" spc="-225" dirty="0">
                <a:solidFill>
                  <a:srgbClr val="FFFFFF"/>
                </a:solidFill>
                <a:latin typeface="Inter" pitchFamily="34" charset="0"/>
                <a:ea typeface="Inter" pitchFamily="34" charset="-122"/>
                <a:cs typeface="Inter" pitchFamily="34" charset="-120"/>
              </a:rPr>
              <a:t>HB (Hierarchical Bayesian) Model</a:t>
            </a:r>
            <a:endParaRPr lang="en-US" dirty="0"/>
          </a:p>
        </p:txBody>
      </p:sp>
      <p:sp>
        <p:nvSpPr>
          <p:cNvPr id="5" name="Object 4"/>
          <p:cNvSpPr/>
          <p:nvPr/>
        </p:nvSpPr>
        <p:spPr>
          <a:xfrm>
            <a:off x="199979" y="2910276"/>
            <a:ext cx="6368646" cy="2218473"/>
          </a:xfrm>
          <a:prstGeom prst="rect">
            <a:avLst/>
          </a:prstGeom>
          <a:noFill/>
        </p:spPr>
        <p:txBody>
          <a:bodyPr wrap="square" lIns="0" tIns="0" rIns="0" bIns="0" rtlCol="0" anchor="ctr"/>
          <a:lstStyle/>
          <a:p>
            <a:pPr algn="ctr">
              <a:lnSpc>
                <a:spcPts val="2497"/>
              </a:lnSpc>
              <a:spcBef>
                <a:spcPts val="811"/>
              </a:spcBef>
              <a:buNone/>
            </a:pPr>
            <a:r>
              <a:rPr lang="en-US" sz="1800" kern="0" spc="-36" dirty="0">
                <a:solidFill>
                  <a:srgbClr val="FFFFFF">
                    <a:alpha val="80000"/>
                  </a:srgbClr>
                </a:solidFill>
                <a:latin typeface="Inter" pitchFamily="34" charset="0"/>
                <a:ea typeface="Inter" pitchFamily="34" charset="-122"/>
                <a:cs typeface="Inter" pitchFamily="34" charset="-120"/>
              </a:rPr>
              <a:t>The Hierarchical Bayesian (HB) model represents an advanced approach to promotional uplift forecasting, delivering improved accuracy and robustness compared to previous techniques. By modeling the incremental promotional effect as a deviation from the baseline demand, the HB model is able to capture the complex, non-linear patterns inherent in retail sales data.</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2">
    <p:bg>
      <p:bgPr>
        <a:solidFill>
          <a:srgbClr val="FFFFFF"/>
        </a:solidFill>
        <a:effectLst/>
      </p:bgPr>
    </p:bg>
    <p:spTree>
      <p:nvGrpSpPr>
        <p:cNvPr id="1" name=""/>
        <p:cNvGrpSpPr/>
        <p:nvPr/>
      </p:nvGrpSpPr>
      <p:grpSpPr>
        <a:xfrm>
          <a:off x="0" y="0"/>
          <a:ext cx="0" cy="0"/>
          <a:chOff x="0" y="0"/>
          <a:chExt cx="0" cy="0"/>
        </a:xfrm>
      </p:grpSpPr>
      <p:sp>
        <p:nvSpPr>
          <p:cNvPr id="2" name="Object 1"/>
          <p:cNvSpPr/>
          <p:nvPr/>
        </p:nvSpPr>
        <p:spPr>
          <a:xfrm>
            <a:off x="7105778" y="476131"/>
            <a:ext cx="4607043" cy="5904024"/>
          </a:xfrm>
          <a:prstGeom prst="rect">
            <a:avLst/>
          </a:prstGeom>
          <a:solidFill>
            <a:srgbClr val="22AAEE"/>
          </a:solidFill>
        </p:spPr>
        <p:txBody>
          <a:bodyPr/>
          <a:lstStyle/>
          <a:p>
            <a:endParaRPr lang="en-GB"/>
          </a:p>
        </p:txBody>
      </p:sp>
      <p:pic>
        <p:nvPicPr>
          <p:cNvPr id="3" name="Object 2" descr="Feature Importance (Permutation Importance)"/>
          <p:cNvPicPr>
            <a:picLocks noChangeAspect="1"/>
          </p:cNvPicPr>
          <p:nvPr/>
        </p:nvPicPr>
        <p:blipFill>
          <a:blip r:embed="rId3"/>
          <a:srcRect l="28053" r="28053"/>
          <a:stretch/>
        </p:blipFill>
        <p:spPr>
          <a:xfrm>
            <a:off x="7105778" y="476131"/>
            <a:ext cx="4607043" cy="5904024"/>
          </a:xfrm>
          <a:prstGeom prst="rect">
            <a:avLst/>
          </a:prstGeom>
        </p:spPr>
      </p:pic>
      <p:sp>
        <p:nvSpPr>
          <p:cNvPr id="4" name="Object 3"/>
          <p:cNvSpPr/>
          <p:nvPr/>
        </p:nvSpPr>
        <p:spPr>
          <a:xfrm>
            <a:off x="786213" y="2012137"/>
            <a:ext cx="5533315" cy="1112138"/>
          </a:xfrm>
          <a:prstGeom prst="rect">
            <a:avLst/>
          </a:prstGeom>
          <a:noFill/>
        </p:spPr>
        <p:txBody>
          <a:bodyPr wrap="square" lIns="0" tIns="0" rIns="0" bIns="0" rtlCol="0" anchor="ctr"/>
          <a:lstStyle/>
          <a:p>
            <a:pPr algn="ctr">
              <a:lnSpc>
                <a:spcPts val="4380"/>
              </a:lnSpc>
              <a:buNone/>
            </a:pPr>
            <a:r>
              <a:rPr lang="en-US" sz="3750" b="1" kern="0" spc="-225" dirty="0">
                <a:solidFill>
                  <a:srgbClr val="333333"/>
                </a:solidFill>
                <a:latin typeface="Inter" pitchFamily="34" charset="0"/>
                <a:ea typeface="Inter" pitchFamily="34" charset="-122"/>
                <a:cs typeface="Inter" pitchFamily="34" charset="-120"/>
              </a:rPr>
              <a:t>Feature Importance (Permutation Importance)</a:t>
            </a:r>
            <a:endParaRPr lang="en-US" dirty="0"/>
          </a:p>
        </p:txBody>
      </p:sp>
      <p:sp>
        <p:nvSpPr>
          <p:cNvPr id="5" name="Object 4"/>
          <p:cNvSpPr/>
          <p:nvPr/>
        </p:nvSpPr>
        <p:spPr>
          <a:xfrm>
            <a:off x="326628" y="3229284"/>
            <a:ext cx="6452486" cy="1584623"/>
          </a:xfrm>
          <a:prstGeom prst="rect">
            <a:avLst/>
          </a:prstGeom>
          <a:noFill/>
        </p:spPr>
        <p:txBody>
          <a:bodyPr wrap="square" lIns="0" tIns="0" rIns="0" bIns="0" rtlCol="0" anchor="ctr"/>
          <a:lstStyle/>
          <a:p>
            <a:pPr algn="ctr">
              <a:lnSpc>
                <a:spcPts val="2497"/>
              </a:lnSpc>
              <a:spcBef>
                <a:spcPts val="811"/>
              </a:spcBef>
              <a:buNone/>
            </a:pPr>
            <a:r>
              <a:rPr lang="en-US" sz="1800" kern="0" spc="-36" dirty="0">
                <a:solidFill>
                  <a:srgbClr val="000000">
                    <a:alpha val="56000"/>
                  </a:srgbClr>
                </a:solidFill>
                <a:latin typeface="Inter" pitchFamily="34" charset="0"/>
                <a:ea typeface="Inter" pitchFamily="34" charset="-122"/>
                <a:cs typeface="Inter" pitchFamily="34" charset="-120"/>
              </a:rPr>
              <a:t>The feature importance analysis identifies the key drivers of sales uplift during promotional periods. Using permutation importance, the team quantifies the relative contribution of each feature in predicting the incremental sales boost from promotions.</a:t>
            </a:r>
            <a:endParaRPr lang="en-US" dirty="0"/>
          </a:p>
        </p:txBody>
      </p:sp>
      <p:pic>
        <p:nvPicPr>
          <p:cNvPr id="6" name="Object 5"/>
          <p:cNvPicPr>
            <a:picLocks noChangeAspect="1"/>
          </p:cNvPicPr>
          <p:nvPr/>
        </p:nvPicPr>
        <p:blipFill>
          <a:blip r:embed="rId4"/>
          <a:stretch>
            <a:fillRect/>
          </a:stretch>
        </p:blipFill>
        <p:spPr>
          <a:xfrm>
            <a:off x="0" y="0"/>
            <a:ext cx="12188952" cy="6856286"/>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3">
    <p:bg>
      <p:bgPr>
        <a:solidFill>
          <a:srgbClr val="FFFFFF"/>
        </a:solidFill>
        <a:effectLst/>
      </p:bgPr>
    </p:bg>
    <p:spTree>
      <p:nvGrpSpPr>
        <p:cNvPr id="1" name=""/>
        <p:cNvGrpSpPr/>
        <p:nvPr/>
      </p:nvGrpSpPr>
      <p:grpSpPr>
        <a:xfrm>
          <a:off x="0" y="0"/>
          <a:ext cx="0" cy="0"/>
          <a:chOff x="0" y="0"/>
          <a:chExt cx="0" cy="0"/>
        </a:xfrm>
      </p:grpSpPr>
      <p:sp>
        <p:nvSpPr>
          <p:cNvPr id="2" name="Object 1"/>
          <p:cNvSpPr/>
          <p:nvPr/>
        </p:nvSpPr>
        <p:spPr>
          <a:xfrm>
            <a:off x="476131" y="1590277"/>
            <a:ext cx="11236690" cy="4389927"/>
          </a:xfrm>
          <a:prstGeom prst="rect">
            <a:avLst/>
          </a:prstGeom>
          <a:solidFill>
            <a:srgbClr val="000000">
              <a:alpha val="0"/>
            </a:srgbClr>
          </a:solidFill>
        </p:spPr>
        <p:txBody>
          <a:bodyPr/>
          <a:lstStyle/>
          <a:p>
            <a:endParaRPr lang="en-GB"/>
          </a:p>
        </p:txBody>
      </p:sp>
      <p:pic>
        <p:nvPicPr>
          <p:cNvPr id="3" name="Object 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476047" y="1590203"/>
            <a:ext cx="11255735" cy="4399450"/>
          </a:xfrm>
          <a:prstGeom prst="rect">
            <a:avLst/>
          </a:prstGeom>
        </p:spPr>
      </p:pic>
      <p:pic>
        <p:nvPicPr>
          <p:cNvPr id="4" name="Object 3"/>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476047" y="1590203"/>
            <a:ext cx="11246213" cy="4399450"/>
          </a:xfrm>
          <a:prstGeom prst="rect">
            <a:avLst/>
          </a:prstGeom>
        </p:spPr>
      </p:pic>
      <p:sp>
        <p:nvSpPr>
          <p:cNvPr id="5" name="Object 4"/>
          <p:cNvSpPr/>
          <p:nvPr/>
        </p:nvSpPr>
        <p:spPr>
          <a:xfrm>
            <a:off x="476131" y="1590277"/>
            <a:ext cx="3745563" cy="693146"/>
          </a:xfrm>
          <a:prstGeom prst="rect">
            <a:avLst/>
          </a:prstGeom>
          <a:noFill/>
        </p:spPr>
        <p:txBody>
          <a:bodyPr wrap="square" rtlCol="0" anchor="ctr">
            <a:normAutofit/>
          </a:bodyPr>
          <a:lstStyle/>
          <a:p>
            <a:pPr algn="ctr">
              <a:buNone/>
            </a:pPr>
            <a:r>
              <a:rPr lang="en-US" sz="2000" dirty="0">
                <a:solidFill>
                  <a:srgbClr val="333333"/>
                </a:solidFill>
                <a:latin typeface="Inter Medium" pitchFamily="34" charset="0"/>
                <a:ea typeface="Inter Medium" pitchFamily="34" charset="-122"/>
                <a:cs typeface="Inter Medium" pitchFamily="34" charset="-120"/>
              </a:rPr>
              <a:t>Model</a:t>
            </a:r>
            <a:endParaRPr lang="en-US" dirty="0"/>
          </a:p>
        </p:txBody>
      </p:sp>
      <p:sp>
        <p:nvSpPr>
          <p:cNvPr id="6" name="Object 5"/>
          <p:cNvSpPr/>
          <p:nvPr/>
        </p:nvSpPr>
        <p:spPr>
          <a:xfrm>
            <a:off x="4221694" y="1590277"/>
            <a:ext cx="3745563" cy="693146"/>
          </a:xfrm>
          <a:prstGeom prst="rect">
            <a:avLst/>
          </a:prstGeom>
          <a:noFill/>
        </p:spPr>
        <p:txBody>
          <a:bodyPr wrap="square" rtlCol="0" anchor="ctr">
            <a:normAutofit/>
          </a:bodyPr>
          <a:lstStyle/>
          <a:p>
            <a:pPr algn="ctr">
              <a:buNone/>
            </a:pPr>
            <a:r>
              <a:rPr lang="en-US" sz="2000" dirty="0">
                <a:solidFill>
                  <a:srgbClr val="333333"/>
                </a:solidFill>
                <a:latin typeface="Inter Medium" pitchFamily="34" charset="0"/>
                <a:ea typeface="Inter Medium" pitchFamily="34" charset="-122"/>
                <a:cs typeface="Inter Medium" pitchFamily="34" charset="-120"/>
              </a:rPr>
              <a:t>R²</a:t>
            </a:r>
            <a:endParaRPr lang="en-US" dirty="0"/>
          </a:p>
        </p:txBody>
      </p:sp>
      <p:sp>
        <p:nvSpPr>
          <p:cNvPr id="7" name="Object 6"/>
          <p:cNvSpPr/>
          <p:nvPr/>
        </p:nvSpPr>
        <p:spPr>
          <a:xfrm>
            <a:off x="7967258" y="1590277"/>
            <a:ext cx="3745563" cy="693146"/>
          </a:xfrm>
          <a:prstGeom prst="rect">
            <a:avLst/>
          </a:prstGeom>
          <a:noFill/>
        </p:spPr>
        <p:txBody>
          <a:bodyPr wrap="square" rtlCol="0" anchor="ctr">
            <a:normAutofit/>
          </a:bodyPr>
          <a:lstStyle/>
          <a:p>
            <a:pPr algn="ctr">
              <a:buNone/>
            </a:pPr>
            <a:r>
              <a:rPr lang="en-US" sz="2000" dirty="0">
                <a:solidFill>
                  <a:srgbClr val="333333"/>
                </a:solidFill>
                <a:latin typeface="Inter Medium" pitchFamily="34" charset="0"/>
                <a:ea typeface="Inter Medium" pitchFamily="34" charset="-122"/>
                <a:cs typeface="Inter Medium" pitchFamily="34" charset="-120"/>
              </a:rPr>
              <a:t>WAPE</a:t>
            </a:r>
            <a:endParaRPr lang="en-US" dirty="0"/>
          </a:p>
        </p:txBody>
      </p:sp>
      <p:sp>
        <p:nvSpPr>
          <p:cNvPr id="8" name="Object 7"/>
          <p:cNvSpPr/>
          <p:nvPr/>
        </p:nvSpPr>
        <p:spPr>
          <a:xfrm>
            <a:off x="476131" y="2283424"/>
            <a:ext cx="3745563" cy="924195"/>
          </a:xfrm>
          <a:prstGeom prst="rect">
            <a:avLst/>
          </a:prstGeom>
          <a:noFill/>
        </p:spPr>
        <p:txBody>
          <a:bodyPr wrap="square" rtlCol="0" anchor="ctr">
            <a:normAutofit/>
          </a:bodyPr>
          <a:lstStyle/>
          <a:p>
            <a:pPr algn="ctr">
              <a:buNone/>
            </a:pPr>
            <a:r>
              <a:rPr lang="en-US" sz="2000" dirty="0">
                <a:solidFill>
                  <a:srgbClr val="333333"/>
                </a:solidFill>
                <a:latin typeface="Inter Medium" pitchFamily="34" charset="0"/>
                <a:ea typeface="Inter Medium" pitchFamily="34" charset="-122"/>
                <a:cs typeface="Inter Medium" pitchFamily="34" charset="-120"/>
              </a:rPr>
              <a:t>Linear OLS Uplift</a:t>
            </a:r>
            <a:endParaRPr lang="en-US" dirty="0"/>
          </a:p>
        </p:txBody>
      </p:sp>
      <p:sp>
        <p:nvSpPr>
          <p:cNvPr id="9" name="Object 8"/>
          <p:cNvSpPr/>
          <p:nvPr/>
        </p:nvSpPr>
        <p:spPr>
          <a:xfrm>
            <a:off x="4221694" y="2283424"/>
            <a:ext cx="3745563" cy="924195"/>
          </a:xfrm>
          <a:prstGeom prst="rect">
            <a:avLst/>
          </a:prstGeom>
          <a:noFill/>
        </p:spPr>
        <p:txBody>
          <a:bodyPr wrap="square" rtlCol="0" anchor="ctr">
            <a:normAutofit/>
          </a:bodyPr>
          <a:lstStyle/>
          <a:p>
            <a:pPr algn="ctr">
              <a:buNone/>
            </a:pPr>
            <a:r>
              <a:rPr lang="en-US" sz="2000" dirty="0">
                <a:solidFill>
                  <a:srgbClr val="333333"/>
                </a:solidFill>
                <a:latin typeface="Inter Medium" pitchFamily="34" charset="0"/>
                <a:ea typeface="Inter Medium" pitchFamily="34" charset="-122"/>
                <a:cs typeface="Inter Medium" pitchFamily="34" charset="-120"/>
              </a:rPr>
              <a:t>-0.608</a:t>
            </a:r>
            <a:endParaRPr lang="en-US" dirty="0"/>
          </a:p>
        </p:txBody>
      </p:sp>
      <p:sp>
        <p:nvSpPr>
          <p:cNvPr id="10" name="Object 9"/>
          <p:cNvSpPr/>
          <p:nvPr/>
        </p:nvSpPr>
        <p:spPr>
          <a:xfrm>
            <a:off x="7967258" y="2283424"/>
            <a:ext cx="3745563" cy="924195"/>
          </a:xfrm>
          <a:prstGeom prst="rect">
            <a:avLst/>
          </a:prstGeom>
          <a:noFill/>
        </p:spPr>
        <p:txBody>
          <a:bodyPr wrap="square" rtlCol="0" anchor="ctr">
            <a:normAutofit/>
          </a:bodyPr>
          <a:lstStyle/>
          <a:p>
            <a:pPr algn="ctr">
              <a:buNone/>
            </a:pPr>
            <a:r>
              <a:rPr lang="en-US" sz="2000" dirty="0">
                <a:solidFill>
                  <a:srgbClr val="333333"/>
                </a:solidFill>
                <a:latin typeface="Inter Medium" pitchFamily="34" charset="0"/>
                <a:ea typeface="Inter Medium" pitchFamily="34" charset="-122"/>
                <a:cs typeface="Inter Medium" pitchFamily="34" charset="-120"/>
              </a:rPr>
              <a:t>112.18%</a:t>
            </a:r>
            <a:endParaRPr lang="en-US" dirty="0"/>
          </a:p>
        </p:txBody>
      </p:sp>
      <p:sp>
        <p:nvSpPr>
          <p:cNvPr id="11" name="Object 10"/>
          <p:cNvSpPr/>
          <p:nvPr/>
        </p:nvSpPr>
        <p:spPr>
          <a:xfrm>
            <a:off x="476131" y="3207619"/>
            <a:ext cx="3745563" cy="924195"/>
          </a:xfrm>
          <a:prstGeom prst="rect">
            <a:avLst/>
          </a:prstGeom>
          <a:noFill/>
        </p:spPr>
        <p:txBody>
          <a:bodyPr wrap="square" rtlCol="0" anchor="ctr">
            <a:normAutofit/>
          </a:bodyPr>
          <a:lstStyle/>
          <a:p>
            <a:pPr algn="ctr">
              <a:buNone/>
            </a:pPr>
            <a:r>
              <a:rPr lang="en-US" sz="2000" dirty="0">
                <a:solidFill>
                  <a:srgbClr val="333333"/>
                </a:solidFill>
                <a:latin typeface="Inter Medium" pitchFamily="34" charset="0"/>
                <a:ea typeface="Inter Medium" pitchFamily="34" charset="-122"/>
                <a:cs typeface="Inter Medium" pitchFamily="34" charset="-120"/>
              </a:rPr>
              <a:t>XGBoost Two-Stage Uplift</a:t>
            </a:r>
            <a:endParaRPr lang="en-US" dirty="0"/>
          </a:p>
        </p:txBody>
      </p:sp>
      <p:sp>
        <p:nvSpPr>
          <p:cNvPr id="12" name="Object 11"/>
          <p:cNvSpPr/>
          <p:nvPr/>
        </p:nvSpPr>
        <p:spPr>
          <a:xfrm>
            <a:off x="4221694" y="3207619"/>
            <a:ext cx="3745563" cy="924195"/>
          </a:xfrm>
          <a:prstGeom prst="rect">
            <a:avLst/>
          </a:prstGeom>
          <a:noFill/>
        </p:spPr>
        <p:txBody>
          <a:bodyPr wrap="square" rtlCol="0" anchor="ctr">
            <a:normAutofit/>
          </a:bodyPr>
          <a:lstStyle/>
          <a:p>
            <a:pPr algn="ctr">
              <a:buNone/>
            </a:pPr>
            <a:r>
              <a:rPr lang="en-US" sz="2000" dirty="0">
                <a:solidFill>
                  <a:srgbClr val="333333"/>
                </a:solidFill>
                <a:latin typeface="Inter Medium" pitchFamily="34" charset="0"/>
                <a:ea typeface="Inter Medium" pitchFamily="34" charset="-122"/>
                <a:cs typeface="Inter Medium" pitchFamily="34" charset="-120"/>
              </a:rPr>
              <a:t>0.328</a:t>
            </a:r>
            <a:endParaRPr lang="en-US" dirty="0"/>
          </a:p>
        </p:txBody>
      </p:sp>
      <p:sp>
        <p:nvSpPr>
          <p:cNvPr id="13" name="Object 12"/>
          <p:cNvSpPr/>
          <p:nvPr/>
        </p:nvSpPr>
        <p:spPr>
          <a:xfrm>
            <a:off x="7967258" y="3207619"/>
            <a:ext cx="3745563" cy="924195"/>
          </a:xfrm>
          <a:prstGeom prst="rect">
            <a:avLst/>
          </a:prstGeom>
          <a:noFill/>
        </p:spPr>
        <p:txBody>
          <a:bodyPr wrap="square" rtlCol="0" anchor="ctr">
            <a:normAutofit/>
          </a:bodyPr>
          <a:lstStyle/>
          <a:p>
            <a:pPr algn="ctr">
              <a:buNone/>
            </a:pPr>
            <a:r>
              <a:rPr lang="en-US" sz="2000" dirty="0">
                <a:solidFill>
                  <a:srgbClr val="333333"/>
                </a:solidFill>
                <a:latin typeface="Inter Medium" pitchFamily="34" charset="0"/>
                <a:ea typeface="Inter Medium" pitchFamily="34" charset="-122"/>
                <a:cs typeface="Inter Medium" pitchFamily="34" charset="-120"/>
              </a:rPr>
              <a:t>85.78%</a:t>
            </a:r>
            <a:endParaRPr lang="en-US" dirty="0"/>
          </a:p>
        </p:txBody>
      </p:sp>
      <p:sp>
        <p:nvSpPr>
          <p:cNvPr id="14" name="Object 13"/>
          <p:cNvSpPr/>
          <p:nvPr/>
        </p:nvSpPr>
        <p:spPr>
          <a:xfrm>
            <a:off x="476131" y="4131814"/>
            <a:ext cx="3745563" cy="924195"/>
          </a:xfrm>
          <a:prstGeom prst="rect">
            <a:avLst/>
          </a:prstGeom>
          <a:noFill/>
        </p:spPr>
        <p:txBody>
          <a:bodyPr wrap="square" rtlCol="0" anchor="ctr">
            <a:normAutofit/>
          </a:bodyPr>
          <a:lstStyle/>
          <a:p>
            <a:pPr algn="ctr">
              <a:buNone/>
            </a:pPr>
            <a:r>
              <a:rPr lang="en-US" sz="2000" dirty="0">
                <a:solidFill>
                  <a:srgbClr val="333333"/>
                </a:solidFill>
                <a:latin typeface="Inter Medium" pitchFamily="34" charset="0"/>
                <a:ea typeface="Inter Medium" pitchFamily="34" charset="-122"/>
                <a:cs typeface="Inter Medium" pitchFamily="34" charset="-120"/>
              </a:rPr>
              <a:t>HistGradientBoosting (Squared Error)</a:t>
            </a:r>
            <a:endParaRPr lang="en-US" dirty="0"/>
          </a:p>
        </p:txBody>
      </p:sp>
      <p:sp>
        <p:nvSpPr>
          <p:cNvPr id="15" name="Object 14"/>
          <p:cNvSpPr/>
          <p:nvPr/>
        </p:nvSpPr>
        <p:spPr>
          <a:xfrm>
            <a:off x="4221694" y="4131814"/>
            <a:ext cx="3745563" cy="924195"/>
          </a:xfrm>
          <a:prstGeom prst="rect">
            <a:avLst/>
          </a:prstGeom>
          <a:noFill/>
        </p:spPr>
        <p:txBody>
          <a:bodyPr wrap="square" rtlCol="0" anchor="ctr">
            <a:normAutofit/>
          </a:bodyPr>
          <a:lstStyle/>
          <a:p>
            <a:pPr algn="ctr">
              <a:buNone/>
            </a:pPr>
            <a:r>
              <a:rPr lang="en-US" sz="2000" dirty="0">
                <a:solidFill>
                  <a:srgbClr val="333333"/>
                </a:solidFill>
                <a:latin typeface="Inter Medium" pitchFamily="34" charset="0"/>
                <a:ea typeface="Inter Medium" pitchFamily="34" charset="-122"/>
                <a:cs typeface="Inter Medium" pitchFamily="34" charset="-120"/>
              </a:rPr>
              <a:t>0.413</a:t>
            </a:r>
            <a:endParaRPr lang="en-US" dirty="0"/>
          </a:p>
        </p:txBody>
      </p:sp>
      <p:sp>
        <p:nvSpPr>
          <p:cNvPr id="16" name="Object 15"/>
          <p:cNvSpPr/>
          <p:nvPr/>
        </p:nvSpPr>
        <p:spPr>
          <a:xfrm>
            <a:off x="7967258" y="4131814"/>
            <a:ext cx="3745563" cy="924195"/>
          </a:xfrm>
          <a:prstGeom prst="rect">
            <a:avLst/>
          </a:prstGeom>
          <a:noFill/>
        </p:spPr>
        <p:txBody>
          <a:bodyPr wrap="square" rtlCol="0" anchor="ctr">
            <a:normAutofit/>
          </a:bodyPr>
          <a:lstStyle/>
          <a:p>
            <a:pPr algn="ctr">
              <a:buNone/>
            </a:pPr>
            <a:r>
              <a:rPr lang="en-US" sz="2000" dirty="0">
                <a:solidFill>
                  <a:srgbClr val="333333"/>
                </a:solidFill>
                <a:latin typeface="Inter Medium" pitchFamily="34" charset="0"/>
                <a:ea typeface="Inter Medium" pitchFamily="34" charset="-122"/>
                <a:cs typeface="Inter Medium" pitchFamily="34" charset="-120"/>
              </a:rPr>
              <a:t>80.65%</a:t>
            </a:r>
            <a:endParaRPr lang="en-US" dirty="0"/>
          </a:p>
        </p:txBody>
      </p:sp>
      <p:sp>
        <p:nvSpPr>
          <p:cNvPr id="17" name="Object 16"/>
          <p:cNvSpPr/>
          <p:nvPr/>
        </p:nvSpPr>
        <p:spPr>
          <a:xfrm>
            <a:off x="476131" y="5056009"/>
            <a:ext cx="3745563" cy="924195"/>
          </a:xfrm>
          <a:prstGeom prst="rect">
            <a:avLst/>
          </a:prstGeom>
          <a:noFill/>
        </p:spPr>
        <p:txBody>
          <a:bodyPr wrap="square" rtlCol="0" anchor="ctr">
            <a:normAutofit/>
          </a:bodyPr>
          <a:lstStyle/>
          <a:p>
            <a:pPr algn="ctr">
              <a:buNone/>
            </a:pPr>
            <a:r>
              <a:rPr lang="en-US" sz="2000" dirty="0">
                <a:solidFill>
                  <a:srgbClr val="333333"/>
                </a:solidFill>
                <a:latin typeface="Inter Medium" pitchFamily="34" charset="0"/>
                <a:ea typeface="Inter Medium" pitchFamily="34" charset="-122"/>
                <a:cs typeface="Inter Medium" pitchFamily="34" charset="-120"/>
              </a:rPr>
              <a:t>HistGradientBoosting Poisson + Log-Uplift</a:t>
            </a:r>
            <a:endParaRPr lang="en-US" dirty="0"/>
          </a:p>
        </p:txBody>
      </p:sp>
      <p:sp>
        <p:nvSpPr>
          <p:cNvPr id="18" name="Object 17"/>
          <p:cNvSpPr/>
          <p:nvPr/>
        </p:nvSpPr>
        <p:spPr>
          <a:xfrm>
            <a:off x="4221694" y="5056009"/>
            <a:ext cx="3745563" cy="924195"/>
          </a:xfrm>
          <a:prstGeom prst="rect">
            <a:avLst/>
          </a:prstGeom>
          <a:noFill/>
        </p:spPr>
        <p:txBody>
          <a:bodyPr wrap="square" rtlCol="0" anchor="ctr">
            <a:normAutofit/>
          </a:bodyPr>
          <a:lstStyle/>
          <a:p>
            <a:pPr algn="ctr">
              <a:buNone/>
            </a:pPr>
            <a:r>
              <a:rPr lang="en-US" sz="2000" dirty="0">
                <a:solidFill>
                  <a:srgbClr val="333333"/>
                </a:solidFill>
                <a:latin typeface="Inter Medium" pitchFamily="34" charset="0"/>
                <a:ea typeface="Inter Medium" pitchFamily="34" charset="-122"/>
                <a:cs typeface="Inter Medium" pitchFamily="34" charset="-120"/>
              </a:rPr>
              <a:t>0.296</a:t>
            </a:r>
            <a:endParaRPr lang="en-US" dirty="0"/>
          </a:p>
        </p:txBody>
      </p:sp>
      <p:sp>
        <p:nvSpPr>
          <p:cNvPr id="19" name="Object 18"/>
          <p:cNvSpPr/>
          <p:nvPr/>
        </p:nvSpPr>
        <p:spPr>
          <a:xfrm>
            <a:off x="7967258" y="5056009"/>
            <a:ext cx="3745563" cy="924195"/>
          </a:xfrm>
          <a:prstGeom prst="rect">
            <a:avLst/>
          </a:prstGeom>
          <a:noFill/>
        </p:spPr>
        <p:txBody>
          <a:bodyPr wrap="square" rtlCol="0" anchor="ctr">
            <a:normAutofit/>
          </a:bodyPr>
          <a:lstStyle/>
          <a:p>
            <a:pPr algn="ctr">
              <a:buNone/>
            </a:pPr>
            <a:r>
              <a:rPr lang="en-US" sz="2000" dirty="0">
                <a:solidFill>
                  <a:srgbClr val="333333"/>
                </a:solidFill>
                <a:latin typeface="Inter Medium" pitchFamily="34" charset="0"/>
                <a:ea typeface="Inter Medium" pitchFamily="34" charset="-122"/>
                <a:cs typeface="Inter Medium" pitchFamily="34" charset="-120"/>
              </a:rPr>
              <a:t>75.00%</a:t>
            </a:r>
            <a:endParaRPr lang="en-US" dirty="0"/>
          </a:p>
        </p:txBody>
      </p:sp>
      <p:sp>
        <p:nvSpPr>
          <p:cNvPr id="20" name="Object 19"/>
          <p:cNvSpPr/>
          <p:nvPr/>
        </p:nvSpPr>
        <p:spPr>
          <a:xfrm>
            <a:off x="11760434" y="6496211"/>
            <a:ext cx="238028" cy="237693"/>
          </a:xfrm>
          <a:prstGeom prst="rect">
            <a:avLst/>
          </a:prstGeom>
          <a:noFill/>
        </p:spPr>
        <p:txBody>
          <a:bodyPr/>
          <a:lstStyle/>
          <a:p>
            <a:endParaRPr lang="en-GB"/>
          </a:p>
        </p:txBody>
      </p:sp>
      <p:sp>
        <p:nvSpPr>
          <p:cNvPr id="21" name="Object 20"/>
          <p:cNvSpPr/>
          <p:nvPr/>
        </p:nvSpPr>
        <p:spPr>
          <a:xfrm>
            <a:off x="-476131" y="6121444"/>
            <a:ext cx="12188915" cy="211246"/>
          </a:xfrm>
          <a:prstGeom prst="rect">
            <a:avLst/>
          </a:prstGeom>
          <a:noFill/>
        </p:spPr>
        <p:txBody>
          <a:bodyPr wrap="square" lIns="0" tIns="0" rIns="0" bIns="0" rtlCol="0" anchor="t"/>
          <a:lstStyle/>
          <a:p>
            <a:pPr algn="r">
              <a:lnSpc>
                <a:spcPts val="1664"/>
              </a:lnSpc>
              <a:buNone/>
            </a:pPr>
            <a:r>
              <a:rPr lang="en-US" sz="1200" kern="0" spc="-24" dirty="0">
                <a:solidFill>
                  <a:srgbClr val="000000">
                    <a:alpha val="56000"/>
                  </a:srgbClr>
                </a:solidFill>
                <a:latin typeface="Inter" pitchFamily="34" charset="0"/>
                <a:ea typeface="Inter" pitchFamily="34" charset="-122"/>
                <a:cs typeface="Inter" pitchFamily="34" charset="-120"/>
              </a:rPr>
              <a:t>*Based on the model performance metrics reported in the context provided.</a:t>
            </a:r>
            <a:endParaRPr lang="en-US" dirty="0"/>
          </a:p>
        </p:txBody>
      </p:sp>
      <p:pic>
        <p:nvPicPr>
          <p:cNvPr id="22" name="Object 21"/>
          <p:cNvPicPr>
            <a:picLocks noChangeAspect="1"/>
          </p:cNvPicPr>
          <p:nvPr/>
        </p:nvPicPr>
        <p:blipFill>
          <a:blip r:embed="rId7"/>
          <a:stretch>
            <a:fillRect/>
          </a:stretch>
        </p:blipFill>
        <p:spPr>
          <a:xfrm>
            <a:off x="0" y="0"/>
            <a:ext cx="12188952" cy="6856286"/>
          </a:xfrm>
          <a:prstGeom prst="rect">
            <a:avLst/>
          </a:prstGeom>
        </p:spPr>
      </p:pic>
      <p:sp>
        <p:nvSpPr>
          <p:cNvPr id="23" name="Object 22"/>
          <p:cNvSpPr/>
          <p:nvPr/>
        </p:nvSpPr>
        <p:spPr>
          <a:xfrm>
            <a:off x="0" y="374246"/>
            <a:ext cx="12188915" cy="556069"/>
          </a:xfrm>
          <a:prstGeom prst="rect">
            <a:avLst/>
          </a:prstGeom>
          <a:noFill/>
        </p:spPr>
        <p:txBody>
          <a:bodyPr wrap="square" lIns="0" tIns="0" rIns="0" bIns="0" rtlCol="0" anchor="t"/>
          <a:lstStyle/>
          <a:p>
            <a:pPr algn="ctr">
              <a:lnSpc>
                <a:spcPts val="4380"/>
              </a:lnSpc>
              <a:buNone/>
            </a:pPr>
            <a:r>
              <a:rPr lang="en-US" sz="3750" b="1" kern="0" spc="-225" dirty="0">
                <a:solidFill>
                  <a:srgbClr val="333333"/>
                </a:solidFill>
                <a:latin typeface="Inter" pitchFamily="34" charset="0"/>
                <a:ea typeface="Inter" pitchFamily="34" charset="-122"/>
                <a:cs typeface="Inter" pitchFamily="34" charset="-120"/>
              </a:rPr>
              <a:t>Model Comparison</a:t>
            </a:r>
            <a:endParaRPr lang="en-US" dirty="0"/>
          </a:p>
        </p:txBody>
      </p:sp>
      <p:sp>
        <p:nvSpPr>
          <p:cNvPr id="25" name="Slide Number Placeholder 24"/>
          <p:cNvSpPr>
            <a:spLocks noGrp="1"/>
          </p:cNvSpPr>
          <p:nvPr>
            <p:ph type="sldNum" sz="quarter" idx="12"/>
          </p:nvPr>
        </p:nvSpPr>
        <p:spPr>
          <a:xfrm>
            <a:off x="11826240" y="6515100"/>
            <a:ext cx="800000" cy="300000"/>
          </a:xfrm>
          <a:prstGeom prst="rect">
            <a:avLst/>
          </a:prstGeom>
          <a:extLst>
            <a:ext uri="{C572A759-6A51-4108-AA02-DFA0A04FC94B}">
              <ma14:wrappingTextBoxFlag xmlns:ma14="http://schemas.microsoft.com/office/mac/drawingml/2011/main" xmlns="" val="0"/>
            </a:ext>
          </a:extLst>
        </p:spPr>
        <p:txBody>
          <a:bodyPr/>
          <a:lstStyle>
            <a:lvl1pPr>
              <a:defRPr sz="1100"/>
            </a:lvl1pPr>
          </a:lstStyle>
          <a:p>
            <a:fld id="{F7021451-1387-4CA6-816F-3879F97B5CBC}" type="slidenum">
              <a:rPr lang="en-US" smtClean="0"/>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4">
    <p:bg>
      <p:bgPr>
        <a:solidFill>
          <a:srgbClr val="222222"/>
        </a:solidFill>
        <a:effectLst/>
      </p:bgPr>
    </p:bg>
    <p:spTree>
      <p:nvGrpSpPr>
        <p:cNvPr id="1" name=""/>
        <p:cNvGrpSpPr/>
        <p:nvPr/>
      </p:nvGrpSpPr>
      <p:grpSpPr>
        <a:xfrm>
          <a:off x="0" y="0"/>
          <a:ext cx="0" cy="0"/>
          <a:chOff x="0" y="0"/>
          <a:chExt cx="0" cy="0"/>
        </a:xfrm>
      </p:grpSpPr>
      <p:sp>
        <p:nvSpPr>
          <p:cNvPr id="2" name="Object 1"/>
          <p:cNvSpPr/>
          <p:nvPr/>
        </p:nvSpPr>
        <p:spPr>
          <a:xfrm>
            <a:off x="0" y="374246"/>
            <a:ext cx="12188915" cy="556069"/>
          </a:xfrm>
          <a:prstGeom prst="rect">
            <a:avLst/>
          </a:prstGeom>
          <a:noFill/>
        </p:spPr>
        <p:txBody>
          <a:bodyPr wrap="square" lIns="0" tIns="0" rIns="0" bIns="0" rtlCol="0" anchor="t"/>
          <a:lstStyle/>
          <a:p>
            <a:pPr algn="ctr">
              <a:lnSpc>
                <a:spcPts val="4380"/>
              </a:lnSpc>
              <a:buNone/>
            </a:pPr>
            <a:r>
              <a:rPr lang="en-US" sz="3750" b="1" kern="0" spc="-225" dirty="0">
                <a:solidFill>
                  <a:srgbClr val="FFFFFF"/>
                </a:solidFill>
                <a:latin typeface="Inter" pitchFamily="34" charset="0"/>
                <a:ea typeface="Inter" pitchFamily="34" charset="-122"/>
                <a:cs typeface="Inter" pitchFamily="34" charset="-120"/>
              </a:rPr>
              <a:t>Limitations &amp; Challenges</a:t>
            </a:r>
            <a:endParaRPr lang="en-US" dirty="0"/>
          </a:p>
        </p:txBody>
      </p:sp>
      <p:sp>
        <p:nvSpPr>
          <p:cNvPr id="3" name="Object 2"/>
          <p:cNvSpPr/>
          <p:nvPr/>
        </p:nvSpPr>
        <p:spPr>
          <a:xfrm>
            <a:off x="1476006" y="1590277"/>
            <a:ext cx="1428393" cy="1428393"/>
          </a:xfrm>
          <a:prstGeom prst="ellipse">
            <a:avLst/>
          </a:prstGeom>
          <a:solidFill>
            <a:srgbClr val="22AAEE"/>
          </a:solidFill>
        </p:spPr>
        <p:txBody>
          <a:bodyPr/>
          <a:lstStyle/>
          <a:p>
            <a:endParaRPr lang="en-GB"/>
          </a:p>
        </p:txBody>
      </p:sp>
      <p:pic>
        <p:nvPicPr>
          <p:cNvPr id="4" name="Object 3"/>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47428" y="1986358"/>
            <a:ext cx="485654" cy="638015"/>
          </a:xfrm>
          <a:prstGeom prst="rect">
            <a:avLst/>
          </a:prstGeom>
        </p:spPr>
      </p:pic>
      <p:sp>
        <p:nvSpPr>
          <p:cNvPr id="5" name="Object 4"/>
          <p:cNvSpPr/>
          <p:nvPr/>
        </p:nvSpPr>
        <p:spPr>
          <a:xfrm>
            <a:off x="414710" y="3112632"/>
            <a:ext cx="3550985" cy="266931"/>
          </a:xfrm>
          <a:prstGeom prst="rect">
            <a:avLst/>
          </a:prstGeom>
          <a:noFill/>
        </p:spPr>
        <p:txBody>
          <a:bodyPr wrap="square" lIns="0" tIns="0" rIns="0" bIns="0" rtlCol="0" anchor="t"/>
          <a:lstStyle/>
          <a:p>
            <a:pPr algn="ctr">
              <a:lnSpc>
                <a:spcPts val="2102"/>
              </a:lnSpc>
              <a:buNone/>
            </a:pPr>
            <a:r>
              <a:rPr lang="en-US" sz="1800" b="1" kern="0" spc="-108" dirty="0">
                <a:solidFill>
                  <a:srgbClr val="FFFFFF"/>
                </a:solidFill>
                <a:latin typeface="Inter" pitchFamily="34" charset="0"/>
                <a:ea typeface="Inter" pitchFamily="34" charset="-122"/>
                <a:cs typeface="Inter" pitchFamily="34" charset="-120"/>
              </a:rPr>
              <a:t>Sparse Sales Distribution</a:t>
            </a:r>
            <a:endParaRPr lang="en-US" dirty="0"/>
          </a:p>
        </p:txBody>
      </p:sp>
      <p:sp>
        <p:nvSpPr>
          <p:cNvPr id="6" name="Object 5"/>
          <p:cNvSpPr/>
          <p:nvPr/>
        </p:nvSpPr>
        <p:spPr>
          <a:xfrm>
            <a:off x="414710" y="3457120"/>
            <a:ext cx="3550985" cy="1584846"/>
          </a:xfrm>
          <a:prstGeom prst="rect">
            <a:avLst/>
          </a:prstGeom>
          <a:noFill/>
        </p:spPr>
        <p:txBody>
          <a:bodyPr wrap="square" lIns="0" tIns="0" rIns="0" bIns="0" rtlCol="0" anchor="t"/>
          <a:lstStyle/>
          <a:p>
            <a:pPr algn="ctr">
              <a:lnSpc>
                <a:spcPts val="2081"/>
              </a:lnSpc>
              <a:spcBef>
                <a:spcPts val="599"/>
              </a:spcBef>
              <a:buNone/>
            </a:pPr>
            <a:r>
              <a:rPr lang="en-US" sz="1500" kern="0" spc="-30" dirty="0">
                <a:solidFill>
                  <a:srgbClr val="FFFFFF">
                    <a:alpha val="80000"/>
                  </a:srgbClr>
                </a:solidFill>
                <a:latin typeface="Inter" pitchFamily="34" charset="0"/>
                <a:ea typeface="Inter" pitchFamily="34" charset="-122"/>
                <a:cs typeface="Inter" pitchFamily="34" charset="-120"/>
              </a:rPr>
              <a:t>The dataset is dominated by slow-moving items, with 86% of products selling less than 3.875 units per store-week on average during non-promo periods. This sparsity poses challenges for accurately modeling sales patterns.</a:t>
            </a:r>
            <a:endParaRPr lang="en-US" dirty="0"/>
          </a:p>
        </p:txBody>
      </p:sp>
      <p:sp>
        <p:nvSpPr>
          <p:cNvPr id="7" name="Object 6"/>
          <p:cNvSpPr/>
          <p:nvPr/>
        </p:nvSpPr>
        <p:spPr>
          <a:xfrm>
            <a:off x="5380280" y="1590277"/>
            <a:ext cx="1428393" cy="1428393"/>
          </a:xfrm>
          <a:prstGeom prst="ellipse">
            <a:avLst/>
          </a:prstGeom>
          <a:solidFill>
            <a:srgbClr val="FFD9AD"/>
          </a:solidFill>
        </p:spPr>
        <p:txBody>
          <a:bodyPr/>
          <a:lstStyle/>
          <a:p>
            <a:endParaRPr lang="en-GB"/>
          </a:p>
        </p:txBody>
      </p:sp>
      <p:pic>
        <p:nvPicPr>
          <p:cNvPr id="8" name="Object 7"/>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751162" y="1986361"/>
            <a:ext cx="695151" cy="638015"/>
          </a:xfrm>
          <a:prstGeom prst="rect">
            <a:avLst/>
          </a:prstGeom>
        </p:spPr>
      </p:pic>
      <p:sp>
        <p:nvSpPr>
          <p:cNvPr id="9" name="Object 8"/>
          <p:cNvSpPr/>
          <p:nvPr/>
        </p:nvSpPr>
        <p:spPr>
          <a:xfrm>
            <a:off x="4271847" y="3112632"/>
            <a:ext cx="3645258" cy="266931"/>
          </a:xfrm>
          <a:prstGeom prst="rect">
            <a:avLst/>
          </a:prstGeom>
          <a:noFill/>
        </p:spPr>
        <p:txBody>
          <a:bodyPr wrap="square" lIns="0" tIns="0" rIns="0" bIns="0" rtlCol="0" anchor="t"/>
          <a:lstStyle/>
          <a:p>
            <a:pPr algn="ctr">
              <a:lnSpc>
                <a:spcPts val="2102"/>
              </a:lnSpc>
              <a:buNone/>
            </a:pPr>
            <a:r>
              <a:rPr lang="en-US" sz="1800" b="1" kern="0" spc="-108" dirty="0">
                <a:solidFill>
                  <a:srgbClr val="FFFFFF"/>
                </a:solidFill>
                <a:latin typeface="Inter" pitchFamily="34" charset="0"/>
                <a:ea typeface="Inter" pitchFamily="34" charset="-122"/>
                <a:cs typeface="Inter" pitchFamily="34" charset="-120"/>
              </a:rPr>
              <a:t>Extreme Outliers</a:t>
            </a:r>
            <a:endParaRPr lang="en-US" dirty="0"/>
          </a:p>
        </p:txBody>
      </p:sp>
      <p:sp>
        <p:nvSpPr>
          <p:cNvPr id="10" name="Object 9"/>
          <p:cNvSpPr/>
          <p:nvPr/>
        </p:nvSpPr>
        <p:spPr>
          <a:xfrm>
            <a:off x="4271847" y="3457120"/>
            <a:ext cx="3645258" cy="1584846"/>
          </a:xfrm>
          <a:prstGeom prst="rect">
            <a:avLst/>
          </a:prstGeom>
          <a:noFill/>
        </p:spPr>
        <p:txBody>
          <a:bodyPr wrap="square" lIns="0" tIns="0" rIns="0" bIns="0" rtlCol="0" anchor="t"/>
          <a:lstStyle/>
          <a:p>
            <a:pPr algn="ctr">
              <a:lnSpc>
                <a:spcPts val="2081"/>
              </a:lnSpc>
              <a:spcBef>
                <a:spcPts val="599"/>
              </a:spcBef>
              <a:buNone/>
            </a:pPr>
            <a:r>
              <a:rPr lang="en-US" sz="1500" kern="0" spc="-30" dirty="0">
                <a:solidFill>
                  <a:srgbClr val="FFFFFF">
                    <a:alpha val="80000"/>
                  </a:srgbClr>
                </a:solidFill>
                <a:latin typeface="Inter" pitchFamily="34" charset="0"/>
                <a:ea typeface="Inter" pitchFamily="34" charset="-122"/>
                <a:cs typeface="Inter" pitchFamily="34" charset="-120"/>
              </a:rPr>
              <a:t>The data contains notable outliers, including single-day spikes of up to 912 units and extreme negative values down to -60 units. These anomalies can skew model performance and need to be carefully handled.</a:t>
            </a:r>
            <a:endParaRPr lang="en-US" dirty="0"/>
          </a:p>
        </p:txBody>
      </p:sp>
      <p:sp>
        <p:nvSpPr>
          <p:cNvPr id="11" name="Object 10"/>
          <p:cNvSpPr/>
          <p:nvPr/>
        </p:nvSpPr>
        <p:spPr>
          <a:xfrm>
            <a:off x="9284553" y="1590277"/>
            <a:ext cx="1428393" cy="1428393"/>
          </a:xfrm>
          <a:prstGeom prst="ellipse">
            <a:avLst/>
          </a:prstGeom>
          <a:solidFill>
            <a:srgbClr val="FEC088"/>
          </a:solidFill>
        </p:spPr>
        <p:txBody>
          <a:bodyPr/>
          <a:lstStyle/>
          <a:p>
            <a:endParaRPr lang="en-GB"/>
          </a:p>
        </p:txBody>
      </p:sp>
      <p:pic>
        <p:nvPicPr>
          <p:cNvPr id="12" name="Object 11"/>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63830" y="2003099"/>
            <a:ext cx="657061" cy="628493"/>
          </a:xfrm>
          <a:prstGeom prst="rect">
            <a:avLst/>
          </a:prstGeom>
        </p:spPr>
      </p:pic>
      <p:sp>
        <p:nvSpPr>
          <p:cNvPr id="13" name="Object 12"/>
          <p:cNvSpPr/>
          <p:nvPr/>
        </p:nvSpPr>
        <p:spPr>
          <a:xfrm>
            <a:off x="8139460" y="3112632"/>
            <a:ext cx="3718542" cy="266931"/>
          </a:xfrm>
          <a:prstGeom prst="rect">
            <a:avLst/>
          </a:prstGeom>
          <a:noFill/>
        </p:spPr>
        <p:txBody>
          <a:bodyPr wrap="square" lIns="0" tIns="0" rIns="0" bIns="0" rtlCol="0" anchor="t"/>
          <a:lstStyle/>
          <a:p>
            <a:pPr algn="ctr">
              <a:lnSpc>
                <a:spcPts val="2102"/>
              </a:lnSpc>
              <a:buNone/>
            </a:pPr>
            <a:r>
              <a:rPr lang="en-US" sz="1800" b="1" kern="0" spc="-108" dirty="0">
                <a:solidFill>
                  <a:srgbClr val="FFFFFF"/>
                </a:solidFill>
                <a:latin typeface="Inter" pitchFamily="34" charset="0"/>
                <a:ea typeface="Inter" pitchFamily="34" charset="-122"/>
                <a:cs typeface="Inter" pitchFamily="34" charset="-120"/>
              </a:rPr>
              <a:t>Overfitting Risks</a:t>
            </a:r>
            <a:endParaRPr lang="en-US" dirty="0"/>
          </a:p>
        </p:txBody>
      </p:sp>
      <p:sp>
        <p:nvSpPr>
          <p:cNvPr id="14" name="Object 13"/>
          <p:cNvSpPr/>
          <p:nvPr/>
        </p:nvSpPr>
        <p:spPr>
          <a:xfrm>
            <a:off x="8139460" y="3457120"/>
            <a:ext cx="3718542" cy="1848988"/>
          </a:xfrm>
          <a:prstGeom prst="rect">
            <a:avLst/>
          </a:prstGeom>
          <a:noFill/>
        </p:spPr>
        <p:txBody>
          <a:bodyPr wrap="square" lIns="0" tIns="0" rIns="0" bIns="0" rtlCol="0" anchor="t"/>
          <a:lstStyle/>
          <a:p>
            <a:pPr algn="ctr">
              <a:lnSpc>
                <a:spcPts val="2081"/>
              </a:lnSpc>
              <a:spcBef>
                <a:spcPts val="599"/>
              </a:spcBef>
              <a:buNone/>
            </a:pPr>
            <a:r>
              <a:rPr lang="en-US" sz="1500" kern="0" spc="-30" dirty="0">
                <a:solidFill>
                  <a:srgbClr val="FFFFFF">
                    <a:alpha val="80000"/>
                  </a:srgbClr>
                </a:solidFill>
                <a:latin typeface="Inter" pitchFamily="34" charset="0"/>
                <a:ea typeface="Inter" pitchFamily="34" charset="-122"/>
                <a:cs typeface="Inter" pitchFamily="34" charset="-120"/>
              </a:rPr>
              <a:t>The baseline model achieves very high in-sample fit (R² ≈ 0.95+), raising concerns about overfitting to the training data. The model's performance drops significantly when evaluated on the hold-out Promo5-6 data, indicating poor generalization.</a:t>
            </a:r>
            <a:endParaRPr lang="en-US" dirty="0"/>
          </a:p>
        </p:txBody>
      </p:sp>
      <p:sp>
        <p:nvSpPr>
          <p:cNvPr id="15" name="Object 14"/>
          <p:cNvSpPr/>
          <p:nvPr/>
        </p:nvSpPr>
        <p:spPr>
          <a:xfrm>
            <a:off x="0" y="5713571"/>
            <a:ext cx="12188952" cy="1142714"/>
          </a:xfrm>
          <a:prstGeom prst="rect">
            <a:avLst/>
          </a:prstGeom>
          <a:solidFill>
            <a:srgbClr val="FFD9AD"/>
          </a:solidFill>
        </p:spPr>
        <p:txBody>
          <a:bodyPr/>
          <a:lstStyle/>
          <a:p>
            <a:endParaRPr lang="en-GB"/>
          </a:p>
        </p:txBody>
      </p:sp>
      <p:sp>
        <p:nvSpPr>
          <p:cNvPr id="16" name="Object 15"/>
          <p:cNvSpPr/>
          <p:nvPr/>
        </p:nvSpPr>
        <p:spPr>
          <a:xfrm>
            <a:off x="119033" y="5959523"/>
            <a:ext cx="11950887" cy="650477"/>
          </a:xfrm>
          <a:prstGeom prst="rect">
            <a:avLst/>
          </a:prstGeom>
          <a:noFill/>
        </p:spPr>
        <p:txBody>
          <a:bodyPr wrap="square" lIns="0" tIns="0" rIns="0" bIns="0" rtlCol="0" anchor="ctr"/>
          <a:lstStyle/>
          <a:p>
            <a:pPr algn="ctr">
              <a:lnSpc>
                <a:spcPts val="1709"/>
              </a:lnSpc>
              <a:buNone/>
            </a:pPr>
            <a:r>
              <a:rPr lang="en-US" sz="1463" b="1" kern="0" spc="-88" dirty="0">
                <a:solidFill>
                  <a:srgbClr val="333333"/>
                </a:solidFill>
                <a:latin typeface="Inter" pitchFamily="34" charset="0"/>
                <a:ea typeface="Inter" pitchFamily="34" charset="-122"/>
                <a:cs typeface="Inter" pitchFamily="34" charset="-120"/>
              </a:rPr>
              <a:t>The data characteristics, including sparse sales distribution, extreme outliers, and overfitting risks, present significant challenges for accurately modeling promotional impacts. Careful data preparation, feature engineering, and model validation will be crucial to develop robust and generalizable insights.</a:t>
            </a:r>
            <a:endParaRPr lang="en-US"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5">
    <p:bg>
      <p:bgPr>
        <a:solidFill>
          <a:srgbClr val="FFFFFF"/>
        </a:solidFill>
        <a:effectLst/>
      </p:bgPr>
    </p:bg>
    <p:spTree>
      <p:nvGrpSpPr>
        <p:cNvPr id="1" name=""/>
        <p:cNvGrpSpPr/>
        <p:nvPr/>
      </p:nvGrpSpPr>
      <p:grpSpPr>
        <a:xfrm>
          <a:off x="0" y="0"/>
          <a:ext cx="0" cy="0"/>
          <a:chOff x="0" y="0"/>
          <a:chExt cx="0" cy="0"/>
        </a:xfrm>
      </p:grpSpPr>
      <p:sp>
        <p:nvSpPr>
          <p:cNvPr id="2" name="Object 1"/>
          <p:cNvSpPr/>
          <p:nvPr/>
        </p:nvSpPr>
        <p:spPr>
          <a:xfrm>
            <a:off x="952262" y="2000791"/>
            <a:ext cx="5446897" cy="3585378"/>
          </a:xfrm>
          <a:prstGeom prst="rect">
            <a:avLst/>
          </a:prstGeom>
          <a:noFill/>
        </p:spPr>
        <p:txBody>
          <a:bodyPr wrap="square" lIns="0" tIns="0" rIns="0" bIns="0" rtlCol="0" anchor="t"/>
          <a:lstStyle/>
          <a:p>
            <a:pPr marL="242900" indent="-242900" algn="l">
              <a:lnSpc>
                <a:spcPts val="2207"/>
              </a:lnSpc>
              <a:buSzPct val="100000"/>
              <a:buChar char="•"/>
            </a:pPr>
            <a:r>
              <a:rPr lang="en-US" sz="1890" b="1" kern="0" spc="-113" dirty="0">
                <a:solidFill>
                  <a:srgbClr val="333333"/>
                </a:solidFill>
                <a:latin typeface="Inter" pitchFamily="34" charset="0"/>
                <a:ea typeface="Inter" pitchFamily="34" charset="-122"/>
                <a:cs typeface="Inter" pitchFamily="34" charset="-120"/>
              </a:rPr>
              <a:t>Linear model captures basic linear trends</a:t>
            </a:r>
          </a:p>
          <a:p>
            <a:pPr lvl="1" algn="l">
              <a:lnSpc>
                <a:spcPts val="1675"/>
              </a:lnSpc>
              <a:spcBef>
                <a:spcPts val="231"/>
              </a:spcBef>
              <a:buNone/>
            </a:pPr>
            <a:r>
              <a:rPr lang="en-US" sz="1208" kern="0" spc="-24" dirty="0">
                <a:solidFill>
                  <a:srgbClr val="000000">
                    <a:alpha val="56000"/>
                  </a:srgbClr>
                </a:solidFill>
                <a:latin typeface="Inter" pitchFamily="34" charset="0"/>
                <a:ea typeface="Inter" pitchFamily="34" charset="-122"/>
                <a:cs typeface="Inter" pitchFamily="34" charset="-120"/>
              </a:rPr>
              <a:t>The linear regression model provides a simple, interpretable view of the relationship between promotions and sales uplift. However, it struggles to capture non-linear patterns and complex interactions.</a:t>
            </a:r>
          </a:p>
          <a:p>
            <a:pPr marL="242900" indent="-242900" algn="l">
              <a:lnSpc>
                <a:spcPts val="2207"/>
              </a:lnSpc>
              <a:spcBef>
                <a:spcPts val="1781"/>
              </a:spcBef>
              <a:buSzPct val="100000"/>
              <a:buChar char="•"/>
            </a:pPr>
            <a:r>
              <a:rPr lang="en-US" sz="1890" b="1" kern="0" spc="-113" dirty="0">
                <a:solidFill>
                  <a:srgbClr val="333333"/>
                </a:solidFill>
                <a:latin typeface="Inter" pitchFamily="34" charset="0"/>
                <a:ea typeface="Inter" pitchFamily="34" charset="-122"/>
                <a:cs typeface="Inter" pitchFamily="34" charset="-120"/>
              </a:rPr>
              <a:t>XGBoost outperforms linear in prediction accuracy</a:t>
            </a:r>
          </a:p>
          <a:p>
            <a:pPr lvl="1" algn="l">
              <a:lnSpc>
                <a:spcPts val="1675"/>
              </a:lnSpc>
              <a:spcBef>
                <a:spcPts val="231"/>
              </a:spcBef>
              <a:buNone/>
            </a:pPr>
            <a:r>
              <a:rPr lang="en-US" sz="1208" kern="0" spc="-24" dirty="0">
                <a:solidFill>
                  <a:srgbClr val="000000">
                    <a:alpha val="56000"/>
                  </a:srgbClr>
                </a:solidFill>
                <a:latin typeface="Inter" pitchFamily="34" charset="0"/>
                <a:ea typeface="Inter" pitchFamily="34" charset="-122"/>
                <a:cs typeface="Inter" pitchFamily="34" charset="-120"/>
              </a:rPr>
              <a:t>The XGBoost model, a powerful tree-based ensemble method, is able to better capture non-linear effects and product-store interactions, resulting in improved predictive performance over the linear approach.</a:t>
            </a:r>
          </a:p>
          <a:p>
            <a:pPr marL="242900" indent="-242900" algn="l">
              <a:lnSpc>
                <a:spcPts val="2207"/>
              </a:lnSpc>
              <a:spcBef>
                <a:spcPts val="1781"/>
              </a:spcBef>
              <a:buSzPct val="100000"/>
              <a:buChar char="•"/>
            </a:pPr>
            <a:r>
              <a:rPr lang="en-US" sz="1890" b="1" kern="0" spc="-113" dirty="0">
                <a:solidFill>
                  <a:srgbClr val="333333"/>
                </a:solidFill>
                <a:latin typeface="Inter" pitchFamily="34" charset="0"/>
                <a:ea typeface="Inter" pitchFamily="34" charset="-122"/>
                <a:cs typeface="Inter" pitchFamily="34" charset="-120"/>
              </a:rPr>
              <a:t>HistGradientBoosting optimizes for promo uplift</a:t>
            </a:r>
          </a:p>
          <a:p>
            <a:pPr lvl="1" algn="l">
              <a:lnSpc>
                <a:spcPts val="1675"/>
              </a:lnSpc>
              <a:spcBef>
                <a:spcPts val="231"/>
              </a:spcBef>
              <a:buNone/>
            </a:pPr>
            <a:r>
              <a:rPr lang="en-US" sz="1208" kern="0" spc="-24" dirty="0">
                <a:solidFill>
                  <a:srgbClr val="000000">
                    <a:alpha val="56000"/>
                  </a:srgbClr>
                </a:solidFill>
                <a:latin typeface="Inter" pitchFamily="34" charset="0"/>
                <a:ea typeface="Inter" pitchFamily="34" charset="-122"/>
                <a:cs typeface="Inter" pitchFamily="34" charset="-120"/>
              </a:rPr>
              <a:t>The HistGradientBoosting model, using a Poisson log-uplift objective function, is specifically designed to predict the incremental sales impact of promotions rather than just overall sales volume.</a:t>
            </a:r>
            <a:endParaRPr lang="en-US" dirty="0"/>
          </a:p>
        </p:txBody>
      </p:sp>
      <p:sp>
        <p:nvSpPr>
          <p:cNvPr id="3" name="Object 2"/>
          <p:cNvSpPr/>
          <p:nvPr/>
        </p:nvSpPr>
        <p:spPr>
          <a:xfrm>
            <a:off x="6284928" y="2000791"/>
            <a:ext cx="5446897" cy="2406730"/>
          </a:xfrm>
          <a:prstGeom prst="rect">
            <a:avLst/>
          </a:prstGeom>
          <a:noFill/>
        </p:spPr>
        <p:txBody>
          <a:bodyPr wrap="square" lIns="0" tIns="0" rIns="0" bIns="0" rtlCol="0" anchor="t"/>
          <a:lstStyle/>
          <a:p>
            <a:pPr marL="242900" indent="-242900" algn="l">
              <a:lnSpc>
                <a:spcPts val="2207"/>
              </a:lnSpc>
              <a:buSzPct val="100000"/>
              <a:buChar char="•"/>
            </a:pPr>
            <a:r>
              <a:rPr lang="en-US" sz="1890" b="1" kern="0" spc="-113" dirty="0">
                <a:solidFill>
                  <a:srgbClr val="333333"/>
                </a:solidFill>
                <a:latin typeface="Inter" pitchFamily="34" charset="0"/>
                <a:ea typeface="Inter" pitchFamily="34" charset="-122"/>
                <a:cs typeface="Inter" pitchFamily="34" charset="-120"/>
              </a:rPr>
              <a:t>Hierarchical Bayesian model provides advanced insights</a:t>
            </a:r>
          </a:p>
          <a:p>
            <a:pPr lvl="1" algn="l">
              <a:lnSpc>
                <a:spcPts val="1675"/>
              </a:lnSpc>
              <a:spcBef>
                <a:spcPts val="231"/>
              </a:spcBef>
              <a:buNone/>
            </a:pPr>
            <a:r>
              <a:rPr lang="en-US" sz="1208" kern="0" spc="-24" dirty="0">
                <a:solidFill>
                  <a:srgbClr val="000000">
                    <a:alpha val="56000"/>
                  </a:srgbClr>
                </a:solidFill>
                <a:latin typeface="Inter" pitchFamily="34" charset="0"/>
                <a:ea typeface="Inter" pitchFamily="34" charset="-122"/>
                <a:cs typeface="Inter" pitchFamily="34" charset="-120"/>
              </a:rPr>
              <a:t>The Hierarchical Bayesian model leverages a more sophisticated statistical approach to estimate promotional uplift, accounting for hierarchical structure and providing richer managerial insights.</a:t>
            </a:r>
          </a:p>
          <a:p>
            <a:pPr marL="242900" indent="-242900" algn="l">
              <a:lnSpc>
                <a:spcPts val="2207"/>
              </a:lnSpc>
              <a:spcBef>
                <a:spcPts val="1781"/>
              </a:spcBef>
              <a:buSzPct val="100000"/>
              <a:buChar char="•"/>
            </a:pPr>
            <a:r>
              <a:rPr lang="en-US" sz="1890" b="1" kern="0" spc="-113" dirty="0">
                <a:solidFill>
                  <a:srgbClr val="333333"/>
                </a:solidFill>
                <a:latin typeface="Inter" pitchFamily="34" charset="0"/>
                <a:ea typeface="Inter" pitchFamily="34" charset="-122"/>
                <a:cs typeface="Inter" pitchFamily="34" charset="-120"/>
              </a:rPr>
              <a:t>Feature importance reveals key drivers</a:t>
            </a:r>
          </a:p>
          <a:p>
            <a:pPr lvl="1" algn="l">
              <a:lnSpc>
                <a:spcPts val="1675"/>
              </a:lnSpc>
              <a:spcBef>
                <a:spcPts val="231"/>
              </a:spcBef>
              <a:buNone/>
            </a:pPr>
            <a:r>
              <a:rPr lang="en-US" sz="1208" kern="0" spc="-24" dirty="0">
                <a:solidFill>
                  <a:srgbClr val="000000">
                    <a:alpha val="56000"/>
                  </a:srgbClr>
                </a:solidFill>
                <a:latin typeface="Inter" pitchFamily="34" charset="0"/>
                <a:ea typeface="Inter" pitchFamily="34" charset="-122"/>
                <a:cs typeface="Inter" pitchFamily="34" charset="-120"/>
              </a:rPr>
              <a:t>Permutation importance analysis across the models highlights the most impactful features for predicting promotional sales, including promo flags, lag effects, and store-product interactions.</a:t>
            </a:r>
            <a:endParaRPr lang="en-US" dirty="0"/>
          </a:p>
        </p:txBody>
      </p:sp>
      <p:sp>
        <p:nvSpPr>
          <p:cNvPr id="4" name="Object 3"/>
          <p:cNvSpPr/>
          <p:nvPr/>
        </p:nvSpPr>
        <p:spPr>
          <a:xfrm>
            <a:off x="11760434" y="6496211"/>
            <a:ext cx="238028" cy="237693"/>
          </a:xfrm>
          <a:prstGeom prst="rect">
            <a:avLst/>
          </a:prstGeom>
          <a:noFill/>
        </p:spPr>
        <p:txBody>
          <a:bodyPr/>
          <a:lstStyle/>
          <a:p>
            <a:endParaRPr lang="en-GB"/>
          </a:p>
        </p:txBody>
      </p:sp>
      <p:pic>
        <p:nvPicPr>
          <p:cNvPr id="5" name="Object 4"/>
          <p:cNvPicPr>
            <a:picLocks noChangeAspect="1"/>
          </p:cNvPicPr>
          <p:nvPr/>
        </p:nvPicPr>
        <p:blipFill>
          <a:blip r:embed="rId3"/>
          <a:stretch>
            <a:fillRect/>
          </a:stretch>
        </p:blipFill>
        <p:spPr>
          <a:xfrm>
            <a:off x="0" y="0"/>
            <a:ext cx="12188952" cy="6856286"/>
          </a:xfrm>
          <a:prstGeom prst="rect">
            <a:avLst/>
          </a:prstGeom>
        </p:spPr>
      </p:pic>
      <p:sp>
        <p:nvSpPr>
          <p:cNvPr id="6" name="Object 5"/>
          <p:cNvSpPr/>
          <p:nvPr/>
        </p:nvSpPr>
        <p:spPr>
          <a:xfrm>
            <a:off x="0" y="374246"/>
            <a:ext cx="12188915" cy="556069"/>
          </a:xfrm>
          <a:prstGeom prst="rect">
            <a:avLst/>
          </a:prstGeom>
          <a:noFill/>
        </p:spPr>
        <p:txBody>
          <a:bodyPr wrap="square" lIns="0" tIns="0" rIns="0" bIns="0" rtlCol="0" anchor="t"/>
          <a:lstStyle/>
          <a:p>
            <a:pPr algn="ctr">
              <a:lnSpc>
                <a:spcPts val="4380"/>
              </a:lnSpc>
              <a:buNone/>
            </a:pPr>
            <a:r>
              <a:rPr lang="en-US" sz="3750" b="1" kern="0" spc="-225" dirty="0">
                <a:solidFill>
                  <a:srgbClr val="333333"/>
                </a:solidFill>
                <a:latin typeface="Inter" pitchFamily="34" charset="0"/>
                <a:ea typeface="Inter" pitchFamily="34" charset="-122"/>
                <a:cs typeface="Inter" pitchFamily="34" charset="-120"/>
              </a:rPr>
              <a:t>Predictive Insights</a:t>
            </a:r>
            <a:endParaRPr lang="en-US" dirty="0"/>
          </a:p>
        </p:txBody>
      </p:sp>
      <p:sp>
        <p:nvSpPr>
          <p:cNvPr id="25" name="Slide Number Placeholder 24"/>
          <p:cNvSpPr>
            <a:spLocks noGrp="1"/>
          </p:cNvSpPr>
          <p:nvPr>
            <p:ph type="sldNum" sz="quarter" idx="12"/>
          </p:nvPr>
        </p:nvSpPr>
        <p:spPr>
          <a:xfrm>
            <a:off x="11826240" y="6515100"/>
            <a:ext cx="800000" cy="300000"/>
          </a:xfrm>
          <a:prstGeom prst="rect">
            <a:avLst/>
          </a:prstGeom>
          <a:extLst>
            <a:ext uri="{C572A759-6A51-4108-AA02-DFA0A04FC94B}">
              <ma14:wrappingTextBoxFlag xmlns:ma14="http://schemas.microsoft.com/office/mac/drawingml/2011/main" xmlns="" val="0"/>
            </a:ext>
          </a:extLst>
        </p:spPr>
        <p:txBody>
          <a:bodyPr/>
          <a:lstStyle>
            <a:lvl1pPr>
              <a:defRPr sz="1100"/>
            </a:lvl1pPr>
          </a:lstStyle>
          <a:p>
            <a:fld id="{F7021451-1387-4CA6-816F-3879F97B5CBC}" type="slidenum">
              <a:rPr lang="en-US" smtClean="0"/>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7">
    <p:bg>
      <p:bgPr>
        <a:solidFill>
          <a:srgbClr val="FFFFFF"/>
        </a:solidFill>
        <a:effectLst/>
      </p:bgPr>
    </p:bg>
    <p:spTree>
      <p:nvGrpSpPr>
        <p:cNvPr id="1" name=""/>
        <p:cNvGrpSpPr/>
        <p:nvPr/>
      </p:nvGrpSpPr>
      <p:grpSpPr>
        <a:xfrm>
          <a:off x="0" y="0"/>
          <a:ext cx="0" cy="0"/>
          <a:chOff x="0" y="0"/>
          <a:chExt cx="0" cy="0"/>
        </a:xfrm>
      </p:grpSpPr>
      <p:sp>
        <p:nvSpPr>
          <p:cNvPr id="2" name="Object 1"/>
          <p:cNvSpPr/>
          <p:nvPr/>
        </p:nvSpPr>
        <p:spPr>
          <a:xfrm>
            <a:off x="952262" y="1584065"/>
            <a:ext cx="5446897" cy="4417640"/>
          </a:xfrm>
          <a:prstGeom prst="rect">
            <a:avLst/>
          </a:prstGeom>
          <a:noFill/>
        </p:spPr>
        <p:txBody>
          <a:bodyPr wrap="square" lIns="0" tIns="0" rIns="0" bIns="0" rtlCol="0" anchor="t"/>
          <a:lstStyle/>
          <a:p>
            <a:pPr marL="242900" indent="-242900" algn="l">
              <a:lnSpc>
                <a:spcPts val="2523"/>
              </a:lnSpc>
              <a:buSzPct val="100000"/>
              <a:buChar char="•"/>
            </a:pPr>
            <a:r>
              <a:rPr lang="en-US" sz="2160" b="1" kern="0" spc="-130" dirty="0">
                <a:solidFill>
                  <a:srgbClr val="333333"/>
                </a:solidFill>
                <a:latin typeface="Inter" pitchFamily="34" charset="0"/>
                <a:ea typeface="Inter" pitchFamily="34" charset="-122"/>
                <a:cs typeface="Inter" pitchFamily="34" charset="-120"/>
              </a:rPr>
              <a:t>Prioritize promotions for Slow-moving stores and products</a:t>
            </a:r>
          </a:p>
          <a:p>
            <a:pPr lvl="1" algn="l">
              <a:lnSpc>
                <a:spcPts val="1914"/>
              </a:lnSpc>
              <a:spcBef>
                <a:spcPts val="264"/>
              </a:spcBef>
              <a:buNone/>
            </a:pPr>
            <a:r>
              <a:rPr lang="en-US" sz="1380" kern="0" spc="-28" dirty="0">
                <a:solidFill>
                  <a:srgbClr val="000000">
                    <a:alpha val="56000"/>
                  </a:srgbClr>
                </a:solidFill>
                <a:latin typeface="Inter" pitchFamily="34" charset="0"/>
                <a:ea typeface="Inter" pitchFamily="34" charset="-122"/>
                <a:cs typeface="Inter" pitchFamily="34" charset="-120"/>
              </a:rPr>
              <a:t>Focus promotional resources on the segments with the highest relative uplift (Slow stores +10.6%, Slow products +10.2%) to maximize ROI.</a:t>
            </a:r>
          </a:p>
          <a:p>
            <a:pPr marL="242900" indent="-242900" algn="l">
              <a:lnSpc>
                <a:spcPts val="2523"/>
              </a:lnSpc>
              <a:spcBef>
                <a:spcPts val="2036"/>
              </a:spcBef>
              <a:buSzPct val="100000"/>
              <a:buChar char="•"/>
            </a:pPr>
            <a:r>
              <a:rPr lang="en-US" sz="2160" b="1" kern="0" spc="-130" dirty="0">
                <a:solidFill>
                  <a:srgbClr val="333333"/>
                </a:solidFill>
                <a:latin typeface="Inter" pitchFamily="34" charset="0"/>
                <a:ea typeface="Inter" pitchFamily="34" charset="-122"/>
                <a:cs typeface="Inter" pitchFamily="34" charset="-120"/>
              </a:rPr>
              <a:t>Optimize promotion timing and duration</a:t>
            </a:r>
          </a:p>
          <a:p>
            <a:pPr lvl="1" algn="l">
              <a:lnSpc>
                <a:spcPts val="1914"/>
              </a:lnSpc>
              <a:spcBef>
                <a:spcPts val="264"/>
              </a:spcBef>
              <a:buNone/>
            </a:pPr>
            <a:r>
              <a:rPr lang="en-US" sz="1380" kern="0" spc="-28" dirty="0">
                <a:solidFill>
                  <a:srgbClr val="000000">
                    <a:alpha val="56000"/>
                  </a:srgbClr>
                </a:solidFill>
                <a:latin typeface="Inter" pitchFamily="34" charset="0"/>
                <a:ea typeface="Inter" pitchFamily="34" charset="-122"/>
                <a:cs typeface="Inter" pitchFamily="34" charset="-120"/>
              </a:rPr>
              <a:t>Analyze temporal patterns to align promotions with peak sales periods (e.g., weekends, holidays) and adjust promotion windows to sustain momentum.</a:t>
            </a:r>
          </a:p>
          <a:p>
            <a:pPr marL="242900" indent="-242900" algn="l">
              <a:lnSpc>
                <a:spcPts val="2523"/>
              </a:lnSpc>
              <a:spcBef>
                <a:spcPts val="2036"/>
              </a:spcBef>
              <a:buSzPct val="100000"/>
              <a:buChar char="•"/>
            </a:pPr>
            <a:r>
              <a:rPr lang="en-US" sz="2160" b="1" kern="0" spc="-130" dirty="0">
                <a:solidFill>
                  <a:srgbClr val="333333"/>
                </a:solidFill>
                <a:latin typeface="Inter" pitchFamily="34" charset="0"/>
                <a:ea typeface="Inter" pitchFamily="34" charset="-122"/>
                <a:cs typeface="Inter" pitchFamily="34" charset="-120"/>
              </a:rPr>
              <a:t>Leverage predictive models to forecast promotional impact</a:t>
            </a:r>
          </a:p>
          <a:p>
            <a:pPr lvl="1" algn="l">
              <a:lnSpc>
                <a:spcPts val="1914"/>
              </a:lnSpc>
              <a:spcBef>
                <a:spcPts val="264"/>
              </a:spcBef>
              <a:buNone/>
            </a:pPr>
            <a:r>
              <a:rPr lang="en-US" sz="1380" kern="0" spc="-28" dirty="0">
                <a:solidFill>
                  <a:srgbClr val="000000">
                    <a:alpha val="56000"/>
                  </a:srgbClr>
                </a:solidFill>
                <a:latin typeface="Inter" pitchFamily="34" charset="0"/>
                <a:ea typeface="Inter" pitchFamily="34" charset="-122"/>
                <a:cs typeface="Inter" pitchFamily="34" charset="-120"/>
              </a:rPr>
              <a:t>Use the developed predictive models to estimate the incremental effect of promotions and allocate budgets more effectively across products and stores.</a:t>
            </a:r>
            <a:endParaRPr lang="en-US" dirty="0"/>
          </a:p>
        </p:txBody>
      </p:sp>
      <p:sp>
        <p:nvSpPr>
          <p:cNvPr id="3" name="Object 2"/>
          <p:cNvSpPr/>
          <p:nvPr/>
        </p:nvSpPr>
        <p:spPr>
          <a:xfrm>
            <a:off x="6284928" y="1584065"/>
            <a:ext cx="5446897" cy="2750437"/>
          </a:xfrm>
          <a:prstGeom prst="rect">
            <a:avLst/>
          </a:prstGeom>
          <a:noFill/>
        </p:spPr>
        <p:txBody>
          <a:bodyPr wrap="square" lIns="0" tIns="0" rIns="0" bIns="0" rtlCol="0" anchor="t"/>
          <a:lstStyle/>
          <a:p>
            <a:pPr marL="242900" indent="-242900" algn="l">
              <a:lnSpc>
                <a:spcPts val="2523"/>
              </a:lnSpc>
              <a:buSzPct val="100000"/>
              <a:buChar char="•"/>
            </a:pPr>
            <a:r>
              <a:rPr lang="en-US" sz="2160" b="1" kern="0" spc="-130" dirty="0">
                <a:solidFill>
                  <a:srgbClr val="333333"/>
                </a:solidFill>
                <a:latin typeface="Inter" pitchFamily="34" charset="0"/>
                <a:ea typeface="Inter" pitchFamily="34" charset="-122"/>
                <a:cs typeface="Inter" pitchFamily="34" charset="-120"/>
              </a:rPr>
              <a:t>Explore alternative strategies for Fast-moving categories</a:t>
            </a:r>
          </a:p>
          <a:p>
            <a:pPr lvl="1" algn="l">
              <a:lnSpc>
                <a:spcPts val="1914"/>
              </a:lnSpc>
              <a:spcBef>
                <a:spcPts val="264"/>
              </a:spcBef>
              <a:buNone/>
            </a:pPr>
            <a:r>
              <a:rPr lang="en-US" sz="1380" kern="0" spc="-28" dirty="0">
                <a:solidFill>
                  <a:srgbClr val="000000">
                    <a:alpha val="56000"/>
                  </a:srgbClr>
                </a:solidFill>
                <a:latin typeface="Inter" pitchFamily="34" charset="0"/>
                <a:ea typeface="Inter" pitchFamily="34" charset="-122"/>
                <a:cs typeface="Inter" pitchFamily="34" charset="-120"/>
              </a:rPr>
              <a:t>Consider assortment innovations, loyalty schemes, and non-price promotions to drive engagement and repeat purchases for the most competitive product segments.</a:t>
            </a:r>
          </a:p>
          <a:p>
            <a:pPr marL="242900" indent="-242900" algn="l">
              <a:lnSpc>
                <a:spcPts val="2523"/>
              </a:lnSpc>
              <a:spcBef>
                <a:spcPts val="2036"/>
              </a:spcBef>
              <a:buSzPct val="100000"/>
              <a:buChar char="•"/>
            </a:pPr>
            <a:r>
              <a:rPr lang="en-US" sz="2160" b="1" kern="0" spc="-130" dirty="0">
                <a:solidFill>
                  <a:srgbClr val="333333"/>
                </a:solidFill>
                <a:latin typeface="Inter" pitchFamily="34" charset="0"/>
                <a:ea typeface="Inter" pitchFamily="34" charset="-122"/>
                <a:cs typeface="Inter" pitchFamily="34" charset="-120"/>
              </a:rPr>
              <a:t>Improve data quality and monitoring</a:t>
            </a:r>
          </a:p>
          <a:p>
            <a:pPr lvl="1" algn="l">
              <a:lnSpc>
                <a:spcPts val="1914"/>
              </a:lnSpc>
              <a:spcBef>
                <a:spcPts val="264"/>
              </a:spcBef>
              <a:buNone/>
            </a:pPr>
            <a:r>
              <a:rPr lang="en-US" sz="1380" kern="0" spc="-28" dirty="0">
                <a:solidFill>
                  <a:srgbClr val="000000">
                    <a:alpha val="56000"/>
                  </a:srgbClr>
                </a:solidFill>
                <a:latin typeface="Inter" pitchFamily="34" charset="0"/>
                <a:ea typeface="Inter" pitchFamily="34" charset="-122"/>
                <a:cs typeface="Inter" pitchFamily="34" charset="-120"/>
              </a:rPr>
              <a:t>Address data issues, such as anomalies and missing values, to enhance the reliability of insights. Implement continuous monitoring to detect and investigate irregular sales patterns.</a:t>
            </a:r>
            <a:endParaRPr lang="en-US" dirty="0"/>
          </a:p>
        </p:txBody>
      </p:sp>
      <p:sp>
        <p:nvSpPr>
          <p:cNvPr id="4" name="Object 3"/>
          <p:cNvSpPr/>
          <p:nvPr/>
        </p:nvSpPr>
        <p:spPr>
          <a:xfrm>
            <a:off x="11769957" y="6496211"/>
            <a:ext cx="228543" cy="237693"/>
          </a:xfrm>
          <a:prstGeom prst="rect">
            <a:avLst/>
          </a:prstGeom>
          <a:noFill/>
        </p:spPr>
        <p:txBody>
          <a:bodyPr/>
          <a:lstStyle/>
          <a:p>
            <a:endParaRPr lang="en-GB"/>
          </a:p>
        </p:txBody>
      </p:sp>
      <p:pic>
        <p:nvPicPr>
          <p:cNvPr id="5" name="Object 4"/>
          <p:cNvPicPr>
            <a:picLocks noChangeAspect="1"/>
          </p:cNvPicPr>
          <p:nvPr/>
        </p:nvPicPr>
        <p:blipFill>
          <a:blip r:embed="rId3"/>
          <a:stretch>
            <a:fillRect/>
          </a:stretch>
        </p:blipFill>
        <p:spPr>
          <a:xfrm>
            <a:off x="0" y="0"/>
            <a:ext cx="12188952" cy="6856286"/>
          </a:xfrm>
          <a:prstGeom prst="rect">
            <a:avLst/>
          </a:prstGeom>
        </p:spPr>
      </p:pic>
      <p:sp>
        <p:nvSpPr>
          <p:cNvPr id="6" name="Object 5"/>
          <p:cNvSpPr/>
          <p:nvPr/>
        </p:nvSpPr>
        <p:spPr>
          <a:xfrm>
            <a:off x="0" y="374246"/>
            <a:ext cx="12188915" cy="556069"/>
          </a:xfrm>
          <a:prstGeom prst="rect">
            <a:avLst/>
          </a:prstGeom>
          <a:noFill/>
        </p:spPr>
        <p:txBody>
          <a:bodyPr wrap="square" lIns="0" tIns="0" rIns="0" bIns="0" rtlCol="0" anchor="t"/>
          <a:lstStyle/>
          <a:p>
            <a:pPr algn="ctr">
              <a:lnSpc>
                <a:spcPts val="4380"/>
              </a:lnSpc>
              <a:buNone/>
            </a:pPr>
            <a:r>
              <a:rPr lang="en-US" sz="3750" b="1" kern="0" spc="-225" dirty="0">
                <a:solidFill>
                  <a:srgbClr val="333333"/>
                </a:solidFill>
                <a:latin typeface="Inter" pitchFamily="34" charset="0"/>
                <a:ea typeface="Inter" pitchFamily="34" charset="-122"/>
                <a:cs typeface="Inter" pitchFamily="34" charset="-120"/>
              </a:rPr>
              <a:t>Strategic Recommendations</a:t>
            </a:r>
            <a:endParaRPr lang="en-US" dirty="0"/>
          </a:p>
        </p:txBody>
      </p:sp>
      <p:sp>
        <p:nvSpPr>
          <p:cNvPr id="25" name="Slide Number Placeholder 24"/>
          <p:cNvSpPr>
            <a:spLocks noGrp="1"/>
          </p:cNvSpPr>
          <p:nvPr>
            <p:ph type="sldNum" sz="quarter" idx="12"/>
          </p:nvPr>
        </p:nvSpPr>
        <p:spPr>
          <a:xfrm>
            <a:off x="11826240" y="6515100"/>
            <a:ext cx="800000" cy="300000"/>
          </a:xfrm>
          <a:prstGeom prst="rect">
            <a:avLst/>
          </a:prstGeom>
          <a:extLst>
            <a:ext uri="{C572A759-6A51-4108-AA02-DFA0A04FC94B}">
              <ma14:wrappingTextBoxFlag xmlns:ma14="http://schemas.microsoft.com/office/mac/drawingml/2011/main" xmlns="" val="0"/>
            </a:ext>
          </a:extLst>
        </p:spPr>
        <p:txBody>
          <a:bodyPr/>
          <a:lstStyle>
            <a:lvl1pPr>
              <a:defRPr sz="1100"/>
            </a:lvl1pPr>
          </a:lstStyle>
          <a:p>
            <a:fld id="{F7021451-1387-4CA6-816F-3879F97B5CBC}" type="slidenum">
              <a:rPr lang="en-US" smtClean="0"/>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8">
    <p:bg>
      <p:bgPr>
        <a:solidFill>
          <a:srgbClr val="000000"/>
        </a:solidFill>
        <a:effectLst/>
      </p:bgPr>
    </p:bg>
    <p:spTree>
      <p:nvGrpSpPr>
        <p:cNvPr id="1" name=""/>
        <p:cNvGrpSpPr/>
        <p:nvPr/>
      </p:nvGrpSpPr>
      <p:grpSpPr>
        <a:xfrm>
          <a:off x="0" y="0"/>
          <a:ext cx="0" cy="0"/>
          <a:chOff x="0" y="0"/>
          <a:chExt cx="0" cy="0"/>
        </a:xfrm>
      </p:grpSpPr>
      <p:sp>
        <p:nvSpPr>
          <p:cNvPr id="2" name="Object 1"/>
          <p:cNvSpPr/>
          <p:nvPr/>
        </p:nvSpPr>
        <p:spPr>
          <a:xfrm>
            <a:off x="476131" y="476131"/>
            <a:ext cx="5730712" cy="5904024"/>
          </a:xfrm>
          <a:prstGeom prst="rect">
            <a:avLst/>
          </a:prstGeom>
          <a:solidFill>
            <a:srgbClr val="22AAEE"/>
          </a:solidFill>
        </p:spPr>
        <p:txBody>
          <a:bodyPr/>
          <a:lstStyle/>
          <a:p>
            <a:endParaRPr lang="en-GB"/>
          </a:p>
        </p:txBody>
      </p:sp>
      <p:pic>
        <p:nvPicPr>
          <p:cNvPr id="3" name="Object 2" descr="Optimizing Retail Promotions with Data-Driven Insights"/>
          <p:cNvPicPr>
            <a:picLocks noChangeAspect="1"/>
          </p:cNvPicPr>
          <p:nvPr/>
        </p:nvPicPr>
        <p:blipFill>
          <a:blip r:embed="rId3"/>
          <a:srcRect l="22033" r="22033"/>
          <a:stretch/>
        </p:blipFill>
        <p:spPr>
          <a:xfrm>
            <a:off x="476131" y="476131"/>
            <a:ext cx="5730712" cy="5904024"/>
          </a:xfrm>
          <a:prstGeom prst="rect">
            <a:avLst/>
          </a:prstGeom>
        </p:spPr>
      </p:pic>
      <p:sp>
        <p:nvSpPr>
          <p:cNvPr id="4" name="Object 3"/>
          <p:cNvSpPr/>
          <p:nvPr/>
        </p:nvSpPr>
        <p:spPr>
          <a:xfrm>
            <a:off x="6443006" y="1497915"/>
            <a:ext cx="5509746" cy="556069"/>
          </a:xfrm>
          <a:prstGeom prst="rect">
            <a:avLst/>
          </a:prstGeom>
          <a:noFill/>
        </p:spPr>
        <p:txBody>
          <a:bodyPr wrap="square" lIns="0" tIns="0" rIns="0" bIns="0" rtlCol="0" anchor="ctr"/>
          <a:lstStyle/>
          <a:p>
            <a:pPr algn="ctr">
              <a:lnSpc>
                <a:spcPts val="4380"/>
              </a:lnSpc>
              <a:buNone/>
            </a:pPr>
            <a:r>
              <a:rPr lang="en-US" sz="3750" b="1" kern="0" spc="-225" dirty="0">
                <a:solidFill>
                  <a:srgbClr val="FFFFFF"/>
                </a:solidFill>
                <a:latin typeface="Inter" pitchFamily="34" charset="0"/>
                <a:ea typeface="Inter" pitchFamily="34" charset="-122"/>
                <a:cs typeface="Inter" pitchFamily="34" charset="-120"/>
              </a:rPr>
              <a:t>Final Conclusion</a:t>
            </a:r>
            <a:endParaRPr lang="en-US" dirty="0"/>
          </a:p>
        </p:txBody>
      </p:sp>
      <p:sp>
        <p:nvSpPr>
          <p:cNvPr id="5" name="Object 4"/>
          <p:cNvSpPr/>
          <p:nvPr/>
        </p:nvSpPr>
        <p:spPr>
          <a:xfrm>
            <a:off x="6443006" y="2158993"/>
            <a:ext cx="5509746" cy="3169247"/>
          </a:xfrm>
          <a:prstGeom prst="rect">
            <a:avLst/>
          </a:prstGeom>
          <a:noFill/>
        </p:spPr>
        <p:txBody>
          <a:bodyPr wrap="square" lIns="0" tIns="0" rIns="0" bIns="0" rtlCol="0" anchor="ctr"/>
          <a:lstStyle/>
          <a:p>
            <a:pPr algn="ctr">
              <a:lnSpc>
                <a:spcPts val="2497"/>
              </a:lnSpc>
              <a:spcBef>
                <a:spcPts val="811"/>
              </a:spcBef>
              <a:buNone/>
            </a:pPr>
            <a:r>
              <a:rPr lang="en-US" sz="1800" kern="0" spc="-36" dirty="0">
                <a:solidFill>
                  <a:srgbClr val="FFFFFF">
                    <a:alpha val="80000"/>
                  </a:srgbClr>
                </a:solidFill>
                <a:latin typeface="Inter" pitchFamily="34" charset="0"/>
                <a:ea typeface="Inter" pitchFamily="34" charset="-122"/>
                <a:cs typeface="Inter" pitchFamily="34" charset="-120"/>
              </a:rPr>
              <a:t>The analysis provides a comprehensive framework for understanding promotional dynamics and equips the client with data-driven insights to optimize future marketing strategies. Key findings reveal that promotions have a significant but highly variable impact on sales, with fast-moving products and stores exhibiting stronger relative uplift. Predictive models can capture these non-linear patterns but struggle to fully anticipate extreme promotional spikes.</a:t>
            </a:r>
            <a:endParaRPr lang="en-US" dirty="0"/>
          </a:p>
        </p:txBody>
      </p:sp>
      <p:pic>
        <p:nvPicPr>
          <p:cNvPr id="6" name="Object 5"/>
          <p:cNvPicPr>
            <a:picLocks noChangeAspect="1"/>
          </p:cNvPicPr>
          <p:nvPr/>
        </p:nvPicPr>
        <p:blipFill>
          <a:blip r:embed="rId4"/>
          <a:stretch>
            <a:fillRect/>
          </a:stretch>
        </p:blipFill>
        <p:spPr>
          <a:xfrm>
            <a:off x="0" y="0"/>
            <a:ext cx="12188952" cy="6856286"/>
          </a:xfrm>
          <a:prstGeom prst="rect">
            <a:avLst/>
          </a:prstGeom>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6FFB9D7-CB20-39C4-DB47-1C4107FC352C}"/>
              </a:ext>
            </a:extLst>
          </p:cNvPr>
          <p:cNvSpPr txBox="1"/>
          <p:nvPr/>
        </p:nvSpPr>
        <p:spPr>
          <a:xfrm>
            <a:off x="3331029" y="2991394"/>
            <a:ext cx="9405257" cy="769441"/>
          </a:xfrm>
          <a:prstGeom prst="rect">
            <a:avLst/>
          </a:prstGeom>
          <a:noFill/>
        </p:spPr>
        <p:txBody>
          <a:bodyPr wrap="square" rtlCol="0">
            <a:spAutoFit/>
          </a:bodyPr>
          <a:lstStyle/>
          <a:p>
            <a:r>
              <a:rPr lang="en-GB" sz="4400" dirty="0"/>
              <a:t>THANKS FOR LISTENING</a:t>
            </a:r>
          </a:p>
        </p:txBody>
      </p:sp>
    </p:spTree>
    <p:extLst>
      <p:ext uri="{BB962C8B-B14F-4D97-AF65-F5344CB8AC3E}">
        <p14:creationId xmlns:p14="http://schemas.microsoft.com/office/powerpoint/2010/main" val="2915214322"/>
      </p:ext>
    </p:extLst>
  </p:cSld>
  <p:clrMapOvr>
    <a:masterClrMapping/>
  </p:clrMapOvr>
</p:sld>
</file>

<file path=ppt/theme/theme1.xml><?xml version="1.0" encoding="utf-8"?>
<a:theme xmlns:a="http://schemas.openxmlformats.org/drawingml/2006/main" name="Droplet">
  <a:themeElements>
    <a:clrScheme name="Droplet">
      <a:dk1>
        <a:sysClr val="windowText" lastClr="000000"/>
      </a:dk1>
      <a:lt1>
        <a:sysClr val="window" lastClr="FFFFFF"/>
      </a:lt1>
      <a:dk2>
        <a:srgbClr val="355071"/>
      </a:dk2>
      <a:lt2>
        <a:srgbClr val="AABED7"/>
      </a:lt2>
      <a:accent1>
        <a:srgbClr val="2FA3EE"/>
      </a:accent1>
      <a:accent2>
        <a:srgbClr val="4BCAAD"/>
      </a:accent2>
      <a:accent3>
        <a:srgbClr val="86C157"/>
      </a:accent3>
      <a:accent4>
        <a:srgbClr val="D99C3F"/>
      </a:accent4>
      <a:accent5>
        <a:srgbClr val="CE6633"/>
      </a:accent5>
      <a:accent6>
        <a:srgbClr val="A35DD1"/>
      </a:accent6>
      <a:hlink>
        <a:srgbClr val="56BCFE"/>
      </a:hlink>
      <a:folHlink>
        <a:srgbClr val="97C5E3"/>
      </a:folHlink>
    </a:clrScheme>
    <a:fontScheme name="Drople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roplet">
      <a:fillStyleLst>
        <a:solidFill>
          <a:schemeClr val="phClr"/>
        </a:solidFill>
        <a:solidFill>
          <a:schemeClr val="phClr">
            <a:tint val="69000"/>
            <a:satMod val="105000"/>
            <a:lumMod val="110000"/>
          </a:schemeClr>
        </a:solidFill>
        <a:gradFill rotWithShape="1">
          <a:gsLst>
            <a:gs pos="0">
              <a:schemeClr val="phClr">
                <a:tint val="94000"/>
                <a:satMod val="100000"/>
                <a:lumMod val="108000"/>
              </a:schemeClr>
            </a:gs>
            <a:gs pos="50000">
              <a:schemeClr val="phClr">
                <a:tint val="98000"/>
                <a:shade val="100000"/>
                <a:satMod val="100000"/>
                <a:lumMod val="100000"/>
              </a:schemeClr>
            </a:gs>
            <a:gs pos="100000">
              <a:schemeClr val="phClr">
                <a:shade val="72000"/>
                <a:satMod val="120000"/>
                <a:lumMod val="100000"/>
              </a:schemeClr>
            </a:gs>
          </a:gsLst>
          <a:lin ang="5400000" scaled="0"/>
        </a:gradFill>
      </a:fillStyleLst>
      <a:lnStyleLst>
        <a:ln w="9525" cap="flat" cmpd="sng" algn="ctr">
          <a:solidFill>
            <a:schemeClr val="phClr">
              <a:shade val="60000"/>
            </a:scheme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outerShdw blurRad="50800" dist="25400" dir="5400000" rotWithShape="0">
              <a:srgbClr val="000000">
                <a:alpha val="28000"/>
              </a:srgbClr>
            </a:outerShdw>
          </a:effectLst>
        </a:effectStyle>
        <a:effectStyle>
          <a:effectLst>
            <a:outerShdw blurRad="63500" dist="25400" dir="5400000" algn="ctr" rotWithShape="0">
              <a:srgbClr val="000000">
                <a:alpha val="69000"/>
              </a:srgbClr>
            </a:outerShdw>
          </a:effectLst>
          <a:scene3d>
            <a:camera prst="orthographicFront">
              <a:rot lat="0" lon="0" rev="0"/>
            </a:camera>
            <a:lightRig rig="balanced" dir="t">
              <a:rot lat="0" lon="0" rev="1200000"/>
            </a:lightRig>
          </a:scene3d>
          <a:sp3d prstMaterial="plastic">
            <a:bevelT w="25400" h="25400"/>
          </a:sp3d>
        </a:effectStyle>
      </a:effectStyleLst>
      <a:bgFillStyleLst>
        <a:solidFill>
          <a:schemeClr val="phClr"/>
        </a:solidFill>
        <a:gradFill rotWithShape="1">
          <a:gsLst>
            <a:gs pos="0">
              <a:schemeClr val="phClr">
                <a:tint val="90000"/>
                <a:lumMod val="110000"/>
              </a:schemeClr>
            </a:gs>
            <a:gs pos="100000">
              <a:schemeClr val="phClr">
                <a:shade val="64000"/>
                <a:lumMod val="88000"/>
              </a:schemeClr>
            </a:gs>
          </a:gsLst>
          <a:lin ang="5400000" scaled="0"/>
        </a:gradFill>
        <a:gradFill rotWithShape="1">
          <a:gsLst>
            <a:gs pos="0">
              <a:schemeClr val="phClr">
                <a:tint val="84000"/>
                <a:shade val="100000"/>
                <a:hueMod val="130000"/>
                <a:satMod val="150000"/>
                <a:lumMod val="112000"/>
              </a:schemeClr>
            </a:gs>
            <a:gs pos="100000">
              <a:schemeClr val="phClr">
                <a:shade val="92000"/>
                <a:satMod val="140000"/>
                <a:lumMod val="110000"/>
              </a:schemeClr>
            </a:gs>
          </a:gsLst>
          <a:lin ang="5400000" scaled="0"/>
        </a:gradFill>
      </a:bgFillStyleLst>
    </a:fmtScheme>
  </a:themeElements>
  <a:objectDefaults/>
  <a:extraClrSchemeLst/>
  <a:extLst>
    <a:ext uri="{05A4C25C-085E-4340-85A3-A5531E510DB2}">
      <thm15:themeFamily xmlns:thm15="http://schemas.microsoft.com/office/thememl/2012/main" name="Droplet" id="{8984A317-299A-4E50-B45D-BFC9EDE2337A}" vid="{A633B6A3-9E7F-4C10-9C98-2517A313436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TM04033925[[fn=Droplet]]</Template>
  <TotalTime>0</TotalTime>
  <Words>3963</Words>
  <Application>Microsoft Office PowerPoint</Application>
  <PresentationFormat>Widescreen</PresentationFormat>
  <Paragraphs>438</Paragraphs>
  <Slides>37</Slides>
  <Notes>34</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37</vt:i4>
      </vt:variant>
    </vt:vector>
  </HeadingPairs>
  <TitlesOfParts>
    <vt:vector size="45" baseType="lpstr">
      <vt:lpstr>Times New Roman</vt:lpstr>
      <vt:lpstr>Aptos</vt:lpstr>
      <vt:lpstr>Tw Cen MT</vt:lpstr>
      <vt:lpstr>Inter</vt:lpstr>
      <vt:lpstr>Inter Medium</vt:lpstr>
      <vt:lpstr>Arial</vt:lpstr>
      <vt:lpstr>Droplet</vt:lpstr>
      <vt:lpstr>Microsoft Word Document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Beautiful.ai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Optimizing Retail Promotions with Data-Driven Insights</dc:title>
  <dc:subject>Optimizing Retail Promotions with Data-Driven Insights</dc:subject>
  <dc:creator>Kaan Turgay</dc:creator>
  <cp:lastModifiedBy>Kaan Turgay</cp:lastModifiedBy>
  <cp:revision>2</cp:revision>
  <dcterms:created xsi:type="dcterms:W3CDTF">2025-08-21T11:04:46Z</dcterms:created>
  <dcterms:modified xsi:type="dcterms:W3CDTF">2025-08-21T12:35:51Z</dcterms:modified>
</cp:coreProperties>
</file>